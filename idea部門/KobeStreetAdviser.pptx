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charts/colors1.xml" ContentType="application/vnd.ms-office.chartcolorstyle+xml"/>
  <Override PartName="/ppt/charts/style1.xml" ContentType="application/vnd.ms-office.chart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9" r:id="rId4"/>
    <p:sldId id="258" r:id="rId5"/>
    <p:sldId id="272" r:id="rId6"/>
    <p:sldId id="260" r:id="rId7"/>
    <p:sldId id="262" r:id="rId8"/>
    <p:sldId id="278" r:id="rId9"/>
    <p:sldId id="263" r:id="rId10"/>
    <p:sldId id="264" r:id="rId11"/>
    <p:sldId id="265" r:id="rId12"/>
    <p:sldId id="266" r:id="rId13"/>
    <p:sldId id="267" r:id="rId14"/>
    <p:sldId id="279" r:id="rId15"/>
    <p:sldId id="280" r:id="rId16"/>
    <p:sldId id="281" r:id="rId17"/>
    <p:sldId id="282" r:id="rId18"/>
    <p:sldId id="283" r:id="rId19"/>
    <p:sldId id="284" r:id="rId20"/>
    <p:sldId id="285" r:id="rId21"/>
    <p:sldId id="286" r:id="rId22"/>
    <p:sldId id="268" r:id="rId2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F7E9"/>
    <a:srgbClr val="83BC5C"/>
    <a:srgbClr val="FFABAB"/>
    <a:srgbClr val="DA4A4A"/>
    <a:srgbClr val="DD5555"/>
    <a:srgbClr val="E57F7F"/>
    <a:srgbClr val="CC2A2A"/>
    <a:srgbClr val="FFFFFF"/>
    <a:srgbClr val="F2F8EE"/>
    <a:srgbClr val="EB9F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16" autoAdjust="0"/>
    <p:restoredTop sz="94660"/>
  </p:normalViewPr>
  <p:slideViewPr>
    <p:cSldViewPr snapToGrid="0">
      <p:cViewPr varScale="1">
        <p:scale>
          <a:sx n="74" d="100"/>
          <a:sy n="74" d="100"/>
        </p:scale>
        <p:origin x="-774" y="-48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249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Sheet1!$B$5</c:f>
              <c:strCache>
                <c:ptCount val="1"/>
                <c:pt idx="0">
                  <c:v>遠方</c:v>
                </c:pt>
              </c:strCache>
            </c:strRef>
          </c:tx>
          <c:spPr>
            <a:ln w="28575" cap="rnd">
              <a:solidFill>
                <a:schemeClr val="accent1"/>
              </a:solidFill>
              <a:round/>
            </a:ln>
            <a:effectLst/>
          </c:spPr>
          <c:marker>
            <c:symbol val="none"/>
          </c:marker>
          <c:cat>
            <c:strRef>
              <c:f>Sheet1!$C$4:$J$4</c:f>
              <c:strCache>
                <c:ptCount val="8"/>
                <c:pt idx="0">
                  <c:v>全市</c:v>
                </c:pt>
                <c:pt idx="1">
                  <c:v>北野</c:v>
                </c:pt>
                <c:pt idx="2">
                  <c:v>市街地</c:v>
                </c:pt>
                <c:pt idx="3">
                  <c:v>神戸港</c:v>
                </c:pt>
                <c:pt idx="4">
                  <c:v>六甲・摩耶</c:v>
                </c:pt>
                <c:pt idx="5">
                  <c:v>有馬</c:v>
                </c:pt>
                <c:pt idx="6">
                  <c:v>須磨・舞子</c:v>
                </c:pt>
                <c:pt idx="7">
                  <c:v>西北神</c:v>
                </c:pt>
              </c:strCache>
            </c:strRef>
          </c:cat>
          <c:val>
            <c:numRef>
              <c:f>Sheet1!$C$5:$J$5</c:f>
              <c:numCache>
                <c:formatCode>0.0%</c:formatCode>
                <c:ptCount val="8"/>
                <c:pt idx="0">
                  <c:v>0.255</c:v>
                </c:pt>
                <c:pt idx="1">
                  <c:v>0.53100000000000003</c:v>
                </c:pt>
                <c:pt idx="2">
                  <c:v>0.246</c:v>
                </c:pt>
                <c:pt idx="3">
                  <c:v>0.41199999999999998</c:v>
                </c:pt>
                <c:pt idx="4">
                  <c:v>0.2</c:v>
                </c:pt>
                <c:pt idx="5">
                  <c:v>0.26700000000000002</c:v>
                </c:pt>
                <c:pt idx="6">
                  <c:v>0.20899999999999999</c:v>
                </c:pt>
                <c:pt idx="7">
                  <c:v>9.1999999999999998E-2</c:v>
                </c:pt>
              </c:numCache>
            </c:numRef>
          </c:val>
          <c:smooth val="0"/>
        </c:ser>
        <c:ser>
          <c:idx val="1"/>
          <c:order val="1"/>
          <c:tx>
            <c:strRef>
              <c:f>Sheet1!$B$6</c:f>
              <c:strCache>
                <c:ptCount val="1"/>
                <c:pt idx="0">
                  <c:v>宿泊あり</c:v>
                </c:pt>
              </c:strCache>
            </c:strRef>
          </c:tx>
          <c:spPr>
            <a:ln w="28575" cap="rnd">
              <a:solidFill>
                <a:schemeClr val="accent2"/>
              </a:solidFill>
              <a:round/>
            </a:ln>
            <a:effectLst/>
          </c:spPr>
          <c:marker>
            <c:symbol val="none"/>
          </c:marker>
          <c:cat>
            <c:strRef>
              <c:f>Sheet1!$C$4:$J$4</c:f>
              <c:strCache>
                <c:ptCount val="8"/>
                <c:pt idx="0">
                  <c:v>全市</c:v>
                </c:pt>
                <c:pt idx="1">
                  <c:v>北野</c:v>
                </c:pt>
                <c:pt idx="2">
                  <c:v>市街地</c:v>
                </c:pt>
                <c:pt idx="3">
                  <c:v>神戸港</c:v>
                </c:pt>
                <c:pt idx="4">
                  <c:v>六甲・摩耶</c:v>
                </c:pt>
                <c:pt idx="5">
                  <c:v>有馬</c:v>
                </c:pt>
                <c:pt idx="6">
                  <c:v>須磨・舞子</c:v>
                </c:pt>
                <c:pt idx="7">
                  <c:v>西北神</c:v>
                </c:pt>
              </c:strCache>
            </c:strRef>
          </c:cat>
          <c:val>
            <c:numRef>
              <c:f>Sheet1!$C$6:$J$6</c:f>
              <c:numCache>
                <c:formatCode>0.0%</c:formatCode>
                <c:ptCount val="8"/>
                <c:pt idx="0">
                  <c:v>0.21099999999999999</c:v>
                </c:pt>
                <c:pt idx="1">
                  <c:v>0.34200000000000003</c:v>
                </c:pt>
                <c:pt idx="2">
                  <c:v>0.18</c:v>
                </c:pt>
                <c:pt idx="3">
                  <c:v>0.30599999999999999</c:v>
                </c:pt>
                <c:pt idx="4">
                  <c:v>0.183</c:v>
                </c:pt>
                <c:pt idx="5">
                  <c:v>0.499</c:v>
                </c:pt>
                <c:pt idx="6">
                  <c:v>0.15</c:v>
                </c:pt>
                <c:pt idx="7">
                  <c:v>8.5999999999999993E-2</c:v>
                </c:pt>
              </c:numCache>
            </c:numRef>
          </c:val>
          <c:smooth val="0"/>
        </c:ser>
        <c:ser>
          <c:idx val="2"/>
          <c:order val="2"/>
          <c:tx>
            <c:strRef>
              <c:f>Sheet1!$B$7</c:f>
              <c:strCache>
                <c:ptCount val="1"/>
                <c:pt idx="0">
                  <c:v>初めて</c:v>
                </c:pt>
              </c:strCache>
            </c:strRef>
          </c:tx>
          <c:spPr>
            <a:ln w="28575" cap="rnd">
              <a:solidFill>
                <a:schemeClr val="accent3"/>
              </a:solidFill>
              <a:round/>
            </a:ln>
            <a:effectLst/>
          </c:spPr>
          <c:marker>
            <c:symbol val="none"/>
          </c:marker>
          <c:cat>
            <c:strRef>
              <c:f>Sheet1!$C$4:$J$4</c:f>
              <c:strCache>
                <c:ptCount val="8"/>
                <c:pt idx="0">
                  <c:v>全市</c:v>
                </c:pt>
                <c:pt idx="1">
                  <c:v>北野</c:v>
                </c:pt>
                <c:pt idx="2">
                  <c:v>市街地</c:v>
                </c:pt>
                <c:pt idx="3">
                  <c:v>神戸港</c:v>
                </c:pt>
                <c:pt idx="4">
                  <c:v>六甲・摩耶</c:v>
                </c:pt>
                <c:pt idx="5">
                  <c:v>有馬</c:v>
                </c:pt>
                <c:pt idx="6">
                  <c:v>須磨・舞子</c:v>
                </c:pt>
                <c:pt idx="7">
                  <c:v>西北神</c:v>
                </c:pt>
              </c:strCache>
            </c:strRef>
          </c:cat>
          <c:val>
            <c:numRef>
              <c:f>Sheet1!$C$7:$J$7</c:f>
              <c:numCache>
                <c:formatCode>0.0%</c:formatCode>
                <c:ptCount val="8"/>
                <c:pt idx="0">
                  <c:v>0.109</c:v>
                </c:pt>
                <c:pt idx="1">
                  <c:v>0.22600000000000001</c:v>
                </c:pt>
                <c:pt idx="2">
                  <c:v>0.10199999999999999</c:v>
                </c:pt>
                <c:pt idx="3">
                  <c:v>0.158</c:v>
                </c:pt>
                <c:pt idx="4">
                  <c:v>0.107</c:v>
                </c:pt>
                <c:pt idx="5">
                  <c:v>0.109</c:v>
                </c:pt>
                <c:pt idx="6">
                  <c:v>7.9000000000000001E-2</c:v>
                </c:pt>
                <c:pt idx="7">
                  <c:v>3.2000000000000001E-2</c:v>
                </c:pt>
              </c:numCache>
            </c:numRef>
          </c:val>
          <c:smooth val="0"/>
        </c:ser>
        <c:ser>
          <c:idx val="3"/>
          <c:order val="3"/>
          <c:tx>
            <c:strRef>
              <c:f>Sheet1!$B$8</c:f>
              <c:strCache>
                <c:ptCount val="1"/>
                <c:pt idx="0">
                  <c:v>ぜひ来たい</c:v>
                </c:pt>
              </c:strCache>
            </c:strRef>
          </c:tx>
          <c:spPr>
            <a:ln w="28575" cap="rnd">
              <a:solidFill>
                <a:schemeClr val="accent4"/>
              </a:solidFill>
              <a:round/>
            </a:ln>
            <a:effectLst/>
          </c:spPr>
          <c:marker>
            <c:symbol val="none"/>
          </c:marker>
          <c:cat>
            <c:strRef>
              <c:f>Sheet1!$C$4:$J$4</c:f>
              <c:strCache>
                <c:ptCount val="8"/>
                <c:pt idx="0">
                  <c:v>全市</c:v>
                </c:pt>
                <c:pt idx="1">
                  <c:v>北野</c:v>
                </c:pt>
                <c:pt idx="2">
                  <c:v>市街地</c:v>
                </c:pt>
                <c:pt idx="3">
                  <c:v>神戸港</c:v>
                </c:pt>
                <c:pt idx="4">
                  <c:v>六甲・摩耶</c:v>
                </c:pt>
                <c:pt idx="5">
                  <c:v>有馬</c:v>
                </c:pt>
                <c:pt idx="6">
                  <c:v>須磨・舞子</c:v>
                </c:pt>
                <c:pt idx="7">
                  <c:v>西北神</c:v>
                </c:pt>
              </c:strCache>
            </c:strRef>
          </c:cat>
          <c:val>
            <c:numRef>
              <c:f>Sheet1!$C$8:$J$8</c:f>
              <c:numCache>
                <c:formatCode>0.0%</c:formatCode>
                <c:ptCount val="8"/>
                <c:pt idx="0">
                  <c:v>0.78600000000000003</c:v>
                </c:pt>
                <c:pt idx="1">
                  <c:v>0.72899999999999998</c:v>
                </c:pt>
                <c:pt idx="2">
                  <c:v>0.80100000000000005</c:v>
                </c:pt>
                <c:pt idx="3">
                  <c:v>0.68300000000000005</c:v>
                </c:pt>
                <c:pt idx="4">
                  <c:v>0.80900000000000005</c:v>
                </c:pt>
                <c:pt idx="5">
                  <c:v>0.73499999999999999</c:v>
                </c:pt>
                <c:pt idx="6">
                  <c:v>0.80400000000000005</c:v>
                </c:pt>
                <c:pt idx="7">
                  <c:v>0.84599999999999997</c:v>
                </c:pt>
              </c:numCache>
            </c:numRef>
          </c:val>
          <c:smooth val="0"/>
        </c:ser>
        <c:ser>
          <c:idx val="4"/>
          <c:order val="4"/>
          <c:tx>
            <c:strRef>
              <c:f>Sheet1!$B$9</c:f>
              <c:strCache>
                <c:ptCount val="1"/>
                <c:pt idx="0">
                  <c:v>満足</c:v>
                </c:pt>
              </c:strCache>
            </c:strRef>
          </c:tx>
          <c:spPr>
            <a:ln w="28575" cap="rnd">
              <a:solidFill>
                <a:schemeClr val="accent5"/>
              </a:solidFill>
              <a:round/>
            </a:ln>
            <a:effectLst/>
          </c:spPr>
          <c:marker>
            <c:symbol val="none"/>
          </c:marker>
          <c:cat>
            <c:strRef>
              <c:f>Sheet1!$C$4:$J$4</c:f>
              <c:strCache>
                <c:ptCount val="8"/>
                <c:pt idx="0">
                  <c:v>全市</c:v>
                </c:pt>
                <c:pt idx="1">
                  <c:v>北野</c:v>
                </c:pt>
                <c:pt idx="2">
                  <c:v>市街地</c:v>
                </c:pt>
                <c:pt idx="3">
                  <c:v>神戸港</c:v>
                </c:pt>
                <c:pt idx="4">
                  <c:v>六甲・摩耶</c:v>
                </c:pt>
                <c:pt idx="5">
                  <c:v>有馬</c:v>
                </c:pt>
                <c:pt idx="6">
                  <c:v>須磨・舞子</c:v>
                </c:pt>
                <c:pt idx="7">
                  <c:v>西北神</c:v>
                </c:pt>
              </c:strCache>
            </c:strRef>
          </c:cat>
          <c:val>
            <c:numRef>
              <c:f>Sheet1!$C$9:$J$9</c:f>
              <c:numCache>
                <c:formatCode>0.0%</c:formatCode>
                <c:ptCount val="8"/>
                <c:pt idx="0">
                  <c:v>0.53900000000000003</c:v>
                </c:pt>
                <c:pt idx="1">
                  <c:v>0.45400000000000001</c:v>
                </c:pt>
                <c:pt idx="2">
                  <c:v>0.56000000000000005</c:v>
                </c:pt>
                <c:pt idx="3">
                  <c:v>0.48699999999999999</c:v>
                </c:pt>
                <c:pt idx="4">
                  <c:v>0.60899999999999999</c:v>
                </c:pt>
                <c:pt idx="5">
                  <c:v>0.54700000000000004</c:v>
                </c:pt>
                <c:pt idx="6">
                  <c:v>0.44500000000000001</c:v>
                </c:pt>
                <c:pt idx="7">
                  <c:v>0.55100000000000005</c:v>
                </c:pt>
              </c:numCache>
            </c:numRef>
          </c:val>
          <c:smooth val="0"/>
        </c:ser>
        <c:dLbls>
          <c:showLegendKey val="0"/>
          <c:showVal val="0"/>
          <c:showCatName val="0"/>
          <c:showSerName val="0"/>
          <c:showPercent val="0"/>
          <c:showBubbleSize val="0"/>
        </c:dLbls>
        <c:marker val="1"/>
        <c:smooth val="0"/>
        <c:axId val="79041664"/>
        <c:axId val="79043200"/>
      </c:lineChart>
      <c:catAx>
        <c:axId val="79041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79043200"/>
        <c:crosses val="autoZero"/>
        <c:auto val="1"/>
        <c:lblAlgn val="ctr"/>
        <c:lblOffset val="100"/>
        <c:noMultiLvlLbl val="0"/>
      </c:catAx>
      <c:valAx>
        <c:axId val="79043200"/>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7904166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79CD6E-792F-4343-9120-D6FDE56BC0EC}" type="datetimeFigureOut">
              <a:rPr kumimoji="1" lang="ja-JP" altLang="en-US" smtClean="0"/>
              <a:t>2015/10/23</a:t>
            </a:fld>
            <a:endParaRPr kumimoji="1" lang="ja-JP" altLang="en-US"/>
          </a:p>
        </p:txBody>
      </p:sp>
      <p:sp>
        <p:nvSpPr>
          <p:cNvPr id="4" name="スライド イメージ プレースホルダー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4B9CC0-377A-4204-831F-6DE2F8C2CC02}" type="slidenum">
              <a:rPr kumimoji="1" lang="ja-JP" altLang="en-US" smtClean="0"/>
              <a:t>‹#›</a:t>
            </a:fld>
            <a:endParaRPr kumimoji="1" lang="ja-JP" altLang="en-US"/>
          </a:p>
        </p:txBody>
      </p:sp>
    </p:spTree>
    <p:extLst>
      <p:ext uri="{BB962C8B-B14F-4D97-AF65-F5344CB8AC3E}">
        <p14:creationId xmlns:p14="http://schemas.microsoft.com/office/powerpoint/2010/main" val="286646144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74B9CC0-377A-4204-831F-6DE2F8C2CC02}" type="slidenum">
              <a:rPr kumimoji="1" lang="ja-JP" altLang="en-US" smtClean="0"/>
              <a:t>2</a:t>
            </a:fld>
            <a:endParaRPr kumimoji="1" lang="ja-JP" altLang="en-US"/>
          </a:p>
        </p:txBody>
      </p:sp>
    </p:spTree>
    <p:extLst>
      <p:ext uri="{BB962C8B-B14F-4D97-AF65-F5344CB8AC3E}">
        <p14:creationId xmlns:p14="http://schemas.microsoft.com/office/powerpoint/2010/main" val="27769270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Ref idx="1001">
        <a:schemeClr val="bg1"/>
      </p:bgRef>
    </p:bg>
    <p:spTree>
      <p:nvGrpSpPr>
        <p:cNvPr id="1" name=""/>
        <p:cNvGrpSpPr/>
        <p:nvPr/>
      </p:nvGrpSpPr>
      <p:grpSpPr>
        <a:xfrm>
          <a:off x="0" y="0"/>
          <a:ext cx="0" cy="0"/>
          <a:chOff x="0" y="0"/>
          <a:chExt cx="0" cy="0"/>
        </a:xfrm>
      </p:grpSpPr>
      <p:pic>
        <p:nvPicPr>
          <p:cNvPr id="8" name="図 7"/>
          <p:cNvPicPr>
            <a:picLocks noChangeAspect="1"/>
          </p:cNvPicPr>
          <p:nvPr userDrawn="1"/>
        </p:nvPicPr>
        <p:blipFill rotWithShape="1">
          <a:blip r:embed="rId2">
            <a:duotone>
              <a:prstClr val="black"/>
              <a:schemeClr val="accent6">
                <a:lumMod val="75000"/>
                <a:tint val="45000"/>
                <a:satMod val="400000"/>
              </a:schemeClr>
            </a:duotone>
            <a:extLst>
              <a:ext uri="{28A0092B-C50C-407E-A947-70E740481C1C}">
                <a14:useLocalDpi xmlns:a14="http://schemas.microsoft.com/office/drawing/2010/main" val="0"/>
              </a:ext>
            </a:extLst>
          </a:blip>
          <a:srcRect t="-1" b="-304"/>
          <a:stretch/>
        </p:blipFill>
        <p:spPr>
          <a:xfrm>
            <a:off x="927593" y="0"/>
            <a:ext cx="10336814" cy="6917714"/>
          </a:xfrm>
          <a:prstGeom prst="rect">
            <a:avLst/>
          </a:prstGeom>
        </p:spPr>
      </p:pic>
      <p:sp>
        <p:nvSpPr>
          <p:cNvPr id="2" name="タイトル 1"/>
          <p:cNvSpPr>
            <a:spLocks noGrp="1"/>
          </p:cNvSpPr>
          <p:nvPr>
            <p:ph type="ctrTitle"/>
          </p:nvPr>
        </p:nvSpPr>
        <p:spPr>
          <a:xfrm>
            <a:off x="1524000" y="1122363"/>
            <a:ext cx="9144000" cy="2387600"/>
          </a:xfrm>
        </p:spPr>
        <p:txBody>
          <a:bodyPr anchor="b"/>
          <a:lstStyle>
            <a:lvl1pPr algn="ctr">
              <a:defRPr sz="6000">
                <a:latin typeface="メイリオ" panose="020B0604030504040204" pitchFamily="50" charset="-128"/>
                <a:ea typeface="メイリオ" panose="020B0604030504040204" pitchFamily="50" charset="-128"/>
                <a:cs typeface="メイリオ" panose="020B0604030504040204" pitchFamily="50" charset="-128"/>
              </a:defRPr>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atin typeface="メイリオ" panose="020B0604030504040204" pitchFamily="50" charset="-128"/>
                <a:ea typeface="メイリオ" panose="020B0604030504040204" pitchFamily="50" charset="-128"/>
                <a:cs typeface="メイリオ"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FB3BE197-B69B-4F26-B508-35A5EBC2A261}" type="datetimeFigureOut">
              <a:rPr kumimoji="1" lang="ja-JP" altLang="en-US" smtClean="0"/>
              <a:t>2015/10/23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144617C-375E-4563-AF47-975B6878A866}" type="slidenum">
              <a:rPr kumimoji="1" lang="ja-JP" altLang="en-US" smtClean="0"/>
              <a:t>‹#›</a:t>
            </a:fld>
            <a:endParaRPr kumimoji="1" lang="ja-JP" altLang="en-US"/>
          </a:p>
        </p:txBody>
      </p:sp>
      <p:pic>
        <p:nvPicPr>
          <p:cNvPr id="9" name="図 8"/>
          <p:cNvPicPr>
            <a:picLocks noChangeAspect="1"/>
          </p:cNvPicPr>
          <p:nvPr userDrawn="1"/>
        </p:nvPicPr>
        <p:blipFill>
          <a:blip r:embed="rId3">
            <a:lum bright="70000" contrast="-70000"/>
            <a:extLst>
              <a:ext uri="{28A0092B-C50C-407E-A947-70E740481C1C}">
                <a14:useLocalDpi xmlns:a14="http://schemas.microsoft.com/office/drawing/2010/main" val="0"/>
              </a:ext>
            </a:extLst>
          </a:blip>
          <a:stretch>
            <a:fillRect/>
          </a:stretch>
        </p:blipFill>
        <p:spPr>
          <a:xfrm>
            <a:off x="-1359877" y="-891870"/>
            <a:ext cx="4038600" cy="4038600"/>
          </a:xfrm>
          <a:prstGeom prst="rect">
            <a:avLst/>
          </a:prstGeom>
          <a:effectLst/>
        </p:spPr>
      </p:pic>
    </p:spTree>
    <p:extLst>
      <p:ext uri="{BB962C8B-B14F-4D97-AF65-F5344CB8AC3E}">
        <p14:creationId xmlns:p14="http://schemas.microsoft.com/office/powerpoint/2010/main" val="14151680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10" name="フリーフォーム 9"/>
          <p:cNvSpPr/>
          <p:nvPr/>
        </p:nvSpPr>
        <p:spPr>
          <a:xfrm>
            <a:off x="10222523" y="4814667"/>
            <a:ext cx="2080846" cy="1935628"/>
          </a:xfrm>
          <a:custGeom>
            <a:avLst/>
            <a:gdLst>
              <a:gd name="connsiteX0" fmla="*/ 0 w 2192215"/>
              <a:gd name="connsiteY0" fmla="*/ 1957753 h 1969477"/>
              <a:gd name="connsiteX1" fmla="*/ 1207477 w 2192215"/>
              <a:gd name="connsiteY1" fmla="*/ 1946030 h 1969477"/>
              <a:gd name="connsiteX2" fmla="*/ 1430215 w 2192215"/>
              <a:gd name="connsiteY2" fmla="*/ 679938 h 1969477"/>
              <a:gd name="connsiteX3" fmla="*/ 1324707 w 2192215"/>
              <a:gd name="connsiteY3" fmla="*/ 0 h 1969477"/>
              <a:gd name="connsiteX4" fmla="*/ 1711569 w 2192215"/>
              <a:gd name="connsiteY4" fmla="*/ 0 h 1969477"/>
              <a:gd name="connsiteX5" fmla="*/ 1617784 w 2192215"/>
              <a:gd name="connsiteY5" fmla="*/ 691661 h 1969477"/>
              <a:gd name="connsiteX6" fmla="*/ 1840523 w 2192215"/>
              <a:gd name="connsiteY6" fmla="*/ 1969477 h 1969477"/>
              <a:gd name="connsiteX7" fmla="*/ 2192215 w 2192215"/>
              <a:gd name="connsiteY7" fmla="*/ 1969477 h 1969477"/>
              <a:gd name="connsiteX0" fmla="*/ 0 w 2192215"/>
              <a:gd name="connsiteY0" fmla="*/ 1957753 h 1969477"/>
              <a:gd name="connsiteX1" fmla="*/ 1207477 w 2192215"/>
              <a:gd name="connsiteY1" fmla="*/ 1969476 h 1969477"/>
              <a:gd name="connsiteX2" fmla="*/ 1430215 w 2192215"/>
              <a:gd name="connsiteY2" fmla="*/ 679938 h 1969477"/>
              <a:gd name="connsiteX3" fmla="*/ 1324707 w 2192215"/>
              <a:gd name="connsiteY3" fmla="*/ 0 h 1969477"/>
              <a:gd name="connsiteX4" fmla="*/ 1711569 w 2192215"/>
              <a:gd name="connsiteY4" fmla="*/ 0 h 1969477"/>
              <a:gd name="connsiteX5" fmla="*/ 1617784 w 2192215"/>
              <a:gd name="connsiteY5" fmla="*/ 691661 h 1969477"/>
              <a:gd name="connsiteX6" fmla="*/ 1840523 w 2192215"/>
              <a:gd name="connsiteY6" fmla="*/ 1969477 h 1969477"/>
              <a:gd name="connsiteX7" fmla="*/ 2192215 w 2192215"/>
              <a:gd name="connsiteY7" fmla="*/ 1969477 h 1969477"/>
              <a:gd name="connsiteX0" fmla="*/ 0 w 2192215"/>
              <a:gd name="connsiteY0" fmla="*/ 2008367 h 2020091"/>
              <a:gd name="connsiteX1" fmla="*/ 1207477 w 2192215"/>
              <a:gd name="connsiteY1" fmla="*/ 2020090 h 2020091"/>
              <a:gd name="connsiteX2" fmla="*/ 1430215 w 2192215"/>
              <a:gd name="connsiteY2" fmla="*/ 730552 h 2020091"/>
              <a:gd name="connsiteX3" fmla="*/ 1324707 w 2192215"/>
              <a:gd name="connsiteY3" fmla="*/ 50614 h 2020091"/>
              <a:gd name="connsiteX4" fmla="*/ 1711569 w 2192215"/>
              <a:gd name="connsiteY4" fmla="*/ 50614 h 2020091"/>
              <a:gd name="connsiteX5" fmla="*/ 1617784 w 2192215"/>
              <a:gd name="connsiteY5" fmla="*/ 742275 h 2020091"/>
              <a:gd name="connsiteX6" fmla="*/ 1840523 w 2192215"/>
              <a:gd name="connsiteY6" fmla="*/ 2020091 h 2020091"/>
              <a:gd name="connsiteX7" fmla="*/ 2192215 w 2192215"/>
              <a:gd name="connsiteY7" fmla="*/ 2020091 h 2020091"/>
              <a:gd name="connsiteX0" fmla="*/ 0 w 2192215"/>
              <a:gd name="connsiteY0" fmla="*/ 2019249 h 2030973"/>
              <a:gd name="connsiteX1" fmla="*/ 1207477 w 2192215"/>
              <a:gd name="connsiteY1" fmla="*/ 2030972 h 2030973"/>
              <a:gd name="connsiteX2" fmla="*/ 1430215 w 2192215"/>
              <a:gd name="connsiteY2" fmla="*/ 741434 h 2030973"/>
              <a:gd name="connsiteX3" fmla="*/ 1324707 w 2192215"/>
              <a:gd name="connsiteY3" fmla="*/ 61496 h 2030973"/>
              <a:gd name="connsiteX4" fmla="*/ 1711569 w 2192215"/>
              <a:gd name="connsiteY4" fmla="*/ 61496 h 2030973"/>
              <a:gd name="connsiteX5" fmla="*/ 1617784 w 2192215"/>
              <a:gd name="connsiteY5" fmla="*/ 753157 h 2030973"/>
              <a:gd name="connsiteX6" fmla="*/ 1840523 w 2192215"/>
              <a:gd name="connsiteY6" fmla="*/ 2030973 h 2030973"/>
              <a:gd name="connsiteX7" fmla="*/ 2192215 w 2192215"/>
              <a:gd name="connsiteY7" fmla="*/ 2030973 h 2030973"/>
              <a:gd name="connsiteX0" fmla="*/ 0 w 2192215"/>
              <a:gd name="connsiteY0" fmla="*/ 2023501 h 2035225"/>
              <a:gd name="connsiteX1" fmla="*/ 1207477 w 2192215"/>
              <a:gd name="connsiteY1" fmla="*/ 2035224 h 2035225"/>
              <a:gd name="connsiteX2" fmla="*/ 1430215 w 2192215"/>
              <a:gd name="connsiteY2" fmla="*/ 745686 h 2035225"/>
              <a:gd name="connsiteX3" fmla="*/ 1324707 w 2192215"/>
              <a:gd name="connsiteY3" fmla="*/ 65748 h 2035225"/>
              <a:gd name="connsiteX4" fmla="*/ 1711569 w 2192215"/>
              <a:gd name="connsiteY4" fmla="*/ 65748 h 2035225"/>
              <a:gd name="connsiteX5" fmla="*/ 1617784 w 2192215"/>
              <a:gd name="connsiteY5" fmla="*/ 757409 h 2035225"/>
              <a:gd name="connsiteX6" fmla="*/ 1840523 w 2192215"/>
              <a:gd name="connsiteY6" fmla="*/ 2035225 h 2035225"/>
              <a:gd name="connsiteX7" fmla="*/ 2192215 w 2192215"/>
              <a:gd name="connsiteY7" fmla="*/ 2035225 h 2035225"/>
              <a:gd name="connsiteX0" fmla="*/ 0 w 2192215"/>
              <a:gd name="connsiteY0" fmla="*/ 2023502 h 2035226"/>
              <a:gd name="connsiteX1" fmla="*/ 1207477 w 2192215"/>
              <a:gd name="connsiteY1" fmla="*/ 2035225 h 2035226"/>
              <a:gd name="connsiteX2" fmla="*/ 1430215 w 2192215"/>
              <a:gd name="connsiteY2" fmla="*/ 745687 h 2035226"/>
              <a:gd name="connsiteX3" fmla="*/ 1324707 w 2192215"/>
              <a:gd name="connsiteY3" fmla="*/ 65749 h 2035226"/>
              <a:gd name="connsiteX4" fmla="*/ 1711569 w 2192215"/>
              <a:gd name="connsiteY4" fmla="*/ 65749 h 2035226"/>
              <a:gd name="connsiteX5" fmla="*/ 1617784 w 2192215"/>
              <a:gd name="connsiteY5" fmla="*/ 757410 h 2035226"/>
              <a:gd name="connsiteX6" fmla="*/ 1840523 w 2192215"/>
              <a:gd name="connsiteY6" fmla="*/ 2035226 h 2035226"/>
              <a:gd name="connsiteX7" fmla="*/ 2192215 w 2192215"/>
              <a:gd name="connsiteY7" fmla="*/ 2035226 h 2035226"/>
              <a:gd name="connsiteX0" fmla="*/ 0 w 2187917"/>
              <a:gd name="connsiteY0" fmla="*/ 2032099 h 2035226"/>
              <a:gd name="connsiteX1" fmla="*/ 1203179 w 2187917"/>
              <a:gd name="connsiteY1" fmla="*/ 2035225 h 2035226"/>
              <a:gd name="connsiteX2" fmla="*/ 1425917 w 2187917"/>
              <a:gd name="connsiteY2" fmla="*/ 745687 h 2035226"/>
              <a:gd name="connsiteX3" fmla="*/ 1320409 w 2187917"/>
              <a:gd name="connsiteY3" fmla="*/ 65749 h 2035226"/>
              <a:gd name="connsiteX4" fmla="*/ 1707271 w 2187917"/>
              <a:gd name="connsiteY4" fmla="*/ 65749 h 2035226"/>
              <a:gd name="connsiteX5" fmla="*/ 1613486 w 2187917"/>
              <a:gd name="connsiteY5" fmla="*/ 757410 h 2035226"/>
              <a:gd name="connsiteX6" fmla="*/ 1836225 w 2187917"/>
              <a:gd name="connsiteY6" fmla="*/ 2035226 h 2035226"/>
              <a:gd name="connsiteX7" fmla="*/ 2187917 w 2187917"/>
              <a:gd name="connsiteY7" fmla="*/ 2035226 h 203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917" h="2035226">
                <a:moveTo>
                  <a:pt x="0" y="2032099"/>
                </a:moveTo>
                <a:lnTo>
                  <a:pt x="1203179" y="2035225"/>
                </a:lnTo>
                <a:lnTo>
                  <a:pt x="1425917" y="745687"/>
                </a:lnTo>
                <a:lnTo>
                  <a:pt x="1320409" y="65749"/>
                </a:lnTo>
                <a:cubicBezTo>
                  <a:pt x="1477833" y="-48133"/>
                  <a:pt x="1621022" y="8809"/>
                  <a:pt x="1707271" y="65749"/>
                </a:cubicBezTo>
                <a:lnTo>
                  <a:pt x="1613486" y="757410"/>
                </a:lnTo>
                <a:lnTo>
                  <a:pt x="1836225" y="2035226"/>
                </a:lnTo>
                <a:lnTo>
                  <a:pt x="2187917" y="2035226"/>
                </a:lnTo>
              </a:path>
            </a:pathLst>
          </a:custGeom>
          <a:noFill/>
          <a:ln w="19050" cap="rnd">
            <a:solidFill>
              <a:srgbClr val="FF3300"/>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p:cNvCxnSpPr/>
          <p:nvPr/>
        </p:nvCxnSpPr>
        <p:spPr>
          <a:xfrm>
            <a:off x="11664461" y="4701508"/>
            <a:ext cx="0" cy="113159"/>
          </a:xfrm>
          <a:prstGeom prst="line">
            <a:avLst/>
          </a:prstGeom>
          <a:ln w="19050" cap="rnd">
            <a:solidFill>
              <a:srgbClr val="FF3300"/>
            </a:solidFill>
          </a:ln>
        </p:spPr>
        <p:style>
          <a:lnRef idx="1">
            <a:schemeClr val="accent1"/>
          </a:lnRef>
          <a:fillRef idx="0">
            <a:schemeClr val="accent1"/>
          </a:fillRef>
          <a:effectRef idx="0">
            <a:schemeClr val="accent1"/>
          </a:effectRef>
          <a:fontRef idx="minor">
            <a:schemeClr val="tx1"/>
          </a:fontRef>
        </p:style>
      </p:cxnSp>
      <p:sp>
        <p:nvSpPr>
          <p:cNvPr id="12" name="正方形/長方形 11"/>
          <p:cNvSpPr/>
          <p:nvPr/>
        </p:nvSpPr>
        <p:spPr>
          <a:xfrm>
            <a:off x="10199077" y="6245835"/>
            <a:ext cx="920262" cy="586154"/>
          </a:xfrm>
          <a:prstGeom prst="rect">
            <a:avLst/>
          </a:prstGeom>
          <a:gradFill flip="none" rotWithShape="1">
            <a:gsLst>
              <a:gs pos="36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1359877" y="-891870"/>
            <a:ext cx="4038600" cy="4038600"/>
          </a:xfrm>
          <a:prstGeom prst="rect">
            <a:avLst/>
          </a:prstGeom>
          <a:effectLst/>
        </p:spPr>
      </p:pic>
      <p:sp>
        <p:nvSpPr>
          <p:cNvPr id="2" name="タイトル 1"/>
          <p:cNvSpPr>
            <a:spLocks noGrp="1"/>
          </p:cNvSpPr>
          <p:nvPr userDrawn="1">
            <p:ph type="title"/>
          </p:nvPr>
        </p:nvSpPr>
        <p:spPr/>
        <p:txBody>
          <a:bodyPr/>
          <a:lstStyle>
            <a:lvl1pPr>
              <a:defRPr>
                <a:latin typeface="メイリオ" panose="020B0604030504040204" pitchFamily="50" charset="-128"/>
                <a:ea typeface="メイリオ" panose="020B0604030504040204" pitchFamily="50" charset="-128"/>
                <a:cs typeface="メイリオ" panose="020B0604030504040204" pitchFamily="50" charset="-128"/>
              </a:defRPr>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userDrawn="1">
            <p:ph idx="1"/>
          </p:nvPr>
        </p:nvSpPr>
        <p:spPr/>
        <p:txBody>
          <a:bodyPr/>
          <a:lstStyle>
            <a:lvl1pPr>
              <a:defRPr>
                <a:latin typeface="メイリオ" panose="020B0604030504040204" pitchFamily="50" charset="-128"/>
                <a:ea typeface="メイリオ" panose="020B0604030504040204" pitchFamily="50" charset="-128"/>
                <a:cs typeface="メイリオ" panose="020B0604030504040204" pitchFamily="50" charset="-128"/>
              </a:defRPr>
            </a:lvl1pPr>
            <a:lvl2pPr>
              <a:defRPr>
                <a:latin typeface="メイリオ" panose="020B0604030504040204" pitchFamily="50" charset="-128"/>
                <a:ea typeface="メイリオ" panose="020B0604030504040204" pitchFamily="50" charset="-128"/>
                <a:cs typeface="メイリオ" panose="020B0604030504040204" pitchFamily="50" charset="-128"/>
              </a:defRPr>
            </a:lvl2pPr>
            <a:lvl3pPr>
              <a:defRPr>
                <a:latin typeface="メイリオ" panose="020B0604030504040204" pitchFamily="50" charset="-128"/>
                <a:ea typeface="メイリオ" panose="020B0604030504040204" pitchFamily="50" charset="-128"/>
                <a:cs typeface="メイリオ" panose="020B0604030504040204" pitchFamily="50" charset="-128"/>
              </a:defRPr>
            </a:lvl3pPr>
            <a:lvl4pPr>
              <a:defRPr>
                <a:latin typeface="メイリオ" panose="020B0604030504040204" pitchFamily="50" charset="-128"/>
                <a:ea typeface="メイリオ" panose="020B0604030504040204" pitchFamily="50" charset="-128"/>
                <a:cs typeface="メイリオ" panose="020B0604030504040204" pitchFamily="50" charset="-128"/>
              </a:defRPr>
            </a:lvl4pPr>
            <a:lvl5pPr>
              <a:defRPr>
                <a:latin typeface="メイリオ" panose="020B0604030504040204" pitchFamily="50" charset="-128"/>
                <a:ea typeface="メイリオ" panose="020B0604030504040204" pitchFamily="50" charset="-128"/>
                <a:cs typeface="メイリオ" panose="020B0604030504040204" pitchFamily="50" charset="-128"/>
              </a:defRPr>
            </a:lvl5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userDrawn="1">
            <p:ph type="dt" sz="half" idx="10"/>
          </p:nvPr>
        </p:nvSpPr>
        <p:spPr/>
        <p:txBody>
          <a:bodyPr/>
          <a:lstStyle/>
          <a:p>
            <a:fld id="{FB3BE197-B69B-4F26-B508-35A5EBC2A261}" type="datetimeFigureOut">
              <a:rPr kumimoji="1" lang="ja-JP" altLang="en-US" smtClean="0"/>
              <a:t>2015/10/23</a:t>
            </a:fld>
            <a:endParaRPr kumimoji="1" lang="ja-JP" altLang="en-US"/>
          </a:p>
        </p:txBody>
      </p:sp>
      <p:sp>
        <p:nvSpPr>
          <p:cNvPr id="5" name="フッター プレースホルダー 4"/>
          <p:cNvSpPr>
            <a:spLocks noGrp="1"/>
          </p:cNvSpPr>
          <p:nvPr userDrawn="1">
            <p:ph type="ftr" sz="quarter" idx="11"/>
          </p:nvPr>
        </p:nvSpPr>
        <p:spPr/>
        <p:txBody>
          <a:bodyPr/>
          <a:lstStyle/>
          <a:p>
            <a:endParaRPr kumimoji="1" lang="ja-JP" altLang="en-US"/>
          </a:p>
        </p:txBody>
      </p:sp>
      <p:sp>
        <p:nvSpPr>
          <p:cNvPr id="6" name="スライド番号プレースホルダー 5"/>
          <p:cNvSpPr>
            <a:spLocks noGrp="1"/>
          </p:cNvSpPr>
          <p:nvPr userDrawn="1">
            <p:ph type="sldNum" sz="quarter" idx="12"/>
          </p:nvPr>
        </p:nvSpPr>
        <p:spPr/>
        <p:txBody>
          <a:bodyPr/>
          <a:lstStyle/>
          <a:p>
            <a:fld id="{F144617C-375E-4563-AF47-975B6878A866}" type="slidenum">
              <a:rPr kumimoji="1" lang="ja-JP" altLang="en-US" smtClean="0"/>
              <a:t>‹#›</a:t>
            </a:fld>
            <a:endParaRPr kumimoji="1" lang="ja-JP" altLang="en-US"/>
          </a:p>
        </p:txBody>
      </p:sp>
      <p:sp>
        <p:nvSpPr>
          <p:cNvPr id="13" name="Text Box 5"/>
          <p:cNvSpPr txBox="1">
            <a:spLocks noChangeArrowheads="1"/>
          </p:cNvSpPr>
          <p:nvPr userDrawn="1"/>
        </p:nvSpPr>
        <p:spPr bwMode="auto">
          <a:xfrm>
            <a:off x="5417167" y="6552074"/>
            <a:ext cx="5928659" cy="230822"/>
          </a:xfrm>
          <a:prstGeom prst="rect">
            <a:avLst/>
          </a:prstGeom>
          <a:noFill/>
          <a:ln w="9525">
            <a:noFill/>
            <a:miter lim="800000"/>
            <a:headEnd/>
            <a:tailEnd/>
          </a:ln>
          <a:effectLst/>
        </p:spPr>
        <p:txBody>
          <a:bodyPr wrap="square" lIns="91429" tIns="45715" rIns="91429" bIns="45715">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Copyright</a:t>
            </a:r>
            <a:r>
              <a:rPr lang="ja-JP" altLang="en-US" sz="900" dirty="0" smtClean="0">
                <a:solidFill>
                  <a:schemeClr val="tx1">
                    <a:lumMod val="50000"/>
                    <a:lumOff val="50000"/>
                  </a:schemeClr>
                </a:solidFill>
                <a:latin typeface="メイリオ" pitchFamily="50" charset="-128"/>
                <a:ea typeface="メイリオ" pitchFamily="50" charset="-128"/>
                <a:cs typeface="メイリオ" pitchFamily="50" charset="-128"/>
              </a:rPr>
              <a:t> Ⓒ </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2015</a:t>
            </a:r>
            <a:r>
              <a:rPr kumimoji="0"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 </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Kobe Digital </a:t>
            </a:r>
            <a:r>
              <a:rPr lang="en-US" altLang="ja-JP" sz="900" dirty="0" err="1" smtClean="0">
                <a:solidFill>
                  <a:schemeClr val="tx1">
                    <a:lumMod val="50000"/>
                    <a:lumOff val="50000"/>
                  </a:schemeClr>
                </a:solidFill>
                <a:latin typeface="メイリオ" pitchFamily="50" charset="-128"/>
                <a:ea typeface="メイリオ" pitchFamily="50" charset="-128"/>
                <a:cs typeface="メイリオ" pitchFamily="50" charset="-128"/>
              </a:rPr>
              <a:t>Labo</a:t>
            </a:r>
            <a:r>
              <a:rPr lang="en-US" altLang="ja-JP" sz="900" dirty="0" smtClean="0">
                <a:solidFill>
                  <a:schemeClr val="tx1">
                    <a:lumMod val="50000"/>
                    <a:lumOff val="50000"/>
                  </a:schemeClr>
                </a:solidFill>
                <a:latin typeface="メイリオ" pitchFamily="50" charset="-128"/>
                <a:ea typeface="メイリオ" pitchFamily="50" charset="-128"/>
                <a:cs typeface="メイリオ" pitchFamily="50" charset="-128"/>
              </a:rPr>
              <a:t> , Inc. All rights Reserved</a:t>
            </a:r>
          </a:p>
        </p:txBody>
      </p:sp>
    </p:spTree>
    <p:extLst>
      <p:ext uri="{BB962C8B-B14F-4D97-AF65-F5344CB8AC3E}">
        <p14:creationId xmlns:p14="http://schemas.microsoft.com/office/powerpoint/2010/main" val="188515969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FB3BE197-B69B-4F26-B508-35A5EBC2A261}" type="datetimeFigureOut">
              <a:rPr kumimoji="1" lang="ja-JP" altLang="en-US" smtClean="0"/>
              <a:t>2015/10/23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144617C-375E-4563-AF47-975B6878A866}" type="slidenum">
              <a:rPr kumimoji="1" lang="ja-JP" altLang="en-US" smtClean="0"/>
              <a:t>‹#›</a:t>
            </a:fld>
            <a:endParaRPr kumimoji="1" lang="ja-JP" altLang="en-US"/>
          </a:p>
        </p:txBody>
      </p:sp>
    </p:spTree>
    <p:extLst>
      <p:ext uri="{BB962C8B-B14F-4D97-AF65-F5344CB8AC3E}">
        <p14:creationId xmlns:p14="http://schemas.microsoft.com/office/powerpoint/2010/main" val="12851770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FB3BE197-B69B-4F26-B508-35A5EBC2A261}" type="datetimeFigureOut">
              <a:rPr kumimoji="1" lang="ja-JP" altLang="en-US" smtClean="0"/>
              <a:t>2015/10/23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144617C-375E-4563-AF47-975B6878A866}" type="slidenum">
              <a:rPr kumimoji="1" lang="ja-JP" altLang="en-US" smtClean="0"/>
              <a:t>‹#›</a:t>
            </a:fld>
            <a:endParaRPr kumimoji="1" lang="ja-JP" altLang="en-US"/>
          </a:p>
        </p:txBody>
      </p:sp>
    </p:spTree>
    <p:extLst>
      <p:ext uri="{BB962C8B-B14F-4D97-AF65-F5344CB8AC3E}">
        <p14:creationId xmlns:p14="http://schemas.microsoft.com/office/powerpoint/2010/main" val="84981256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FB3BE197-B69B-4F26-B508-35A5EBC2A261}" type="datetimeFigureOut">
              <a:rPr kumimoji="1" lang="ja-JP" altLang="en-US" smtClean="0"/>
              <a:t>2015/10/23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F144617C-375E-4563-AF47-975B6878A866}" type="slidenum">
              <a:rPr kumimoji="1" lang="ja-JP" altLang="en-US" smtClean="0"/>
              <a:t>‹#›</a:t>
            </a:fld>
            <a:endParaRPr kumimoji="1" lang="ja-JP" altLang="en-US"/>
          </a:p>
        </p:txBody>
      </p:sp>
    </p:spTree>
    <p:extLst>
      <p:ext uri="{BB962C8B-B14F-4D97-AF65-F5344CB8AC3E}">
        <p14:creationId xmlns:p14="http://schemas.microsoft.com/office/powerpoint/2010/main" val="1906273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FB3BE197-B69B-4F26-B508-35A5EBC2A261}" type="datetimeFigureOut">
              <a:rPr kumimoji="1" lang="ja-JP" altLang="en-US" smtClean="0"/>
              <a:t>2015/10/23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F144617C-375E-4563-AF47-975B6878A866}" type="slidenum">
              <a:rPr kumimoji="1" lang="ja-JP" altLang="en-US" smtClean="0"/>
              <a:t>‹#›</a:t>
            </a:fld>
            <a:endParaRPr kumimoji="1" lang="ja-JP" altLang="en-US"/>
          </a:p>
        </p:txBody>
      </p:sp>
    </p:spTree>
    <p:extLst>
      <p:ext uri="{BB962C8B-B14F-4D97-AF65-F5344CB8AC3E}">
        <p14:creationId xmlns:p14="http://schemas.microsoft.com/office/powerpoint/2010/main" val="182216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FB3BE197-B69B-4F26-B508-35A5EBC2A261}" type="datetimeFigureOut">
              <a:rPr kumimoji="1" lang="ja-JP" altLang="en-US" smtClean="0"/>
              <a:t>2015/10/23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F144617C-375E-4563-AF47-975B6878A866}" type="slidenum">
              <a:rPr kumimoji="1" lang="ja-JP" altLang="en-US" smtClean="0"/>
              <a:t>‹#›</a:t>
            </a:fld>
            <a:endParaRPr kumimoji="1" lang="ja-JP" altLang="en-US"/>
          </a:p>
        </p:txBody>
      </p:sp>
    </p:spTree>
    <p:extLst>
      <p:ext uri="{BB962C8B-B14F-4D97-AF65-F5344CB8AC3E}">
        <p14:creationId xmlns:p14="http://schemas.microsoft.com/office/powerpoint/2010/main" val="3227152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FB3BE197-B69B-4F26-B508-35A5EBC2A261}" type="datetimeFigureOut">
              <a:rPr kumimoji="1" lang="ja-JP" altLang="en-US" smtClean="0"/>
              <a:t>2015/10/23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144617C-375E-4563-AF47-975B6878A866}" type="slidenum">
              <a:rPr kumimoji="1" lang="ja-JP" altLang="en-US" smtClean="0"/>
              <a:t>‹#›</a:t>
            </a:fld>
            <a:endParaRPr kumimoji="1" lang="ja-JP" altLang="en-US"/>
          </a:p>
        </p:txBody>
      </p:sp>
    </p:spTree>
    <p:extLst>
      <p:ext uri="{BB962C8B-B14F-4D97-AF65-F5344CB8AC3E}">
        <p14:creationId xmlns:p14="http://schemas.microsoft.com/office/powerpoint/2010/main" val="3777751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FB3BE197-B69B-4F26-B508-35A5EBC2A261}" type="datetimeFigureOut">
              <a:rPr kumimoji="1" lang="ja-JP" altLang="en-US" smtClean="0"/>
              <a:t>2015/10/23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F144617C-375E-4563-AF47-975B6878A866}" type="slidenum">
              <a:rPr kumimoji="1" lang="ja-JP" altLang="en-US" smtClean="0"/>
              <a:t>‹#›</a:t>
            </a:fld>
            <a:endParaRPr kumimoji="1" lang="ja-JP" altLang="en-US"/>
          </a:p>
        </p:txBody>
      </p:sp>
    </p:spTree>
    <p:extLst>
      <p:ext uri="{BB962C8B-B14F-4D97-AF65-F5344CB8AC3E}">
        <p14:creationId xmlns:p14="http://schemas.microsoft.com/office/powerpoint/2010/main" val="1269644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FB3BE197-B69B-4F26-B508-35A5EBC2A261}" type="datetimeFigureOut">
              <a:rPr kumimoji="1" lang="ja-JP" altLang="en-US" smtClean="0"/>
              <a:t>2015/10/23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144617C-375E-4563-AF47-975B6878A866}" type="slidenum">
              <a:rPr kumimoji="1" lang="ja-JP" altLang="en-US" smtClean="0"/>
              <a:t>‹#›</a:t>
            </a:fld>
            <a:endParaRPr kumimoji="1" lang="ja-JP" altLang="en-US"/>
          </a:p>
        </p:txBody>
      </p:sp>
    </p:spTree>
    <p:extLst>
      <p:ext uri="{BB962C8B-B14F-4D97-AF65-F5344CB8AC3E}">
        <p14:creationId xmlns:p14="http://schemas.microsoft.com/office/powerpoint/2010/main" val="146278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FB3BE197-B69B-4F26-B508-35A5EBC2A261}" type="datetimeFigureOut">
              <a:rPr kumimoji="1" lang="ja-JP" altLang="en-US" smtClean="0"/>
              <a:t>2015/10/23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F144617C-375E-4563-AF47-975B6878A866}" type="slidenum">
              <a:rPr kumimoji="1" lang="ja-JP" altLang="en-US" smtClean="0"/>
              <a:t>‹#›</a:t>
            </a:fld>
            <a:endParaRPr kumimoji="1" lang="ja-JP" altLang="en-US"/>
          </a:p>
        </p:txBody>
      </p:sp>
    </p:spTree>
    <p:extLst>
      <p:ext uri="{BB962C8B-B14F-4D97-AF65-F5344CB8AC3E}">
        <p14:creationId xmlns:p14="http://schemas.microsoft.com/office/powerpoint/2010/main" val="642755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3BE197-B69B-4F26-B508-35A5EBC2A261}" type="datetimeFigureOut">
              <a:rPr kumimoji="1" lang="ja-JP" altLang="en-US" smtClean="0"/>
              <a:t>2015/10/23</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44617C-375E-4563-AF47-975B6878A866}" type="slidenum">
              <a:rPr kumimoji="1" lang="ja-JP" altLang="en-US" smtClean="0"/>
              <a:t>‹#›</a:t>
            </a:fld>
            <a:endParaRPr kumimoji="1" lang="ja-JP" altLang="en-US"/>
          </a:p>
        </p:txBody>
      </p:sp>
    </p:spTree>
    <p:extLst>
      <p:ext uri="{BB962C8B-B14F-4D97-AF65-F5344CB8AC3E}">
        <p14:creationId xmlns:p14="http://schemas.microsoft.com/office/powerpoint/2010/main" val="4052847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city.kobe.lg.jp/information/data/statistics/sightseeing/data/img/image1501.pdf"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city.kobe.lg.jp/information/data/statistics/sightseeing/data/img/doukou24.pdf" TargetMode="Externa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city.kobe.lg.jp/information/data/statistics/sightseeing/data/img/doukou24.pdf"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city.kobe.lg.jp/information/data/statistics/sightseeing/data/img/image1501.pdf" TargetMode="External"/><Relationship Id="rId2" Type="http://schemas.openxmlformats.org/officeDocument/2006/relationships/hyperlink" Target="http://www.city.kobe.lg.jp/information/data/statistics/sightseeing/data/img/doukou24.pdf" TargetMode="External"/><Relationship Id="rId1" Type="http://schemas.openxmlformats.org/officeDocument/2006/relationships/slideLayout" Target="../slideLayouts/slideLayout2.xml"/><Relationship Id="rId6" Type="http://schemas.openxmlformats.org/officeDocument/2006/relationships/hyperlink" Target="http://www.city.kobe.lg.jp/information/public/kouhoushi/" TargetMode="External"/><Relationship Id="rId5" Type="http://schemas.openxmlformats.org/officeDocument/2006/relationships/hyperlink" Target="http://www.city.kobe.lg.jp/business/promotion/commerce/shop/3.html" TargetMode="External"/><Relationship Id="rId4" Type="http://schemas.openxmlformats.org/officeDocument/2006/relationships/hyperlink" Target="http://www.feel-kobe.jp/volunte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096146" y="2136321"/>
            <a:ext cx="5999709" cy="2387600"/>
          </a:xfrm>
          <a:effectLst/>
        </p:spPr>
        <p:txBody>
          <a:bodyPr anchor="ctr">
            <a:normAutofit fontScale="90000"/>
          </a:bodyPr>
          <a:lstStyle/>
          <a:p>
            <a:pPr algn="l">
              <a:lnSpc>
                <a:spcPct val="65000"/>
              </a:lnSpc>
            </a:pPr>
            <a:r>
              <a:rPr lang="en-US" altLang="ja-JP" sz="13800" dirty="0" smtClean="0">
                <a:solidFill>
                  <a:srgbClr val="CC2A2A"/>
                </a:solidFill>
                <a:effectLst>
                  <a:glow rad="38100">
                    <a:schemeClr val="bg1">
                      <a:alpha val="18000"/>
                    </a:schemeClr>
                  </a:glow>
                </a:effectLst>
                <a:latin typeface="メイリオ" panose="020B0604030504040204" pitchFamily="50" charset="-128"/>
                <a:ea typeface="メイリオ" panose="020B0604030504040204" pitchFamily="50" charset="-128"/>
                <a:cs typeface="メイリオ" panose="020B0604030504040204" pitchFamily="50" charset="-128"/>
              </a:rPr>
              <a:t>K</a:t>
            </a:r>
            <a:r>
              <a:rPr lang="en-US" altLang="ja-JP" sz="13800" dirty="0" smtClean="0">
                <a:effectLst>
                  <a:glow rad="38100">
                    <a:schemeClr val="bg1">
                      <a:alpha val="18000"/>
                    </a:schemeClr>
                  </a:glow>
                </a:effectLst>
                <a:latin typeface="メイリオ" panose="020B0604030504040204" pitchFamily="50" charset="-128"/>
                <a:ea typeface="メイリオ" panose="020B0604030504040204" pitchFamily="50" charset="-128"/>
                <a:cs typeface="メイリオ" panose="020B0604030504040204" pitchFamily="50" charset="-128"/>
              </a:rPr>
              <a:t>obe </a:t>
            </a:r>
            <a:r>
              <a:rPr lang="en-US" altLang="ja-JP" sz="13800" dirty="0" smtClean="0">
                <a:solidFill>
                  <a:srgbClr val="CC2A2A"/>
                </a:solidFill>
                <a:effectLst>
                  <a:glow rad="38100">
                    <a:schemeClr val="bg1">
                      <a:alpha val="18000"/>
                    </a:schemeClr>
                  </a:glow>
                </a:effectLst>
                <a:latin typeface="メイリオ" panose="020B0604030504040204" pitchFamily="50" charset="-128"/>
                <a:ea typeface="メイリオ" panose="020B0604030504040204" pitchFamily="50" charset="-128"/>
                <a:cs typeface="メイリオ" panose="020B0604030504040204" pitchFamily="50" charset="-128"/>
              </a:rPr>
              <a:t>S</a:t>
            </a:r>
            <a:r>
              <a:rPr lang="en-US" altLang="ja-JP" sz="13800" dirty="0" smtClean="0">
                <a:effectLst>
                  <a:glow rad="38100">
                    <a:schemeClr val="bg1">
                      <a:alpha val="18000"/>
                    </a:schemeClr>
                  </a:glow>
                </a:effectLst>
                <a:latin typeface="メイリオ" panose="020B0604030504040204" pitchFamily="50" charset="-128"/>
                <a:ea typeface="メイリオ" panose="020B0604030504040204" pitchFamily="50" charset="-128"/>
                <a:cs typeface="メイリオ" panose="020B0604030504040204" pitchFamily="50" charset="-128"/>
              </a:rPr>
              <a:t>treet </a:t>
            </a:r>
            <a:r>
              <a:rPr lang="en-US" altLang="ja-JP" sz="13800" dirty="0" smtClean="0">
                <a:solidFill>
                  <a:srgbClr val="CC2A2A"/>
                </a:solidFill>
                <a:effectLst>
                  <a:glow rad="38100">
                    <a:schemeClr val="bg1">
                      <a:alpha val="18000"/>
                    </a:schemeClr>
                  </a:glow>
                </a:effectLst>
                <a:latin typeface="メイリオ" panose="020B0604030504040204" pitchFamily="50" charset="-128"/>
                <a:ea typeface="メイリオ" panose="020B0604030504040204" pitchFamily="50" charset="-128"/>
                <a:cs typeface="メイリオ" panose="020B0604030504040204" pitchFamily="50" charset="-128"/>
              </a:rPr>
              <a:t>A</a:t>
            </a:r>
            <a:r>
              <a:rPr lang="en-US" altLang="ja-JP" sz="13800" dirty="0" smtClean="0">
                <a:effectLst>
                  <a:glow rad="38100">
                    <a:schemeClr val="bg1">
                      <a:alpha val="18000"/>
                    </a:schemeClr>
                  </a:glow>
                </a:effectLst>
                <a:latin typeface="メイリオ" panose="020B0604030504040204" pitchFamily="50" charset="-128"/>
                <a:ea typeface="メイリオ" panose="020B0604030504040204" pitchFamily="50" charset="-128"/>
                <a:cs typeface="メイリオ" panose="020B0604030504040204" pitchFamily="50" charset="-128"/>
              </a:rPr>
              <a:t>dviser</a:t>
            </a:r>
            <a:endParaRPr kumimoji="1" lang="ja-JP" altLang="en-US" sz="13800" dirty="0">
              <a:effectLst>
                <a:glow rad="38100">
                  <a:schemeClr val="bg1">
                    <a:alpha val="18000"/>
                  </a:schemeClr>
                </a:glow>
              </a:effectLst>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サブタイトル 2"/>
          <p:cNvSpPr>
            <a:spLocks noGrp="1"/>
          </p:cNvSpPr>
          <p:nvPr>
            <p:ph type="subTitle" idx="1"/>
          </p:nvPr>
        </p:nvSpPr>
        <p:spPr>
          <a:xfrm>
            <a:off x="1503979" y="5594124"/>
            <a:ext cx="9144000" cy="592920"/>
          </a:xfrm>
        </p:spPr>
        <p:txBody>
          <a:bodyPr/>
          <a:lstStyle/>
          <a:p>
            <a:pPr algn="r"/>
            <a:r>
              <a:rPr kumimoji="1" lang="ja-JP" altLang="en-US" dirty="0" smtClean="0">
                <a:effectLst>
                  <a:glow rad="139700">
                    <a:schemeClr val="bg1">
                      <a:alpha val="28000"/>
                    </a:schemeClr>
                  </a:glow>
                </a:effectLst>
                <a:latin typeface="メイリオ" panose="020B0604030504040204" pitchFamily="50" charset="-128"/>
                <a:ea typeface="メイリオ" panose="020B0604030504040204" pitchFamily="50" charset="-128"/>
                <a:cs typeface="メイリオ" panose="020B0604030504040204" pitchFamily="50" charset="-128"/>
              </a:rPr>
              <a:t>株式会社神戸デジタル・ラボ</a:t>
            </a:r>
            <a:endParaRPr kumimoji="1" lang="ja-JP" altLang="en-US" dirty="0">
              <a:effectLst>
                <a:glow rad="139700">
                  <a:schemeClr val="bg1">
                    <a:alpha val="28000"/>
                  </a:schemeClr>
                </a:glow>
              </a:effectLst>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85143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右矢印 8"/>
          <p:cNvSpPr/>
          <p:nvPr/>
        </p:nvSpPr>
        <p:spPr>
          <a:xfrm>
            <a:off x="3541814" y="3244774"/>
            <a:ext cx="4531107" cy="822268"/>
          </a:xfrm>
          <a:prstGeom prst="rightArrow">
            <a:avLst>
              <a:gd name="adj1" fmla="val 50000"/>
              <a:gd name="adj2" fmla="val 68504"/>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p:cNvSpPr/>
          <p:nvPr/>
        </p:nvSpPr>
        <p:spPr>
          <a:xfrm>
            <a:off x="818706" y="1584251"/>
            <a:ext cx="2626242" cy="3763925"/>
          </a:xfrm>
          <a:prstGeom prst="roundRect">
            <a:avLst/>
          </a:prstGeom>
          <a:solidFill>
            <a:srgbClr val="FFFFFF">
              <a:alpha val="69804"/>
            </a:srgbClr>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p:cNvSpPr/>
          <p:nvPr/>
        </p:nvSpPr>
        <p:spPr>
          <a:xfrm>
            <a:off x="4211472" y="1584250"/>
            <a:ext cx="3039931" cy="3763925"/>
          </a:xfrm>
          <a:prstGeom prst="roundRect">
            <a:avLst/>
          </a:prstGeom>
          <a:solidFill>
            <a:srgbClr val="FFFFFF"/>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角丸四角形 12"/>
          <p:cNvSpPr/>
          <p:nvPr/>
        </p:nvSpPr>
        <p:spPr>
          <a:xfrm>
            <a:off x="8072922" y="1584251"/>
            <a:ext cx="3663709" cy="3763925"/>
          </a:xfrm>
          <a:prstGeom prst="roundRect">
            <a:avLst/>
          </a:prstGeom>
          <a:solidFill>
            <a:srgbClr val="FFFFFF">
              <a:alpha val="69804"/>
            </a:srgbClr>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p:txBody>
          <a:bodyPr/>
          <a:lstStyle/>
          <a:p>
            <a:r>
              <a:rPr kumimoji="1" lang="ja-JP" altLang="en-US" dirty="0" smtClean="0"/>
              <a:t>企画の目的</a:t>
            </a:r>
            <a:endParaRPr kumimoji="1" lang="ja-JP" altLang="en-US" dirty="0"/>
          </a:p>
        </p:txBody>
      </p:sp>
      <p:sp>
        <p:nvSpPr>
          <p:cNvPr id="5" name="正方形/長方形 4"/>
          <p:cNvSpPr/>
          <p:nvPr/>
        </p:nvSpPr>
        <p:spPr>
          <a:xfrm>
            <a:off x="993106" y="2465283"/>
            <a:ext cx="2277442" cy="114886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宿泊数</a:t>
            </a:r>
            <a:r>
              <a:rPr lang="ja-JP" altLang="en-US" sz="2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が</a:t>
            </a:r>
            <a:r>
              <a:rPr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少なく</a:t>
            </a:r>
            <a:endParaRPr lang="en-US" altLang="ja-JP"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観光産業に課題</a:t>
            </a:r>
            <a:endParaRPr kumimoji="1" lang="ja-JP" altLang="en-US" sz="2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p:cNvSpPr/>
          <p:nvPr/>
        </p:nvSpPr>
        <p:spPr>
          <a:xfrm>
            <a:off x="4468355" y="3792921"/>
            <a:ext cx="2584393" cy="114886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新規神戸旅行者</a:t>
            </a:r>
            <a:r>
              <a:rPr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の</a:t>
            </a:r>
            <a:endParaRPr lang="en-US" altLang="ja-JP"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リピート率</a:t>
            </a:r>
            <a:r>
              <a:rPr lang="ja-JP" altLang="en-US" sz="2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が低い</a:t>
            </a:r>
            <a:endParaRPr kumimoji="1" lang="ja-JP" altLang="en-US" sz="2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正方形/長方形 6"/>
          <p:cNvSpPr/>
          <p:nvPr/>
        </p:nvSpPr>
        <p:spPr>
          <a:xfrm>
            <a:off x="8267669" y="2465283"/>
            <a:ext cx="3274217" cy="24765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smtClean="0">
                <a:latin typeface="メイリオ" panose="020B0604030504040204" pitchFamily="50" charset="-128"/>
                <a:ea typeface="メイリオ" panose="020B0604030504040204" pitchFamily="50" charset="-128"/>
                <a:cs typeface="メイリオ" panose="020B0604030504040204" pitchFamily="50" charset="-128"/>
              </a:rPr>
              <a:t>新規旅行者に</a:t>
            </a:r>
            <a:endParaRPr lang="en-US" altLang="ja-JP" sz="2400" b="1"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400" b="1" dirty="0" smtClean="0">
                <a:latin typeface="メイリオ" panose="020B0604030504040204" pitchFamily="50" charset="-128"/>
                <a:ea typeface="メイリオ" panose="020B0604030504040204" pitchFamily="50" charset="-128"/>
                <a:cs typeface="メイリオ" panose="020B0604030504040204" pitchFamily="50" charset="-128"/>
              </a:rPr>
              <a:t>情報誌等では</a:t>
            </a:r>
            <a:endParaRPr lang="en-US" altLang="ja-JP" sz="2400" b="1"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なかなか</a:t>
            </a:r>
            <a:r>
              <a:rPr lang="ja-JP" altLang="en-US" sz="2400" b="1" dirty="0" smtClean="0">
                <a:latin typeface="メイリオ" panose="020B0604030504040204" pitchFamily="50" charset="-128"/>
                <a:ea typeface="メイリオ" panose="020B0604030504040204" pitchFamily="50" charset="-128"/>
                <a:cs typeface="メイリオ" panose="020B0604030504040204" pitchFamily="50" charset="-128"/>
              </a:rPr>
              <a:t>得られない</a:t>
            </a:r>
            <a:endParaRPr lang="en-US" altLang="ja-JP" sz="2400" b="1"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400" b="1" dirty="0" smtClean="0">
                <a:latin typeface="メイリオ" panose="020B0604030504040204" pitchFamily="50" charset="-128"/>
                <a:ea typeface="メイリオ" panose="020B0604030504040204" pitchFamily="50" charset="-128"/>
                <a:cs typeface="メイリオ" panose="020B0604030504040204" pitchFamily="50" charset="-128"/>
              </a:rPr>
              <a:t>情報を提供し</a:t>
            </a:r>
            <a:endParaRPr lang="en-US" altLang="ja-JP" sz="2400" b="1"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400" b="1" dirty="0" smtClean="0">
                <a:latin typeface="メイリオ" panose="020B0604030504040204" pitchFamily="50" charset="-128"/>
                <a:ea typeface="メイリオ" panose="020B0604030504040204" pitchFamily="50" charset="-128"/>
                <a:cs typeface="メイリオ" panose="020B0604030504040204" pitchFamily="50" charset="-128"/>
              </a:rPr>
              <a:t>神戸の魅力</a:t>
            </a:r>
            <a:r>
              <a:rPr lang="ja-JP" altLang="en-US" sz="2400" b="1" dirty="0">
                <a:latin typeface="メイリオ" panose="020B0604030504040204" pitchFamily="50" charset="-128"/>
                <a:ea typeface="メイリオ" panose="020B0604030504040204" pitchFamily="50" charset="-128"/>
                <a:cs typeface="メイリオ" panose="020B0604030504040204" pitchFamily="50" charset="-128"/>
              </a:rPr>
              <a:t>を</a:t>
            </a:r>
            <a:r>
              <a:rPr lang="ja-JP" altLang="en-US" sz="2400" b="1" dirty="0" smtClean="0">
                <a:latin typeface="メイリオ" panose="020B0604030504040204" pitchFamily="50" charset="-128"/>
                <a:ea typeface="メイリオ" panose="020B0604030504040204" pitchFamily="50" charset="-128"/>
                <a:cs typeface="メイリオ" panose="020B0604030504040204" pitchFamily="50" charset="-128"/>
              </a:rPr>
              <a:t>伝える</a:t>
            </a:r>
            <a:endParaRPr kumimoji="1" lang="ja-JP" altLang="en-US" sz="24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7"/>
          <p:cNvSpPr/>
          <p:nvPr/>
        </p:nvSpPr>
        <p:spPr>
          <a:xfrm>
            <a:off x="4468355" y="2465283"/>
            <a:ext cx="2584393" cy="114886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様々な魅力があるが届いて欲しい</a:t>
            </a:r>
            <a:r>
              <a:rPr lang="ja-JP" altLang="en-US" sz="2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人</a:t>
            </a:r>
            <a:r>
              <a:rPr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に</a:t>
            </a:r>
            <a:endParaRPr lang="en-US" altLang="ja-JP"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届いていない</a:t>
            </a:r>
            <a:endParaRPr kumimoji="1" lang="ja-JP" altLang="en-US" sz="2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タイトル 1"/>
          <p:cNvSpPr txBox="1">
            <a:spLocks/>
          </p:cNvSpPr>
          <p:nvPr/>
        </p:nvSpPr>
        <p:spPr>
          <a:xfrm>
            <a:off x="1262297" y="1584251"/>
            <a:ext cx="1739060" cy="9486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lgn="ctr"/>
            <a:r>
              <a:rPr lang="ja-JP" altLang="en-US" sz="2400" dirty="0" smtClean="0"/>
              <a:t>課題</a:t>
            </a:r>
            <a:endParaRPr lang="ja-JP" altLang="en-US" sz="2400" dirty="0"/>
          </a:p>
        </p:txBody>
      </p:sp>
      <p:sp>
        <p:nvSpPr>
          <p:cNvPr id="15" name="タイトル 1"/>
          <p:cNvSpPr txBox="1">
            <a:spLocks/>
          </p:cNvSpPr>
          <p:nvPr/>
        </p:nvSpPr>
        <p:spPr>
          <a:xfrm>
            <a:off x="4861907" y="1584251"/>
            <a:ext cx="1739060" cy="9486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lgn="ctr"/>
            <a:r>
              <a:rPr lang="ja-JP" altLang="en-US" sz="2400" dirty="0" smtClean="0"/>
              <a:t>課題の</a:t>
            </a:r>
            <a:endParaRPr lang="en-US" altLang="ja-JP" sz="2400" dirty="0" smtClean="0"/>
          </a:p>
          <a:p>
            <a:pPr algn="ctr"/>
            <a:r>
              <a:rPr lang="ja-JP" altLang="en-US" sz="2400" dirty="0" smtClean="0"/>
              <a:t>分析・裏付</a:t>
            </a:r>
            <a:endParaRPr lang="ja-JP" altLang="en-US" sz="2400" dirty="0"/>
          </a:p>
        </p:txBody>
      </p:sp>
      <p:sp>
        <p:nvSpPr>
          <p:cNvPr id="16" name="タイトル 1"/>
          <p:cNvSpPr txBox="1">
            <a:spLocks/>
          </p:cNvSpPr>
          <p:nvPr/>
        </p:nvSpPr>
        <p:spPr>
          <a:xfrm>
            <a:off x="8825023" y="1584251"/>
            <a:ext cx="2159506" cy="9486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lgn="ctr"/>
            <a:r>
              <a:rPr lang="ja-JP" altLang="en-US" sz="2400" dirty="0" smtClean="0"/>
              <a:t>やりたいこと</a:t>
            </a:r>
            <a:endParaRPr lang="ja-JP" altLang="en-US" sz="2400" dirty="0"/>
          </a:p>
        </p:txBody>
      </p:sp>
      <p:sp>
        <p:nvSpPr>
          <p:cNvPr id="17" name="正方形/長方形 16"/>
          <p:cNvSpPr/>
          <p:nvPr/>
        </p:nvSpPr>
        <p:spPr>
          <a:xfrm>
            <a:off x="993106" y="3792921"/>
            <a:ext cx="2277442" cy="114886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神戸の良さが</a:t>
            </a:r>
            <a:endParaRPr kumimoji="1" lang="en-US" altLang="ja-JP"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伝わって</a:t>
            </a:r>
            <a:r>
              <a:rPr lang="ja-JP" altLang="en-US" sz="2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いない</a:t>
            </a:r>
            <a:endParaRPr kumimoji="1" lang="ja-JP" altLang="en-US" sz="2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3240678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角丸四角形 14"/>
          <p:cNvSpPr/>
          <p:nvPr/>
        </p:nvSpPr>
        <p:spPr>
          <a:xfrm>
            <a:off x="7029893" y="2280062"/>
            <a:ext cx="2626242" cy="4010867"/>
          </a:xfrm>
          <a:prstGeom prst="roundRect">
            <a:avLst/>
          </a:prstGeom>
          <a:solidFill>
            <a:srgbClr val="FFFFFF">
              <a:alpha val="69804"/>
            </a:srgbClr>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2" name="グループ化 41"/>
          <p:cNvGrpSpPr/>
          <p:nvPr/>
        </p:nvGrpSpPr>
        <p:grpSpPr>
          <a:xfrm>
            <a:off x="7741869" y="5191950"/>
            <a:ext cx="1019931" cy="593298"/>
            <a:chOff x="5545725" y="5216724"/>
            <a:chExt cx="1019931" cy="593298"/>
          </a:xfrm>
        </p:grpSpPr>
        <p:sp>
          <p:nvSpPr>
            <p:cNvPr id="35" name="フリーフォーム 34"/>
            <p:cNvSpPr/>
            <p:nvPr/>
          </p:nvSpPr>
          <p:spPr>
            <a:xfrm rot="16200000">
              <a:off x="6130649" y="5375015"/>
              <a:ext cx="491302" cy="378712"/>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6" name="グループ化 35"/>
            <p:cNvGrpSpPr/>
            <p:nvPr/>
          </p:nvGrpSpPr>
          <p:grpSpPr>
            <a:xfrm flipH="1">
              <a:off x="5545725" y="5318719"/>
              <a:ext cx="433282" cy="491302"/>
              <a:chOff x="9124425" y="4992726"/>
              <a:chExt cx="1262223" cy="1431245"/>
            </a:xfrm>
            <a:solidFill>
              <a:srgbClr val="E57F7F"/>
            </a:solidFill>
          </p:grpSpPr>
          <p:sp>
            <p:nvSpPr>
              <p:cNvPr id="37" name="フリーフォーム 36"/>
              <p:cNvSpPr/>
              <p:nvPr/>
            </p:nvSpPr>
            <p:spPr>
              <a:xfrm rot="16200000">
                <a:off x="9119400" y="5156724"/>
                <a:ext cx="1431245" cy="1103250"/>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フローチャート: 端子 32"/>
              <p:cNvSpPr/>
              <p:nvPr/>
            </p:nvSpPr>
            <p:spPr>
              <a:xfrm rot="3041615">
                <a:off x="8888542" y="5638413"/>
                <a:ext cx="789710" cy="317943"/>
              </a:xfrm>
              <a:prstGeom prst="flowChartTerminator">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9" name="二等辺三角形 38"/>
            <p:cNvSpPr/>
            <p:nvPr/>
          </p:nvSpPr>
          <p:spPr>
            <a:xfrm rot="12000000">
              <a:off x="5937295" y="5216724"/>
              <a:ext cx="45719" cy="123476"/>
            </a:xfrm>
            <a:prstGeom prst="triangle">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二等辺三角形 39"/>
            <p:cNvSpPr/>
            <p:nvPr/>
          </p:nvSpPr>
          <p:spPr>
            <a:xfrm rot="14100000">
              <a:off x="6040458" y="5270861"/>
              <a:ext cx="45719" cy="123476"/>
            </a:xfrm>
            <a:prstGeom prst="triangle">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二等辺三角形 40"/>
            <p:cNvSpPr/>
            <p:nvPr/>
          </p:nvSpPr>
          <p:spPr>
            <a:xfrm rot="15600000">
              <a:off x="6075251" y="5399696"/>
              <a:ext cx="45719" cy="123476"/>
            </a:xfrm>
            <a:prstGeom prst="triangle">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角丸四角形 11"/>
          <p:cNvSpPr/>
          <p:nvPr/>
        </p:nvSpPr>
        <p:spPr>
          <a:xfrm>
            <a:off x="2050311" y="2274161"/>
            <a:ext cx="2626242" cy="4010867"/>
          </a:xfrm>
          <a:prstGeom prst="roundRect">
            <a:avLst/>
          </a:prstGeom>
          <a:solidFill>
            <a:srgbClr val="FFFFFF">
              <a:alpha val="69804"/>
            </a:srgbClr>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p:txBody>
          <a:bodyPr/>
          <a:lstStyle/>
          <a:p>
            <a:r>
              <a:rPr kumimoji="1" lang="ja-JP" altLang="en-US" dirty="0" smtClean="0"/>
              <a:t>課題の分析</a:t>
            </a:r>
            <a:endParaRPr kumimoji="1" lang="ja-JP" altLang="en-US" dirty="0"/>
          </a:p>
        </p:txBody>
      </p:sp>
      <p:sp>
        <p:nvSpPr>
          <p:cNvPr id="3" name="コンテンツ プレースホルダー 2"/>
          <p:cNvSpPr>
            <a:spLocks noGrp="1"/>
          </p:cNvSpPr>
          <p:nvPr>
            <p:ph idx="1"/>
          </p:nvPr>
        </p:nvSpPr>
        <p:spPr>
          <a:xfrm>
            <a:off x="1674421" y="1423933"/>
            <a:ext cx="8795658" cy="477912"/>
          </a:xfrm>
        </p:spPr>
        <p:txBody>
          <a:bodyPr>
            <a:noAutofit/>
          </a:bodyPr>
          <a:lstStyle/>
          <a:p>
            <a:pPr marL="0" indent="0">
              <a:buNone/>
            </a:pPr>
            <a:r>
              <a:rPr lang="ja-JP" altLang="en-US" dirty="0" smtClean="0"/>
              <a:t>・様々な良さがあるが発信している人から</a:t>
            </a:r>
            <a:r>
              <a:rPr lang="ja-JP" altLang="en-US" b="1" dirty="0" smtClean="0">
                <a:solidFill>
                  <a:srgbClr val="DA4A4A"/>
                </a:solidFill>
              </a:rPr>
              <a:t>情報が届いていない</a:t>
            </a:r>
            <a:r>
              <a:rPr lang="ja-JP" altLang="en-US" dirty="0" smtClean="0"/>
              <a:t>可能性。</a:t>
            </a:r>
          </a:p>
        </p:txBody>
      </p:sp>
      <p:sp>
        <p:nvSpPr>
          <p:cNvPr id="8" name="タイトル 1"/>
          <p:cNvSpPr txBox="1">
            <a:spLocks/>
          </p:cNvSpPr>
          <p:nvPr/>
        </p:nvSpPr>
        <p:spPr>
          <a:xfrm>
            <a:off x="7529692" y="5279861"/>
            <a:ext cx="1555828" cy="8612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lgn="ctr"/>
            <a:r>
              <a:rPr lang="ja-JP" altLang="en-US" sz="1800" dirty="0" smtClean="0">
                <a:effectLst>
                  <a:glow rad="114300">
                    <a:schemeClr val="bg1">
                      <a:alpha val="60000"/>
                    </a:schemeClr>
                  </a:glow>
                </a:effectLst>
              </a:rPr>
              <a:t>ブレイン</a:t>
            </a:r>
            <a:endParaRPr lang="en-US" altLang="ja-JP" sz="1800" dirty="0" smtClean="0">
              <a:effectLst>
                <a:glow rad="114300">
                  <a:schemeClr val="bg1">
                    <a:alpha val="60000"/>
                  </a:schemeClr>
                </a:glow>
              </a:effectLst>
            </a:endParaRPr>
          </a:p>
          <a:p>
            <a:pPr algn="ctr"/>
            <a:r>
              <a:rPr lang="ja-JP" altLang="en-US" sz="1800" dirty="0" smtClean="0">
                <a:effectLst>
                  <a:glow rad="114300">
                    <a:schemeClr val="bg1">
                      <a:alpha val="60000"/>
                    </a:schemeClr>
                  </a:glow>
                </a:effectLst>
              </a:rPr>
              <a:t>ストーミング</a:t>
            </a:r>
            <a:endParaRPr lang="ja-JP" altLang="en-US" sz="1800" dirty="0">
              <a:effectLst>
                <a:glow rad="114300">
                  <a:schemeClr val="bg1">
                    <a:alpha val="60000"/>
                  </a:schemeClr>
                </a:glow>
              </a:effectLst>
            </a:endParaRPr>
          </a:p>
        </p:txBody>
      </p:sp>
      <p:sp>
        <p:nvSpPr>
          <p:cNvPr id="9" name="タイトル 1"/>
          <p:cNvSpPr txBox="1">
            <a:spLocks/>
          </p:cNvSpPr>
          <p:nvPr/>
        </p:nvSpPr>
        <p:spPr>
          <a:xfrm>
            <a:off x="7790120" y="3859034"/>
            <a:ext cx="2590800" cy="21654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endParaRPr lang="ja-JP" altLang="en-US" sz="2400" dirty="0"/>
          </a:p>
        </p:txBody>
      </p:sp>
      <p:sp>
        <p:nvSpPr>
          <p:cNvPr id="10" name="タイトル 1"/>
          <p:cNvSpPr txBox="1">
            <a:spLocks/>
          </p:cNvSpPr>
          <p:nvPr/>
        </p:nvSpPr>
        <p:spPr>
          <a:xfrm>
            <a:off x="2273596" y="3260658"/>
            <a:ext cx="2200938" cy="1681125"/>
          </a:xfrm>
          <a:prstGeom prst="rect">
            <a:avLst/>
          </a:prstGeom>
          <a:solidFill>
            <a:schemeClr val="accent6">
              <a:lumMod val="20000"/>
              <a:lumOff val="80000"/>
            </a:schemeClr>
          </a:solid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r>
              <a:rPr lang="ja-JP" altLang="en-US" sz="2400" dirty="0"/>
              <a:t>神戸市のイメージは港、異国</a:t>
            </a:r>
            <a:r>
              <a:rPr lang="ja-JP" altLang="en-US" sz="2400" dirty="0" smtClean="0"/>
              <a:t>情緒、オシャレ</a:t>
            </a:r>
            <a:r>
              <a:rPr lang="ja-JP" altLang="en-US" sz="2400" dirty="0"/>
              <a:t>な</a:t>
            </a:r>
            <a:r>
              <a:rPr lang="ja-JP" altLang="en-US" sz="2400" dirty="0" smtClean="0"/>
              <a:t>ファッション</a:t>
            </a:r>
            <a:r>
              <a:rPr lang="en-US" altLang="ja-JP" sz="1300" dirty="0" smtClean="0"/>
              <a:t>(※1)</a:t>
            </a:r>
            <a:endParaRPr lang="ja-JP" altLang="en-US" sz="2400" dirty="0"/>
          </a:p>
        </p:txBody>
      </p:sp>
      <p:sp>
        <p:nvSpPr>
          <p:cNvPr id="13" name="タイトル 1"/>
          <p:cNvSpPr txBox="1">
            <a:spLocks/>
          </p:cNvSpPr>
          <p:nvPr/>
        </p:nvSpPr>
        <p:spPr>
          <a:xfrm>
            <a:off x="2252330" y="2345610"/>
            <a:ext cx="2222204" cy="9486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lgn="ctr"/>
            <a:r>
              <a:rPr lang="ja-JP" altLang="en-US" sz="2400" dirty="0" smtClean="0"/>
              <a:t>一般的な認識</a:t>
            </a:r>
            <a:endParaRPr lang="ja-JP" altLang="en-US" sz="2400" dirty="0"/>
          </a:p>
        </p:txBody>
      </p:sp>
      <p:sp>
        <p:nvSpPr>
          <p:cNvPr id="18" name="タイトル 1"/>
          <p:cNvSpPr txBox="1">
            <a:spLocks/>
          </p:cNvSpPr>
          <p:nvPr/>
        </p:nvSpPr>
        <p:spPr>
          <a:xfrm>
            <a:off x="7231912" y="2351511"/>
            <a:ext cx="2222204" cy="9486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lgn="ctr"/>
            <a:r>
              <a:rPr lang="ja-JP" altLang="en-US" sz="2400" dirty="0" smtClean="0"/>
              <a:t>神戸を知っている人の認識</a:t>
            </a:r>
            <a:endParaRPr lang="ja-JP" altLang="en-US" sz="2400" dirty="0"/>
          </a:p>
        </p:txBody>
      </p:sp>
      <p:sp>
        <p:nvSpPr>
          <p:cNvPr id="11" name="タイトル 1"/>
          <p:cNvSpPr txBox="1">
            <a:spLocks/>
          </p:cNvSpPr>
          <p:nvPr/>
        </p:nvSpPr>
        <p:spPr>
          <a:xfrm>
            <a:off x="7231912" y="3260658"/>
            <a:ext cx="2268000" cy="1958457"/>
          </a:xfrm>
          <a:prstGeom prst="rect">
            <a:avLst/>
          </a:prstGeom>
          <a:solidFill>
            <a:schemeClr val="accent6">
              <a:lumMod val="20000"/>
              <a:lumOff val="80000"/>
            </a:schemeClr>
          </a:solidFill>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lnSpc>
                <a:spcPct val="120000"/>
              </a:lnSpc>
            </a:pPr>
            <a:r>
              <a:rPr lang="ja-JP" altLang="en-US" sz="2000" dirty="0"/>
              <a:t>ぼっ</a:t>
            </a:r>
            <a:r>
              <a:rPr lang="ja-JP" altLang="en-US" sz="2000" dirty="0" smtClean="0"/>
              <a:t>かけ　ホルモン</a:t>
            </a:r>
            <a:r>
              <a:rPr lang="ja-JP" altLang="en-US" sz="2000" dirty="0"/>
              <a:t>　</a:t>
            </a:r>
            <a:r>
              <a:rPr lang="ja-JP" altLang="en-US" sz="2000" dirty="0" smtClean="0"/>
              <a:t>ラーメン等　</a:t>
            </a:r>
            <a:r>
              <a:rPr lang="en-US" altLang="ja-JP" dirty="0" smtClean="0"/>
              <a:t>B</a:t>
            </a:r>
            <a:r>
              <a:rPr lang="ja-JP" altLang="en-US" dirty="0"/>
              <a:t>級グルメ</a:t>
            </a:r>
            <a:r>
              <a:rPr lang="ja-JP" altLang="en-US" sz="2400" dirty="0"/>
              <a:t>、攻殻</a:t>
            </a:r>
            <a:r>
              <a:rPr lang="ja-JP" altLang="en-US" sz="2400" dirty="0" smtClean="0"/>
              <a:t>機動隊　鉄人</a:t>
            </a:r>
            <a:r>
              <a:rPr lang="en-US" altLang="ja-JP" sz="2400" dirty="0"/>
              <a:t>28</a:t>
            </a:r>
            <a:r>
              <a:rPr lang="ja-JP" altLang="en-US" sz="2400" dirty="0"/>
              <a:t>号</a:t>
            </a:r>
            <a:r>
              <a:rPr lang="ja-JP" altLang="en-US" sz="2400" dirty="0" smtClean="0"/>
              <a:t>等　</a:t>
            </a:r>
            <a:r>
              <a:rPr lang="ja-JP" altLang="en-US" dirty="0" smtClean="0"/>
              <a:t>メディア</a:t>
            </a:r>
            <a:r>
              <a:rPr lang="ja-JP" altLang="en-US" sz="2400" dirty="0"/>
              <a:t>、</a:t>
            </a:r>
            <a:r>
              <a:rPr lang="ja-JP" altLang="en-US" sz="2400" dirty="0" smtClean="0"/>
              <a:t>サンバ　ジャズストリート等</a:t>
            </a:r>
            <a:r>
              <a:rPr lang="ja-JP" altLang="en-US" sz="2400" dirty="0"/>
              <a:t>　</a:t>
            </a:r>
            <a:endParaRPr lang="en-US" altLang="ja-JP" sz="2400" dirty="0" smtClean="0"/>
          </a:p>
          <a:p>
            <a:pPr>
              <a:lnSpc>
                <a:spcPct val="120000"/>
              </a:lnSpc>
            </a:pPr>
            <a:r>
              <a:rPr lang="ja-JP" altLang="en-US" dirty="0" smtClean="0"/>
              <a:t>文化</a:t>
            </a:r>
            <a:endParaRPr lang="en-US" altLang="ja-JP" sz="2400" dirty="0" smtClean="0"/>
          </a:p>
        </p:txBody>
      </p:sp>
      <p:sp>
        <p:nvSpPr>
          <p:cNvPr id="19" name="角丸四角形吹き出し 18"/>
          <p:cNvSpPr/>
          <p:nvPr/>
        </p:nvSpPr>
        <p:spPr>
          <a:xfrm>
            <a:off x="10058399" y="3586348"/>
            <a:ext cx="1605517" cy="2151989"/>
          </a:xfrm>
          <a:prstGeom prst="wedgeRoundRectCallout">
            <a:avLst>
              <a:gd name="adj1" fmla="val -89326"/>
              <a:gd name="adj2" fmla="val -26229"/>
              <a:gd name="adj3" fmla="val 16667"/>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勉強会でも神戸市としても地元</a:t>
            </a:r>
            <a:r>
              <a:rPr lang="ja-JP" altLang="en-US"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の細かな情報までは感知できていない</a:t>
            </a:r>
            <a:r>
              <a:rPr lang="ja-JP" altLang="en-US" dirty="0" smtClean="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と聞いた</a:t>
            </a:r>
            <a:endParaRPr lang="ja-JP" altLang="en-US"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0" name="左右矢印 19"/>
          <p:cNvSpPr/>
          <p:nvPr/>
        </p:nvSpPr>
        <p:spPr>
          <a:xfrm>
            <a:off x="4995531" y="3871912"/>
            <a:ext cx="1594883" cy="666308"/>
          </a:xfrm>
          <a:prstGeom prst="leftRightArrow">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タイトル 1"/>
          <p:cNvSpPr txBox="1">
            <a:spLocks/>
          </p:cNvSpPr>
          <p:nvPr/>
        </p:nvSpPr>
        <p:spPr>
          <a:xfrm>
            <a:off x="4926418" y="3308506"/>
            <a:ext cx="1733107" cy="8612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lgn="ctr"/>
            <a:r>
              <a:rPr lang="ja-JP" altLang="en-US" sz="2400" dirty="0"/>
              <a:t>差</a:t>
            </a:r>
            <a:r>
              <a:rPr lang="ja-JP" altLang="en-US" sz="2400" dirty="0" smtClean="0"/>
              <a:t>がある</a:t>
            </a:r>
            <a:endParaRPr lang="ja-JP" altLang="en-US" sz="2400" dirty="0"/>
          </a:p>
        </p:txBody>
      </p:sp>
      <p:sp>
        <p:nvSpPr>
          <p:cNvPr id="4" name="メモ 3"/>
          <p:cNvSpPr/>
          <p:nvPr/>
        </p:nvSpPr>
        <p:spPr>
          <a:xfrm>
            <a:off x="2707574" y="5078827"/>
            <a:ext cx="1330036" cy="945706"/>
          </a:xfrm>
          <a:prstGeom prst="foldedCorner">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8" name="グループ化 27"/>
          <p:cNvGrpSpPr/>
          <p:nvPr/>
        </p:nvGrpSpPr>
        <p:grpSpPr>
          <a:xfrm rot="2716504">
            <a:off x="3954281" y="5179419"/>
            <a:ext cx="142909" cy="655483"/>
            <a:chOff x="950026" y="4000686"/>
            <a:chExt cx="285008" cy="653109"/>
          </a:xfrm>
          <a:solidFill>
            <a:srgbClr val="E57F7F"/>
          </a:solidFill>
        </p:grpSpPr>
        <p:sp>
          <p:nvSpPr>
            <p:cNvPr id="27" name="二等辺三角形 26"/>
            <p:cNvSpPr/>
            <p:nvPr/>
          </p:nvSpPr>
          <p:spPr>
            <a:xfrm rot="10800000">
              <a:off x="950026" y="4504201"/>
              <a:ext cx="285008" cy="149594"/>
            </a:xfrm>
            <a:prstGeom prst="triangle">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柱 24"/>
            <p:cNvSpPr/>
            <p:nvPr/>
          </p:nvSpPr>
          <p:spPr>
            <a:xfrm>
              <a:off x="950026" y="4000686"/>
              <a:ext cx="285008" cy="537534"/>
            </a:xfrm>
            <a:prstGeom prst="can">
              <a:avLst/>
            </a:pr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9" name="タイトル 1"/>
          <p:cNvSpPr txBox="1">
            <a:spLocks/>
          </p:cNvSpPr>
          <p:nvPr/>
        </p:nvSpPr>
        <p:spPr>
          <a:xfrm>
            <a:off x="2707574" y="5078827"/>
            <a:ext cx="1330035" cy="8612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pPr algn="ctr"/>
            <a:r>
              <a:rPr lang="ja-JP" altLang="en-US" sz="1800" dirty="0" smtClean="0"/>
              <a:t>アンケート</a:t>
            </a:r>
            <a:endParaRPr lang="en-US" altLang="ja-JP" sz="1800" dirty="0" smtClean="0"/>
          </a:p>
          <a:p>
            <a:pPr algn="ctr"/>
            <a:r>
              <a:rPr lang="ja-JP" altLang="en-US" sz="1800" dirty="0" smtClean="0"/>
              <a:t>結果</a:t>
            </a:r>
            <a:endParaRPr lang="ja-JP" altLang="en-US" sz="1800" dirty="0"/>
          </a:p>
        </p:txBody>
      </p:sp>
      <p:sp>
        <p:nvSpPr>
          <p:cNvPr id="30" name="正方形/長方形 29"/>
          <p:cNvSpPr/>
          <p:nvPr/>
        </p:nvSpPr>
        <p:spPr>
          <a:xfrm>
            <a:off x="102331" y="6352356"/>
            <a:ext cx="7835799" cy="430887"/>
          </a:xfrm>
          <a:prstGeom prst="rect">
            <a:avLst/>
          </a:prstGeom>
        </p:spPr>
        <p:txBody>
          <a:bodyPr wrap="none">
            <a:spAutoFit/>
          </a:bodyPr>
          <a:lstStyle/>
          <a:p>
            <a:pPr marL="263525" indent="-263525"/>
            <a:r>
              <a:rPr lang="en-US" altLang="ja-JP" sz="1100" dirty="0" smtClean="0"/>
              <a:t>※1:</a:t>
            </a:r>
            <a:r>
              <a:rPr lang="ja-JP" altLang="en-US" sz="1100" dirty="0"/>
              <a:t>神戸のイメージ調査結果について </a:t>
            </a:r>
            <a:r>
              <a:rPr lang="en-US" altLang="ja-JP" sz="1100" dirty="0"/>
              <a:t>- </a:t>
            </a:r>
            <a:r>
              <a:rPr lang="en-US" altLang="ja-JP" sz="1100" dirty="0" smtClean="0">
                <a:hlinkClick r:id="rId2"/>
              </a:rPr>
              <a:t>http</a:t>
            </a:r>
            <a:r>
              <a:rPr lang="en-US" altLang="ja-JP" sz="1100" dirty="0">
                <a:hlinkClick r:id="rId2"/>
              </a:rPr>
              <a:t>://</a:t>
            </a:r>
            <a:r>
              <a:rPr lang="en-US" altLang="ja-JP" sz="1100" dirty="0" smtClean="0">
                <a:hlinkClick r:id="rId2"/>
              </a:rPr>
              <a:t>www.city.kobe.lg.jp/information/data/statistics/sightseeing/data/</a:t>
            </a:r>
            <a:r>
              <a:rPr lang="en-US" altLang="ja-JP" sz="1100" dirty="0" err="1" smtClean="0">
                <a:hlinkClick r:id="rId2"/>
              </a:rPr>
              <a:t>img</a:t>
            </a:r>
            <a:r>
              <a:rPr lang="en-US" altLang="ja-JP" sz="1100" dirty="0" smtClean="0">
                <a:hlinkClick r:id="rId2"/>
              </a:rPr>
              <a:t>/image1501.pdf</a:t>
            </a:r>
            <a:r>
              <a:rPr lang="en-US" altLang="ja-JP" sz="1100" dirty="0"/>
              <a:t/>
            </a:r>
            <a:br>
              <a:rPr lang="en-US" altLang="ja-JP" sz="1100" dirty="0"/>
            </a:br>
            <a:r>
              <a:rPr lang="ja-JP" altLang="en-US" sz="1100" dirty="0" smtClean="0"/>
              <a:t>「</a:t>
            </a:r>
            <a:r>
              <a:rPr lang="en-US" altLang="ja-JP" sz="1100" dirty="0"/>
              <a:t>(3)</a:t>
            </a:r>
            <a:r>
              <a:rPr lang="ja-JP" altLang="en-US" sz="1100" dirty="0"/>
              <a:t>神戸のイメージ」を参照。</a:t>
            </a:r>
          </a:p>
        </p:txBody>
      </p:sp>
    </p:spTree>
    <p:extLst>
      <p:ext uri="{BB962C8B-B14F-4D97-AF65-F5344CB8AC3E}">
        <p14:creationId xmlns:p14="http://schemas.microsoft.com/office/powerpoint/2010/main" val="10762393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課題の分析</a:t>
            </a:r>
            <a:endParaRPr kumimoji="1" lang="ja-JP" altLang="en-US" dirty="0"/>
          </a:p>
        </p:txBody>
      </p:sp>
      <p:sp>
        <p:nvSpPr>
          <p:cNvPr id="3" name="コンテンツ プレースホルダー 2"/>
          <p:cNvSpPr>
            <a:spLocks noGrp="1"/>
          </p:cNvSpPr>
          <p:nvPr>
            <p:ph idx="1"/>
          </p:nvPr>
        </p:nvSpPr>
        <p:spPr>
          <a:xfrm>
            <a:off x="1676400" y="1424354"/>
            <a:ext cx="9859108" cy="867386"/>
          </a:xfrm>
        </p:spPr>
        <p:txBody>
          <a:bodyPr>
            <a:normAutofit/>
          </a:bodyPr>
          <a:lstStyle/>
          <a:p>
            <a:pPr marL="0" indent="0">
              <a:buNone/>
            </a:pPr>
            <a:r>
              <a:rPr lang="ja-JP" altLang="en-US" dirty="0" smtClean="0"/>
              <a:t>・北野、神戸港、有馬は</a:t>
            </a:r>
            <a:r>
              <a:rPr lang="ja-JP" altLang="en-US" b="1" dirty="0" smtClean="0">
                <a:solidFill>
                  <a:srgbClr val="DA4A4A"/>
                </a:solidFill>
              </a:rPr>
              <a:t>遠方からの宿泊客の割合が高いが、リピート率が低い</a:t>
            </a:r>
            <a:r>
              <a:rPr lang="ja-JP" altLang="en-US" dirty="0" smtClean="0"/>
              <a:t>可能性</a:t>
            </a:r>
            <a:r>
              <a:rPr lang="en-US" altLang="ja-JP" sz="1200" dirty="0" smtClean="0"/>
              <a:t>(※2)</a:t>
            </a:r>
            <a:r>
              <a:rPr lang="ja-JP" altLang="en-US" dirty="0" err="1" smtClean="0"/>
              <a:t>。</a:t>
            </a:r>
            <a:endParaRPr lang="en-US" altLang="ja-JP" dirty="0" smtClean="0"/>
          </a:p>
        </p:txBody>
      </p:sp>
      <p:graphicFrame>
        <p:nvGraphicFramePr>
          <p:cNvPr id="5" name="グラフ 4"/>
          <p:cNvGraphicFramePr>
            <a:graphicFrameLocks/>
          </p:cNvGraphicFramePr>
          <p:nvPr>
            <p:extLst>
              <p:ext uri="{D42A27DB-BD31-4B8C-83A1-F6EECF244321}">
                <p14:modId xmlns:p14="http://schemas.microsoft.com/office/powerpoint/2010/main" val="1710960827"/>
              </p:ext>
            </p:extLst>
          </p:nvPr>
        </p:nvGraphicFramePr>
        <p:xfrm>
          <a:off x="2980591" y="2291740"/>
          <a:ext cx="6793523" cy="4076114"/>
        </p:xfrm>
        <a:graphic>
          <a:graphicData uri="http://schemas.openxmlformats.org/drawingml/2006/chart">
            <c:chart xmlns:c="http://schemas.openxmlformats.org/drawingml/2006/chart" xmlns:r="http://schemas.openxmlformats.org/officeDocument/2006/relationships" r:id="rId2"/>
          </a:graphicData>
        </a:graphic>
      </p:graphicFrame>
      <p:sp>
        <p:nvSpPr>
          <p:cNvPr id="6" name="正方形/長方形 5"/>
          <p:cNvSpPr/>
          <p:nvPr/>
        </p:nvSpPr>
        <p:spPr>
          <a:xfrm>
            <a:off x="4255478" y="2291740"/>
            <a:ext cx="703384" cy="3792537"/>
          </a:xfrm>
          <a:prstGeom prst="rect">
            <a:avLst/>
          </a:prstGeom>
          <a:solidFill>
            <a:srgbClr val="DD5555">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p:cNvSpPr/>
          <p:nvPr/>
        </p:nvSpPr>
        <p:spPr>
          <a:xfrm>
            <a:off x="5744308" y="2291739"/>
            <a:ext cx="703384" cy="3792537"/>
          </a:xfrm>
          <a:prstGeom prst="rect">
            <a:avLst/>
          </a:prstGeom>
          <a:solidFill>
            <a:srgbClr val="DD5555">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7285892" y="2291739"/>
            <a:ext cx="703384" cy="3792537"/>
          </a:xfrm>
          <a:prstGeom prst="rect">
            <a:avLst/>
          </a:prstGeom>
          <a:solidFill>
            <a:srgbClr val="DD5555">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p:cNvSpPr/>
          <p:nvPr/>
        </p:nvSpPr>
        <p:spPr>
          <a:xfrm>
            <a:off x="102328" y="6352356"/>
            <a:ext cx="8709436" cy="430887"/>
          </a:xfrm>
          <a:prstGeom prst="rect">
            <a:avLst/>
          </a:prstGeom>
        </p:spPr>
        <p:txBody>
          <a:bodyPr wrap="none">
            <a:spAutoFit/>
          </a:bodyPr>
          <a:lstStyle/>
          <a:p>
            <a:pPr marL="263525" indent="-263525"/>
            <a:r>
              <a:rPr lang="en-US" altLang="ja-JP" sz="1100" dirty="0" smtClean="0"/>
              <a:t>※2:</a:t>
            </a:r>
            <a:r>
              <a:rPr lang="ja-JP" altLang="en-US" sz="1100" dirty="0"/>
              <a:t>平成</a:t>
            </a:r>
            <a:r>
              <a:rPr lang="en-US" altLang="ja-JP" sz="1100" dirty="0"/>
              <a:t>24</a:t>
            </a:r>
            <a:r>
              <a:rPr lang="ja-JP" altLang="en-US" sz="1100" dirty="0"/>
              <a:t>年度神戸市観光動向調査結果について </a:t>
            </a:r>
            <a:r>
              <a:rPr lang="en-US" altLang="ja-JP" sz="1100" dirty="0"/>
              <a:t>- </a:t>
            </a:r>
            <a:r>
              <a:rPr lang="en-US" altLang="ja-JP" sz="1100" dirty="0" smtClean="0">
                <a:hlinkClick r:id="rId3"/>
              </a:rPr>
              <a:t>http</a:t>
            </a:r>
            <a:r>
              <a:rPr lang="en-US" altLang="ja-JP" sz="1100" dirty="0">
                <a:hlinkClick r:id="rId3"/>
              </a:rPr>
              <a:t>://</a:t>
            </a:r>
            <a:r>
              <a:rPr lang="en-US" altLang="ja-JP" sz="1100" dirty="0" smtClean="0">
                <a:hlinkClick r:id="rId3"/>
              </a:rPr>
              <a:t>www.city.kobe.lg.jp/information/data/statistics/sightseeing/data/</a:t>
            </a:r>
            <a:r>
              <a:rPr lang="en-US" altLang="ja-JP" sz="1100" dirty="0" err="1" smtClean="0">
                <a:hlinkClick r:id="rId3"/>
              </a:rPr>
              <a:t>img</a:t>
            </a:r>
            <a:r>
              <a:rPr lang="en-US" altLang="ja-JP" sz="1100" dirty="0" smtClean="0">
                <a:hlinkClick r:id="rId3"/>
              </a:rPr>
              <a:t>/doukou24.pdf</a:t>
            </a:r>
            <a:r>
              <a:rPr lang="en-US" altLang="ja-JP" sz="1100" dirty="0" smtClean="0"/>
              <a:t/>
            </a:r>
            <a:br>
              <a:rPr lang="en-US" altLang="ja-JP" sz="1100" dirty="0" smtClean="0"/>
            </a:br>
            <a:r>
              <a:rPr lang="ja-JP" altLang="en-US" sz="1100" dirty="0" smtClean="0"/>
              <a:t>「</a:t>
            </a:r>
            <a:r>
              <a:rPr lang="en-US" altLang="ja-JP" sz="1100" dirty="0" smtClean="0"/>
              <a:t>(3)</a:t>
            </a:r>
            <a:r>
              <a:rPr lang="ja-JP" altLang="en-US" sz="1100" dirty="0" smtClean="0"/>
              <a:t>居住地、</a:t>
            </a:r>
            <a:r>
              <a:rPr lang="en-US" altLang="ja-JP" sz="1100" dirty="0" smtClean="0"/>
              <a:t>(9)</a:t>
            </a:r>
            <a:r>
              <a:rPr lang="ja-JP" altLang="en-US" sz="1100" dirty="0" smtClean="0"/>
              <a:t>旅行</a:t>
            </a:r>
            <a:r>
              <a:rPr lang="ja-JP" altLang="en-US" sz="1100" dirty="0"/>
              <a:t>の日程および宿泊地</a:t>
            </a:r>
            <a:r>
              <a:rPr lang="ja-JP" altLang="en-US" sz="1100" dirty="0" smtClean="0"/>
              <a:t>、</a:t>
            </a:r>
            <a:r>
              <a:rPr lang="en-US" altLang="ja-JP" sz="1100" dirty="0" smtClean="0"/>
              <a:t>(12)</a:t>
            </a:r>
            <a:r>
              <a:rPr lang="ja-JP" altLang="en-US" sz="1100" dirty="0" smtClean="0"/>
              <a:t>来</a:t>
            </a:r>
            <a:r>
              <a:rPr lang="ja-JP" altLang="en-US" sz="1100" dirty="0"/>
              <a:t>神回数</a:t>
            </a:r>
            <a:r>
              <a:rPr lang="ja-JP" altLang="en-US" sz="1100" dirty="0" smtClean="0"/>
              <a:t>、</a:t>
            </a:r>
            <a:r>
              <a:rPr lang="en-US" altLang="ja-JP" sz="1100" dirty="0" smtClean="0"/>
              <a:t>(13)</a:t>
            </a:r>
            <a:r>
              <a:rPr lang="ja-JP" altLang="en-US" sz="1100" dirty="0" smtClean="0"/>
              <a:t>再来訪</a:t>
            </a:r>
            <a:r>
              <a:rPr lang="ja-JP" altLang="en-US" sz="1100" dirty="0"/>
              <a:t>意向</a:t>
            </a:r>
            <a:r>
              <a:rPr lang="ja-JP" altLang="en-US" sz="1100" dirty="0" smtClean="0"/>
              <a:t>、</a:t>
            </a:r>
            <a:r>
              <a:rPr lang="en-US" altLang="ja-JP" sz="1100" dirty="0" smtClean="0"/>
              <a:t>(14)</a:t>
            </a:r>
            <a:r>
              <a:rPr lang="ja-JP" altLang="en-US" sz="1100" dirty="0" smtClean="0"/>
              <a:t>満足度</a:t>
            </a:r>
            <a:r>
              <a:rPr lang="ja-JP" altLang="en-US" sz="1100" dirty="0"/>
              <a:t>」を参照</a:t>
            </a:r>
            <a:r>
              <a:rPr lang="ja-JP" altLang="en-US" sz="1100" dirty="0" smtClean="0"/>
              <a:t>。</a:t>
            </a:r>
            <a:endParaRPr lang="ja-JP" altLang="en-US" sz="1100" dirty="0"/>
          </a:p>
        </p:txBody>
      </p:sp>
    </p:spTree>
    <p:extLst>
      <p:ext uri="{BB962C8B-B14F-4D97-AF65-F5344CB8AC3E}">
        <p14:creationId xmlns:p14="http://schemas.microsoft.com/office/powerpoint/2010/main" val="2958256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企画の方針と狙い</a:t>
            </a:r>
            <a:endParaRPr kumimoji="1" lang="ja-JP" altLang="en-US" dirty="0"/>
          </a:p>
        </p:txBody>
      </p:sp>
      <p:sp>
        <p:nvSpPr>
          <p:cNvPr id="17" name="角丸四角形 16"/>
          <p:cNvSpPr/>
          <p:nvPr/>
        </p:nvSpPr>
        <p:spPr>
          <a:xfrm>
            <a:off x="1834116" y="2423926"/>
            <a:ext cx="2626242" cy="1422991"/>
          </a:xfrm>
          <a:prstGeom prst="roundRect">
            <a:avLst/>
          </a:prstGeom>
          <a:solidFill>
            <a:srgbClr val="FFFFFF">
              <a:alpha val="69804"/>
            </a:srgbClr>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タイトル 1"/>
          <p:cNvSpPr txBox="1">
            <a:spLocks/>
          </p:cNvSpPr>
          <p:nvPr/>
        </p:nvSpPr>
        <p:spPr>
          <a:xfrm>
            <a:off x="2036135" y="2613594"/>
            <a:ext cx="2222204" cy="9486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r>
              <a:rPr lang="ja-JP" altLang="en-US" sz="2400" dirty="0" smtClean="0"/>
              <a:t>北野、神戸港、有馬</a:t>
            </a:r>
            <a:endParaRPr lang="ja-JP" altLang="en-US" sz="2400" dirty="0"/>
          </a:p>
        </p:txBody>
      </p:sp>
      <p:sp>
        <p:nvSpPr>
          <p:cNvPr id="20" name="角丸四角形 19"/>
          <p:cNvSpPr/>
          <p:nvPr/>
        </p:nvSpPr>
        <p:spPr>
          <a:xfrm>
            <a:off x="7623843" y="2423926"/>
            <a:ext cx="2626242" cy="1422991"/>
          </a:xfrm>
          <a:prstGeom prst="roundRect">
            <a:avLst/>
          </a:prstGeom>
          <a:solidFill>
            <a:srgbClr val="FFFFFF">
              <a:alpha val="69804"/>
            </a:srgbClr>
          </a:solid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1" name="タイトル 1"/>
          <p:cNvSpPr txBox="1">
            <a:spLocks/>
          </p:cNvSpPr>
          <p:nvPr/>
        </p:nvSpPr>
        <p:spPr>
          <a:xfrm>
            <a:off x="7825862" y="2613594"/>
            <a:ext cx="2222204" cy="94865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r>
              <a:rPr lang="ja-JP" altLang="en-US" sz="2400" dirty="0" smtClean="0"/>
              <a:t>市街地、六甲・摩耶、須磨・舞子、西北神</a:t>
            </a:r>
            <a:endParaRPr lang="ja-JP" altLang="en-US" sz="2400" dirty="0"/>
          </a:p>
        </p:txBody>
      </p:sp>
      <p:sp>
        <p:nvSpPr>
          <p:cNvPr id="22" name="タイトル 1"/>
          <p:cNvSpPr txBox="1">
            <a:spLocks/>
          </p:cNvSpPr>
          <p:nvPr/>
        </p:nvSpPr>
        <p:spPr>
          <a:xfrm>
            <a:off x="1841089" y="1284328"/>
            <a:ext cx="8408996" cy="10798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stStyle>
          <a:p>
            <a:r>
              <a:rPr lang="ja-JP" altLang="en-US" sz="2400" dirty="0" smtClean="0"/>
              <a:t>・北野、神戸港、有馬エリアに来訪している人に、</a:t>
            </a:r>
            <a:r>
              <a:rPr lang="ja-JP" altLang="en-US" sz="2400" b="1" u="sng" dirty="0" smtClean="0"/>
              <a:t>地元の人たちが知っている様々な情報を提供</a:t>
            </a:r>
            <a:r>
              <a:rPr lang="ja-JP" altLang="en-US" sz="2400" dirty="0" smtClean="0"/>
              <a:t>して、それ以外の場所にもたくさん来訪して魅力を知ってもらう。</a:t>
            </a:r>
            <a:endParaRPr lang="ja-JP" altLang="en-US" sz="2400" dirty="0"/>
          </a:p>
        </p:txBody>
      </p:sp>
      <p:sp>
        <p:nvSpPr>
          <p:cNvPr id="8" name="右矢印 7"/>
          <p:cNvSpPr/>
          <p:nvPr/>
        </p:nvSpPr>
        <p:spPr>
          <a:xfrm>
            <a:off x="4681846" y="2739299"/>
            <a:ext cx="2811484" cy="822268"/>
          </a:xfrm>
          <a:prstGeom prst="rightArrow">
            <a:avLst>
              <a:gd name="adj1" fmla="val 50000"/>
              <a:gd name="adj2" fmla="val 68504"/>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p:cNvSpPr/>
          <p:nvPr/>
        </p:nvSpPr>
        <p:spPr>
          <a:xfrm>
            <a:off x="1632097" y="4070567"/>
            <a:ext cx="8830064" cy="1760215"/>
          </a:xfrm>
          <a:prstGeom prst="roundRect">
            <a:avLst/>
          </a:prstGeom>
          <a:solidFill>
            <a:srgbClr val="DA4A4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正方形/長方形 2"/>
          <p:cNvSpPr/>
          <p:nvPr/>
        </p:nvSpPr>
        <p:spPr>
          <a:xfrm>
            <a:off x="1834115" y="4385500"/>
            <a:ext cx="8415969" cy="1323439"/>
          </a:xfrm>
          <a:prstGeom prst="rect">
            <a:avLst/>
          </a:prstGeom>
        </p:spPr>
        <p:txBody>
          <a:bodyPr wrap="square">
            <a:spAutoFit/>
          </a:bodyPr>
          <a:lstStyle/>
          <a:p>
            <a:pPr algn="ctr"/>
            <a:r>
              <a:rPr lang="ja-JP" altLang="en-US" sz="4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結果として、リピート率を高くし</a:t>
            </a:r>
            <a:r>
              <a:rPr lang="ja-JP" altLang="en-US" sz="4000" b="1"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4000" b="1"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4000" b="1"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宿泊客数</a:t>
            </a:r>
            <a:r>
              <a:rPr lang="ja-JP" altLang="en-US" sz="4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を伸ばすことを</a:t>
            </a:r>
            <a:r>
              <a:rPr lang="ja-JP" altLang="en-US" sz="4000" b="1"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狙う。</a:t>
            </a:r>
            <a:endParaRPr lang="ja-JP" altLang="en-US" sz="4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82802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企画の方針と狙い</a:t>
            </a:r>
            <a:endParaRPr kumimoji="1" lang="ja-JP" altLang="en-US" dirty="0"/>
          </a:p>
        </p:txBody>
      </p:sp>
      <p:sp>
        <p:nvSpPr>
          <p:cNvPr id="6" name="円/楕円 5"/>
          <p:cNvSpPr/>
          <p:nvPr/>
        </p:nvSpPr>
        <p:spPr>
          <a:xfrm>
            <a:off x="7592593" y="2590774"/>
            <a:ext cx="2497015" cy="2497015"/>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p:cNvSpPr/>
          <p:nvPr/>
        </p:nvSpPr>
        <p:spPr>
          <a:xfrm>
            <a:off x="1273996" y="2590774"/>
            <a:ext cx="2497015" cy="2497015"/>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フリーフォーム 10"/>
          <p:cNvSpPr/>
          <p:nvPr/>
        </p:nvSpPr>
        <p:spPr>
          <a:xfrm rot="16200000">
            <a:off x="8290115" y="3317604"/>
            <a:ext cx="1125416" cy="867508"/>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フリーフォーム 12"/>
          <p:cNvSpPr/>
          <p:nvPr/>
        </p:nvSpPr>
        <p:spPr>
          <a:xfrm rot="16200000">
            <a:off x="1959795" y="3317603"/>
            <a:ext cx="1125416" cy="867508"/>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descr="https://upload.wikimedia.org/wikipedia/commons/thumb/b/b4/Emblem_of_Kobe,_Hyogo.svg/200px-Emblem_of_Kobe,_Hyogo.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1584" y="3742221"/>
            <a:ext cx="641837" cy="641837"/>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直線矢印コネクタ 13"/>
          <p:cNvCxnSpPr/>
          <p:nvPr/>
        </p:nvCxnSpPr>
        <p:spPr>
          <a:xfrm>
            <a:off x="4243751" y="4091329"/>
            <a:ext cx="3118339" cy="0"/>
          </a:xfrm>
          <a:prstGeom prst="straightConnector1">
            <a:avLst/>
          </a:prstGeom>
          <a:ln w="82550">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p:cNvCxnSpPr/>
          <p:nvPr/>
        </p:nvCxnSpPr>
        <p:spPr>
          <a:xfrm flipH="1">
            <a:off x="4243752" y="3515430"/>
            <a:ext cx="3118338" cy="0"/>
          </a:xfrm>
          <a:prstGeom prst="straightConnector1">
            <a:avLst/>
          </a:prstGeom>
          <a:ln w="82550">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2613903" y="1538151"/>
            <a:ext cx="6378036" cy="1938992"/>
          </a:xfrm>
          <a:prstGeom prst="rect">
            <a:avLst/>
          </a:prstGeom>
          <a:noFill/>
        </p:spPr>
        <p:txBody>
          <a:bodyPr wrap="square" rtlCol="0">
            <a:spAutoFit/>
          </a:bodyPr>
          <a:lstStyle/>
          <a:p>
            <a:pPr algn="ctr"/>
            <a:r>
              <a:rPr lang="ja-JP" altLang="en-US" sz="4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新規</a:t>
            </a:r>
            <a:r>
              <a:rPr lang="ja-JP" altLang="en-US" sz="4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旅行者と</a:t>
            </a:r>
            <a:endParaRPr lang="en-US" altLang="ja-JP" sz="4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4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情報発信したい人を</a:t>
            </a:r>
            <a:endParaRPr lang="en-US" altLang="ja-JP" sz="4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4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マッチング</a:t>
            </a:r>
            <a:endParaRPr kumimoji="1" lang="en-US" altLang="ja-JP" sz="4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テキスト ボックス 11"/>
          <p:cNvSpPr txBox="1"/>
          <p:nvPr/>
        </p:nvSpPr>
        <p:spPr>
          <a:xfrm>
            <a:off x="2051458" y="5225251"/>
            <a:ext cx="7774468" cy="707886"/>
          </a:xfrm>
          <a:prstGeom prst="rect">
            <a:avLst/>
          </a:prstGeom>
          <a:noFill/>
        </p:spPr>
        <p:txBody>
          <a:bodyPr wrap="square" rtlCol="0">
            <a:spAutoFit/>
          </a:bodyPr>
          <a:lstStyle/>
          <a:p>
            <a:pPr algn="ctr"/>
            <a:r>
              <a:rPr kumimoji="1" lang="ja-JP" altLang="en-US" sz="4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持っている情報の差を埋める。</a:t>
            </a:r>
            <a:endParaRPr kumimoji="1" lang="en-US" altLang="ja-JP" sz="4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テキスト ボックス 2"/>
          <p:cNvSpPr txBox="1"/>
          <p:nvPr/>
        </p:nvSpPr>
        <p:spPr>
          <a:xfrm>
            <a:off x="8039516" y="4337815"/>
            <a:ext cx="1603169" cy="584775"/>
          </a:xfrm>
          <a:prstGeom prst="rect">
            <a:avLst/>
          </a:prstGeom>
          <a:noFill/>
        </p:spPr>
        <p:txBody>
          <a:bodyPr wrap="square" rtlCol="0">
            <a:spAutoFit/>
          </a:bodyPr>
          <a:lstStyle/>
          <a:p>
            <a:pPr algn="ctr"/>
            <a:r>
              <a:rPr kumimoji="1" lang="ja-JP" altLang="en-US" sz="3200" b="1"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旅行者</a:t>
            </a:r>
            <a:endParaRPr kumimoji="1" lang="ja-JP" altLang="en-US" sz="3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5" name="テキスト ボックス 14"/>
          <p:cNvSpPr txBox="1"/>
          <p:nvPr/>
        </p:nvSpPr>
        <p:spPr>
          <a:xfrm>
            <a:off x="1720919" y="4337815"/>
            <a:ext cx="1603169" cy="584775"/>
          </a:xfrm>
          <a:prstGeom prst="rect">
            <a:avLst/>
          </a:prstGeom>
          <a:noFill/>
        </p:spPr>
        <p:txBody>
          <a:bodyPr wrap="square" rtlCol="0">
            <a:spAutoFit/>
          </a:bodyPr>
          <a:lstStyle/>
          <a:p>
            <a:pPr algn="ctr"/>
            <a:r>
              <a:rPr lang="ja-JP" altLang="en-US" sz="3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ガイド</a:t>
            </a:r>
            <a:endParaRPr kumimoji="1" lang="ja-JP" altLang="en-US" sz="32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9766370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円/楕円 3"/>
          <p:cNvSpPr/>
          <p:nvPr/>
        </p:nvSpPr>
        <p:spPr>
          <a:xfrm>
            <a:off x="6680692" y="2297723"/>
            <a:ext cx="2497015" cy="2497015"/>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円/楕円 4"/>
          <p:cNvSpPr/>
          <p:nvPr/>
        </p:nvSpPr>
        <p:spPr>
          <a:xfrm>
            <a:off x="1505122" y="2297723"/>
            <a:ext cx="2497015" cy="2497015"/>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フリーフォーム 5"/>
          <p:cNvSpPr/>
          <p:nvPr/>
        </p:nvSpPr>
        <p:spPr>
          <a:xfrm rot="16200000">
            <a:off x="7378214" y="3024553"/>
            <a:ext cx="1125416" cy="867508"/>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フリーフォーム 6"/>
          <p:cNvSpPr/>
          <p:nvPr/>
        </p:nvSpPr>
        <p:spPr>
          <a:xfrm rot="16200000">
            <a:off x="2190921" y="3024552"/>
            <a:ext cx="1125416" cy="867508"/>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Picture 2" descr="https://upload.wikimedia.org/wikipedia/commons/thumb/b/b4/Emblem_of_Kobe,_Hyogo.svg/200px-Emblem_of_Kobe,_Hyogo.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2710" y="3449170"/>
            <a:ext cx="641837" cy="641837"/>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p:cNvSpPr>
            <a:spLocks noGrp="1"/>
          </p:cNvSpPr>
          <p:nvPr>
            <p:ph type="title"/>
          </p:nvPr>
        </p:nvSpPr>
        <p:spPr/>
        <p:txBody>
          <a:bodyPr/>
          <a:lstStyle/>
          <a:p>
            <a:r>
              <a:rPr lang="ja-JP" altLang="en-US" dirty="0"/>
              <a:t>企画のターゲット</a:t>
            </a:r>
            <a:endParaRPr kumimoji="1" lang="ja-JP" altLang="en-US" dirty="0"/>
          </a:p>
        </p:txBody>
      </p:sp>
      <p:sp>
        <p:nvSpPr>
          <p:cNvPr id="9" name="角丸四角形吹き出し 8"/>
          <p:cNvSpPr/>
          <p:nvPr/>
        </p:nvSpPr>
        <p:spPr>
          <a:xfrm>
            <a:off x="8673613" y="1416295"/>
            <a:ext cx="3276601" cy="1720907"/>
          </a:xfrm>
          <a:prstGeom prst="wedgeRoundRectCallout">
            <a:avLst>
              <a:gd name="adj1" fmla="val -59908"/>
              <a:gd name="adj2" fmla="val 32100"/>
              <a:gd name="adj3" fmla="val 16667"/>
            </a:avLst>
          </a:prstGeom>
          <a:solidFill>
            <a:srgbClr val="F2F8E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北野、神戸港、有馬への新規旅行者を</a:t>
            </a:r>
            <a:endParaRPr lang="en-US" altLang="ja-JP"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ターゲット</a:t>
            </a:r>
            <a:endParaRPr lang="en-US" altLang="ja-JP"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（外国人旅行者も含む）</a:t>
            </a:r>
            <a:endParaRPr kumimoji="1" lang="ja-JP" altLang="en-US" sz="20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角丸四角形吹き出し 9"/>
          <p:cNvSpPr/>
          <p:nvPr/>
        </p:nvSpPr>
        <p:spPr>
          <a:xfrm>
            <a:off x="3307543" y="1671815"/>
            <a:ext cx="2461850" cy="1465387"/>
          </a:xfrm>
          <a:prstGeom prst="wedgeRoundRectCallout">
            <a:avLst>
              <a:gd name="adj1" fmla="val -60616"/>
              <a:gd name="adj2" fmla="val 31664"/>
              <a:gd name="adj3" fmla="val 16667"/>
            </a:avLst>
          </a:prstGeom>
          <a:solidFill>
            <a:srgbClr val="F2F8E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地元をもっと</a:t>
            </a:r>
            <a:endParaRPr lang="en-US" altLang="ja-JP"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伝えたい人を</a:t>
            </a:r>
            <a:endParaRPr lang="en-US" altLang="ja-JP"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ターゲット</a:t>
            </a:r>
            <a:endParaRPr kumimoji="1" lang="ja-JP" altLang="en-US" sz="20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1" name="上矢印吹き出し 10"/>
          <p:cNvSpPr/>
          <p:nvPr/>
        </p:nvSpPr>
        <p:spPr>
          <a:xfrm>
            <a:off x="6220559" y="4106370"/>
            <a:ext cx="3440726" cy="2423384"/>
          </a:xfrm>
          <a:prstGeom prst="upArrowCallout">
            <a:avLst>
              <a:gd name="adj1" fmla="val 25000"/>
              <a:gd name="adj2" fmla="val 25000"/>
              <a:gd name="adj3" fmla="val 17717"/>
              <a:gd name="adj4" fmla="val 77330"/>
            </a:avLst>
          </a:prstGeom>
          <a:solidFill>
            <a:srgbClr val="DA4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ja-JP" sz="2800"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800" dirty="0" smtClean="0">
                <a:latin typeface="メイリオ" panose="020B0604030504040204" pitchFamily="50" charset="-128"/>
                <a:ea typeface="メイリオ" panose="020B0604030504040204" pitchFamily="50" charset="-128"/>
                <a:cs typeface="メイリオ" panose="020B0604030504040204" pitchFamily="50" charset="-128"/>
              </a:rPr>
              <a:t>地元民しか知らないスポット、情報</a:t>
            </a:r>
            <a:endParaRPr kumimoji="1" lang="ja-JP" altLang="en-US" sz="2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4" name="フローチャート: 処理 13"/>
          <p:cNvSpPr/>
          <p:nvPr/>
        </p:nvSpPr>
        <p:spPr>
          <a:xfrm>
            <a:off x="7403126" y="4794737"/>
            <a:ext cx="1075592" cy="456101"/>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smtClean="0">
                <a:solidFill>
                  <a:srgbClr val="DA4A4A"/>
                </a:solidFill>
                <a:latin typeface="メイリオ" panose="020B0604030504040204" pitchFamily="50" charset="-128"/>
                <a:ea typeface="メイリオ" panose="020B0604030504040204" pitchFamily="50" charset="-128"/>
                <a:cs typeface="メイリオ" panose="020B0604030504040204" pitchFamily="50" charset="-128"/>
              </a:rPr>
              <a:t>価 値</a:t>
            </a:r>
            <a:endParaRPr kumimoji="1" lang="ja-JP" altLang="en-US" dirty="0">
              <a:solidFill>
                <a:srgbClr val="DA4A4A"/>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上矢印吹き出し 16"/>
          <p:cNvSpPr/>
          <p:nvPr/>
        </p:nvSpPr>
        <p:spPr>
          <a:xfrm>
            <a:off x="1014217" y="4106370"/>
            <a:ext cx="3440726" cy="2423384"/>
          </a:xfrm>
          <a:prstGeom prst="upArrowCallout">
            <a:avLst>
              <a:gd name="adj1" fmla="val 25000"/>
              <a:gd name="adj2" fmla="val 25000"/>
              <a:gd name="adj3" fmla="val 17717"/>
              <a:gd name="adj4" fmla="val 77330"/>
            </a:avLst>
          </a:prstGeom>
          <a:solidFill>
            <a:srgbClr val="DA4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ja-JP" sz="2800"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800" dirty="0" smtClean="0">
                <a:latin typeface="メイリオ" panose="020B0604030504040204" pitchFamily="50" charset="-128"/>
                <a:ea typeface="メイリオ" panose="020B0604030504040204" pitchFamily="50" charset="-128"/>
                <a:cs typeface="メイリオ" panose="020B0604030504040204" pitchFamily="50" charset="-128"/>
              </a:rPr>
              <a:t>直接伝えられる人</a:t>
            </a:r>
            <a:endParaRPr lang="en-US" altLang="ja-JP" sz="2800"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800" dirty="0" smtClean="0">
                <a:latin typeface="メイリオ" panose="020B0604030504040204" pitchFamily="50" charset="-128"/>
                <a:ea typeface="メイリオ" panose="020B0604030504040204" pitchFamily="50" charset="-128"/>
                <a:cs typeface="メイリオ" panose="020B0604030504040204" pitchFamily="50" charset="-128"/>
              </a:rPr>
              <a:t>を得られる</a:t>
            </a:r>
            <a:endParaRPr lang="ja-JP" altLang="en-US" sz="28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8" name="フローチャート: 処理 17"/>
          <p:cNvSpPr/>
          <p:nvPr/>
        </p:nvSpPr>
        <p:spPr>
          <a:xfrm>
            <a:off x="2196784" y="4794737"/>
            <a:ext cx="1075592" cy="456101"/>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smtClean="0">
                <a:solidFill>
                  <a:srgbClr val="DA4A4A"/>
                </a:solidFill>
                <a:latin typeface="メイリオ" panose="020B0604030504040204" pitchFamily="50" charset="-128"/>
                <a:ea typeface="メイリオ" panose="020B0604030504040204" pitchFamily="50" charset="-128"/>
                <a:cs typeface="メイリオ" panose="020B0604030504040204" pitchFamily="50" charset="-128"/>
              </a:rPr>
              <a:t>価 値</a:t>
            </a:r>
            <a:endParaRPr kumimoji="1" lang="ja-JP" altLang="en-US" dirty="0">
              <a:solidFill>
                <a:srgbClr val="DA4A4A"/>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3732695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右矢印 32"/>
          <p:cNvSpPr/>
          <p:nvPr/>
        </p:nvSpPr>
        <p:spPr>
          <a:xfrm rot="10800000">
            <a:off x="4541643" y="3531356"/>
            <a:ext cx="3573517" cy="507091"/>
          </a:xfrm>
          <a:prstGeom prst="rightArrow">
            <a:avLst>
              <a:gd name="adj1" fmla="val 50000"/>
              <a:gd name="adj2" fmla="val 68324"/>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p:txBody>
          <a:bodyPr/>
          <a:lstStyle/>
          <a:p>
            <a:r>
              <a:rPr lang="ja-JP" altLang="en-US" dirty="0" smtClean="0"/>
              <a:t>企画の実現案</a:t>
            </a:r>
            <a:endParaRPr kumimoji="1" lang="ja-JP" altLang="en-US" dirty="0"/>
          </a:p>
        </p:txBody>
      </p:sp>
      <p:grpSp>
        <p:nvGrpSpPr>
          <p:cNvPr id="6" name="グループ化 5"/>
          <p:cNvGrpSpPr/>
          <p:nvPr/>
        </p:nvGrpSpPr>
        <p:grpSpPr>
          <a:xfrm>
            <a:off x="3519062" y="2068810"/>
            <a:ext cx="795923" cy="1148754"/>
            <a:chOff x="4243753" y="4513385"/>
            <a:chExt cx="1137139" cy="1641230"/>
          </a:xfrm>
        </p:grpSpPr>
        <p:sp>
          <p:nvSpPr>
            <p:cNvPr id="7" name="角丸四角形 6"/>
            <p:cNvSpPr/>
            <p:nvPr/>
          </p:nvSpPr>
          <p:spPr>
            <a:xfrm>
              <a:off x="4243753" y="4513385"/>
              <a:ext cx="1137139" cy="1641230"/>
            </a:xfrm>
            <a:prstGeom prst="roundRect">
              <a:avLst>
                <a:gd name="adj" fmla="val 4472"/>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フローチャート: 処理 7"/>
            <p:cNvSpPr/>
            <p:nvPr/>
          </p:nvSpPr>
          <p:spPr>
            <a:xfrm>
              <a:off x="4325815" y="4607169"/>
              <a:ext cx="949570" cy="1242646"/>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p:cNvSpPr/>
            <p:nvPr/>
          </p:nvSpPr>
          <p:spPr>
            <a:xfrm>
              <a:off x="4712675" y="5908430"/>
              <a:ext cx="199293" cy="1875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 name="グループ化 9"/>
          <p:cNvGrpSpPr/>
          <p:nvPr/>
        </p:nvGrpSpPr>
        <p:grpSpPr>
          <a:xfrm>
            <a:off x="8296212" y="2068810"/>
            <a:ext cx="795923" cy="1148754"/>
            <a:chOff x="4243753" y="4513385"/>
            <a:chExt cx="1137139" cy="1641230"/>
          </a:xfrm>
        </p:grpSpPr>
        <p:sp>
          <p:nvSpPr>
            <p:cNvPr id="11" name="角丸四角形 10"/>
            <p:cNvSpPr/>
            <p:nvPr/>
          </p:nvSpPr>
          <p:spPr>
            <a:xfrm>
              <a:off x="4243753" y="4513385"/>
              <a:ext cx="1137139" cy="1641230"/>
            </a:xfrm>
            <a:prstGeom prst="roundRect">
              <a:avLst>
                <a:gd name="adj" fmla="val 4472"/>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フローチャート: 処理 11"/>
            <p:cNvSpPr/>
            <p:nvPr/>
          </p:nvSpPr>
          <p:spPr>
            <a:xfrm>
              <a:off x="4325815" y="4607169"/>
              <a:ext cx="949570" cy="1242646"/>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p:cNvSpPr/>
            <p:nvPr/>
          </p:nvSpPr>
          <p:spPr>
            <a:xfrm>
              <a:off x="4712675" y="5908430"/>
              <a:ext cx="199293" cy="1875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p:cNvSpPr txBox="1"/>
          <p:nvPr/>
        </p:nvSpPr>
        <p:spPr>
          <a:xfrm>
            <a:off x="3299362" y="1698971"/>
            <a:ext cx="1268087" cy="400110"/>
          </a:xfrm>
          <a:prstGeom prst="rect">
            <a:avLst/>
          </a:prstGeom>
          <a:noFill/>
        </p:spPr>
        <p:txBody>
          <a:bodyPr wrap="square" rtlCol="0">
            <a:spAutoFit/>
          </a:bodyPr>
          <a:lstStyle/>
          <a:p>
            <a:r>
              <a:rPr lang="ja-JP" altLang="en-US" sz="2000" b="1" dirty="0">
                <a:solidFill>
                  <a:srgbClr val="E57F7F"/>
                </a:solidFill>
                <a:latin typeface="メイリオ" panose="020B0604030504040204" pitchFamily="50" charset="-128"/>
                <a:ea typeface="メイリオ" panose="020B0604030504040204" pitchFamily="50" charset="-128"/>
                <a:cs typeface="メイリオ" panose="020B0604030504040204" pitchFamily="50" charset="-128"/>
              </a:rPr>
              <a:t>ガイド</a:t>
            </a:r>
            <a:r>
              <a:rPr kumimoji="1" lang="ja-JP" altLang="en-US" sz="2000" b="1" dirty="0" smtClean="0">
                <a:solidFill>
                  <a:srgbClr val="E57F7F"/>
                </a:solidFill>
                <a:latin typeface="メイリオ" panose="020B0604030504040204" pitchFamily="50" charset="-128"/>
                <a:ea typeface="メイリオ" panose="020B0604030504040204" pitchFamily="50" charset="-128"/>
                <a:cs typeface="メイリオ" panose="020B0604030504040204" pitchFamily="50" charset="-128"/>
              </a:rPr>
              <a:t>用</a:t>
            </a:r>
            <a:endParaRPr kumimoji="1" lang="ja-JP" altLang="en-US" sz="2000" b="1" dirty="0">
              <a:solidFill>
                <a:srgbClr val="E57F7F"/>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6" name="テキスト ボックス 15"/>
          <p:cNvSpPr txBox="1"/>
          <p:nvPr/>
        </p:nvSpPr>
        <p:spPr>
          <a:xfrm>
            <a:off x="8115161" y="1668700"/>
            <a:ext cx="1268087" cy="400110"/>
          </a:xfrm>
          <a:prstGeom prst="rect">
            <a:avLst/>
          </a:prstGeom>
          <a:noFill/>
        </p:spPr>
        <p:txBody>
          <a:bodyPr wrap="square" rtlCol="0">
            <a:spAutoFit/>
          </a:bodyPr>
          <a:lstStyle/>
          <a:p>
            <a:r>
              <a:rPr lang="ja-JP" altLang="en-US" sz="2000" b="1" dirty="0">
                <a:solidFill>
                  <a:srgbClr val="E57F7F"/>
                </a:solidFill>
                <a:latin typeface="メイリオ" panose="020B0604030504040204" pitchFamily="50" charset="-128"/>
                <a:ea typeface="メイリオ" panose="020B0604030504040204" pitchFamily="50" charset="-128"/>
                <a:cs typeface="メイリオ" panose="020B0604030504040204" pitchFamily="50" charset="-128"/>
              </a:rPr>
              <a:t>旅行者</a:t>
            </a:r>
            <a:r>
              <a:rPr kumimoji="1" lang="ja-JP" altLang="en-US" sz="2000" b="1" dirty="0" smtClean="0">
                <a:solidFill>
                  <a:srgbClr val="E57F7F"/>
                </a:solidFill>
                <a:latin typeface="メイリオ" panose="020B0604030504040204" pitchFamily="50" charset="-128"/>
                <a:ea typeface="メイリオ" panose="020B0604030504040204" pitchFamily="50" charset="-128"/>
                <a:cs typeface="メイリオ" panose="020B0604030504040204" pitchFamily="50" charset="-128"/>
              </a:rPr>
              <a:t>用</a:t>
            </a:r>
            <a:endParaRPr kumimoji="1" lang="ja-JP" altLang="en-US" sz="2000" b="1" dirty="0">
              <a:solidFill>
                <a:srgbClr val="E57F7F"/>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17" name="グループ化 16"/>
          <p:cNvGrpSpPr/>
          <p:nvPr/>
        </p:nvGrpSpPr>
        <p:grpSpPr>
          <a:xfrm>
            <a:off x="8233194" y="3326208"/>
            <a:ext cx="1032020" cy="1032020"/>
            <a:chOff x="1465385" y="2297723"/>
            <a:chExt cx="2497015" cy="2497015"/>
          </a:xfrm>
        </p:grpSpPr>
        <p:sp>
          <p:nvSpPr>
            <p:cNvPr id="18" name="円/楕円 17"/>
            <p:cNvSpPr/>
            <p:nvPr/>
          </p:nvSpPr>
          <p:spPr>
            <a:xfrm>
              <a:off x="1465385" y="2297723"/>
              <a:ext cx="2497015" cy="2497015"/>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フリーフォーム 18"/>
            <p:cNvSpPr/>
            <p:nvPr/>
          </p:nvSpPr>
          <p:spPr>
            <a:xfrm rot="16200000">
              <a:off x="2162907" y="3024553"/>
              <a:ext cx="1125416" cy="867508"/>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 name="グループ化 19"/>
          <p:cNvGrpSpPr/>
          <p:nvPr/>
        </p:nvGrpSpPr>
        <p:grpSpPr>
          <a:xfrm>
            <a:off x="3417395" y="3326208"/>
            <a:ext cx="1032020" cy="1032020"/>
            <a:chOff x="7549662" y="2297723"/>
            <a:chExt cx="2497015" cy="2497015"/>
          </a:xfrm>
        </p:grpSpPr>
        <p:sp>
          <p:nvSpPr>
            <p:cNvPr id="21" name="円/楕円 20"/>
            <p:cNvSpPr/>
            <p:nvPr/>
          </p:nvSpPr>
          <p:spPr>
            <a:xfrm>
              <a:off x="7549662" y="2297723"/>
              <a:ext cx="2497015" cy="2497015"/>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フリーフォーム 21"/>
            <p:cNvSpPr/>
            <p:nvPr/>
          </p:nvSpPr>
          <p:spPr>
            <a:xfrm rot="16200000">
              <a:off x="8235461" y="3024552"/>
              <a:ext cx="1125416" cy="867508"/>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3" name="Picture 2" descr="https://upload.wikimedia.org/wikipedia/commons/thumb/b/b4/Emblem_of_Kobe,_Hyogo.svg/200px-Emblem_of_Kobe,_Hyogo.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77250" y="3449170"/>
              <a:ext cx="641837" cy="641837"/>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右矢印 24"/>
          <p:cNvSpPr/>
          <p:nvPr/>
        </p:nvSpPr>
        <p:spPr>
          <a:xfrm>
            <a:off x="4541644" y="2491002"/>
            <a:ext cx="3573517" cy="507091"/>
          </a:xfrm>
          <a:prstGeom prst="rightArrow">
            <a:avLst>
              <a:gd name="adj1" fmla="val 50000"/>
              <a:gd name="adj2" fmla="val 68324"/>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角丸四角形吹き出し 25"/>
          <p:cNvSpPr/>
          <p:nvPr/>
        </p:nvSpPr>
        <p:spPr>
          <a:xfrm>
            <a:off x="837512" y="2059289"/>
            <a:ext cx="2461850" cy="1815479"/>
          </a:xfrm>
          <a:prstGeom prst="wedgeRoundRectCallout">
            <a:avLst>
              <a:gd name="adj1" fmla="val 64319"/>
              <a:gd name="adj2" fmla="val -11916"/>
              <a:gd name="adj3" fmla="val 16667"/>
            </a:avLst>
          </a:prstGeom>
          <a:solidFill>
            <a:schemeClr val="accent6">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①</a:t>
            </a:r>
            <a:r>
              <a:rPr kumimoji="1" lang="ja-JP" altLang="en-US"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ガイド情報（スポット、</a:t>
            </a:r>
            <a:r>
              <a:rPr lang="ja-JP" altLang="en-US"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ガイド名、カテゴリ、対応可能日時、コメント）を入力</a:t>
            </a:r>
            <a:endParaRPr lang="ja-JP" altLang="en-US"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9" name="角丸四角形吹き出し 28"/>
          <p:cNvSpPr/>
          <p:nvPr/>
        </p:nvSpPr>
        <p:spPr>
          <a:xfrm>
            <a:off x="9313394" y="1352546"/>
            <a:ext cx="2461850" cy="2321622"/>
          </a:xfrm>
          <a:prstGeom prst="wedgeRoundRectCallout">
            <a:avLst>
              <a:gd name="adj1" fmla="val -64475"/>
              <a:gd name="adj2" fmla="val 15685"/>
              <a:gd name="adj3" fmla="val 16667"/>
            </a:avLst>
          </a:prstGeom>
          <a:solidFill>
            <a:schemeClr val="accent6">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28" name="Picture 10" descr="\\kdlshared\業務\アプリコンテスト\04.アイデア検討\90.参考資料\nsasaki\利用者\地図で見る.png"/>
          <p:cNvPicPr>
            <a:picLocks noChangeAspect="1" noChangeArrowheads="1"/>
          </p:cNvPicPr>
          <p:nvPr/>
        </p:nvPicPr>
        <p:blipFill rotWithShape="1">
          <a:blip r:embed="rId3">
            <a:extLst>
              <a:ext uri="{28A0092B-C50C-407E-A947-70E740481C1C}">
                <a14:useLocalDpi xmlns:a14="http://schemas.microsoft.com/office/drawing/2010/main" val="0"/>
              </a:ext>
            </a:extLst>
          </a:blip>
          <a:srcRect l="6396" t="12395" r="5516" b="44088"/>
          <a:stretch/>
        </p:blipFill>
        <p:spPr bwMode="auto">
          <a:xfrm>
            <a:off x="9609916" y="1551532"/>
            <a:ext cx="1868806" cy="1950732"/>
          </a:xfrm>
          <a:prstGeom prst="rect">
            <a:avLst/>
          </a:prstGeom>
          <a:noFill/>
          <a:extLst>
            <a:ext uri="{909E8E84-426E-40DD-AFC4-6F175D3DCCD1}">
              <a14:hiddenFill xmlns:a14="http://schemas.microsoft.com/office/drawing/2010/main">
                <a:solidFill>
                  <a:srgbClr val="FFFFFF"/>
                </a:solidFill>
              </a14:hiddenFill>
            </a:ext>
          </a:extLst>
        </p:spPr>
      </p:pic>
      <p:sp>
        <p:nvSpPr>
          <p:cNvPr id="27" name="角丸四角形吹き出し 26"/>
          <p:cNvSpPr/>
          <p:nvPr/>
        </p:nvSpPr>
        <p:spPr>
          <a:xfrm>
            <a:off x="9609916" y="3490365"/>
            <a:ext cx="2461850" cy="1811388"/>
          </a:xfrm>
          <a:prstGeom prst="wedgeRoundRectCallout">
            <a:avLst>
              <a:gd name="adj1" fmla="val -11415"/>
              <a:gd name="adj2" fmla="val -74943"/>
              <a:gd name="adj3" fmla="val 16667"/>
            </a:avLst>
          </a:prstGeom>
          <a:solidFill>
            <a:srgbClr val="F2F8E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②ガイド情報を</a:t>
            </a:r>
            <a:endParaRPr kumimoji="1" lang="en-US" altLang="ja-JP"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地図、カテゴリ等から検索</a:t>
            </a:r>
            <a:endParaRPr kumimoji="1" lang="ja-JP" altLang="en-US" sz="20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1" name="角丸四角形吹き出し 30"/>
          <p:cNvSpPr/>
          <p:nvPr/>
        </p:nvSpPr>
        <p:spPr>
          <a:xfrm>
            <a:off x="418341" y="4051762"/>
            <a:ext cx="2621741" cy="1862092"/>
          </a:xfrm>
          <a:prstGeom prst="wedgeRoundRectCallout">
            <a:avLst>
              <a:gd name="adj1" fmla="val -12862"/>
              <a:gd name="adj2" fmla="val -64145"/>
              <a:gd name="adj3" fmla="val 16667"/>
            </a:avLst>
          </a:prstGeom>
          <a:solidFill>
            <a:srgbClr val="F2F8E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ガイド情報例：</a:t>
            </a:r>
          </a:p>
          <a:p>
            <a:r>
              <a:rPr lang="ja-JP" altLang="en-US" sz="12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カテゴリ：イベント</a:t>
            </a:r>
          </a:p>
          <a:p>
            <a:r>
              <a:rPr lang="ja-JP" altLang="en-US" sz="12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対応日時：</a:t>
            </a:r>
            <a:r>
              <a:rPr lang="en-US" altLang="ja-JP" sz="12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8</a:t>
            </a:r>
            <a:r>
              <a:rPr lang="ja-JP" altLang="en-US" sz="12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月</a:t>
            </a:r>
          </a:p>
          <a:p>
            <a:r>
              <a:rPr lang="ja-JP" altLang="en-US" sz="12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場所：海側周辺</a:t>
            </a:r>
          </a:p>
          <a:p>
            <a:r>
              <a:rPr lang="ja-JP" altLang="en-US" sz="12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コメント：</a:t>
            </a:r>
          </a:p>
          <a:p>
            <a:r>
              <a:rPr lang="en-US" altLang="ja-JP" sz="12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8</a:t>
            </a:r>
            <a:r>
              <a:rPr lang="ja-JP" altLang="en-US" sz="12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月には花火が行われます。花火を見るなら、○○辺りがおすすめですが、○時辺りから込みだすので、場所取りはそれまでに。</a:t>
            </a:r>
          </a:p>
        </p:txBody>
      </p:sp>
      <p:grpSp>
        <p:nvGrpSpPr>
          <p:cNvPr id="14" name="グループ化 13"/>
          <p:cNvGrpSpPr/>
          <p:nvPr/>
        </p:nvGrpSpPr>
        <p:grpSpPr>
          <a:xfrm>
            <a:off x="5471673" y="2259059"/>
            <a:ext cx="1820545" cy="1992294"/>
            <a:chOff x="4819567" y="3107866"/>
            <a:chExt cx="1641231" cy="1796064"/>
          </a:xfrm>
        </p:grpSpPr>
        <p:sp>
          <p:nvSpPr>
            <p:cNvPr id="4" name="フローチャート: 磁気ディスク 11"/>
            <p:cNvSpPr/>
            <p:nvPr/>
          </p:nvSpPr>
          <p:spPr>
            <a:xfrm>
              <a:off x="4819567" y="3107866"/>
              <a:ext cx="1641231" cy="1796064"/>
            </a:xfrm>
            <a:prstGeom prst="flowChartMagneticDisk">
              <a:avLst/>
            </a:prstGeom>
            <a:solidFill>
              <a:srgbClr val="E57F7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p:cNvSpPr txBox="1"/>
            <p:nvPr/>
          </p:nvSpPr>
          <p:spPr>
            <a:xfrm>
              <a:off x="5100522" y="3720548"/>
              <a:ext cx="1156607" cy="1082103"/>
            </a:xfrm>
            <a:prstGeom prst="rect">
              <a:avLst/>
            </a:prstGeom>
            <a:noFill/>
          </p:spPr>
          <p:txBody>
            <a:bodyPr wrap="square" rtlCol="0">
              <a:spAutoFit/>
            </a:bodyPr>
            <a:lstStyle/>
            <a:p>
              <a:r>
                <a:rPr kumimoji="1" lang="en-US" altLang="ja-JP" sz="2400"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Kobe</a:t>
              </a:r>
            </a:p>
            <a:p>
              <a:r>
                <a:rPr lang="en-US" altLang="ja-JP" sz="2400"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Street</a:t>
              </a:r>
            </a:p>
            <a:p>
              <a:r>
                <a:rPr kumimoji="1" lang="en-US" altLang="ja-JP" sz="2400"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Adviser</a:t>
              </a:r>
              <a:endParaRPr kumimoji="1" lang="ja-JP" altLang="en-US" sz="2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grpSp>
      <p:sp>
        <p:nvSpPr>
          <p:cNvPr id="34" name="角丸四角形吹き出し 33"/>
          <p:cNvSpPr/>
          <p:nvPr/>
        </p:nvSpPr>
        <p:spPr>
          <a:xfrm>
            <a:off x="4449415" y="4339021"/>
            <a:ext cx="2461850" cy="1811388"/>
          </a:xfrm>
          <a:prstGeom prst="wedgeRoundRectCallout">
            <a:avLst>
              <a:gd name="adj1" fmla="val -11415"/>
              <a:gd name="adj2" fmla="val -74943"/>
              <a:gd name="adj3" fmla="val 16667"/>
            </a:avLst>
          </a:prstGeom>
          <a:solidFill>
            <a:srgbClr val="F2F8EE"/>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smtClean="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rPr>
              <a:t>③旅行者はガイドに更に質問したり直接ガイドをお願いする</a:t>
            </a:r>
            <a:endParaRPr kumimoji="1" lang="ja-JP" altLang="en-US" sz="2000" dirty="0">
              <a:solidFill>
                <a:schemeClr val="bg2">
                  <a:lumMod val="1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5204448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プロモーション</a:t>
            </a:r>
            <a:r>
              <a:rPr lang="ja-JP" altLang="en-US" dirty="0" smtClean="0"/>
              <a:t>プラン</a:t>
            </a:r>
            <a:endParaRPr kumimoji="1" lang="ja-JP" altLang="en-US" dirty="0"/>
          </a:p>
        </p:txBody>
      </p:sp>
      <p:sp>
        <p:nvSpPr>
          <p:cNvPr id="5" name="正方形/長方形 4"/>
          <p:cNvSpPr/>
          <p:nvPr/>
        </p:nvSpPr>
        <p:spPr>
          <a:xfrm>
            <a:off x="1547446" y="2030657"/>
            <a:ext cx="4636477" cy="114886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アプリ</a:t>
            </a:r>
            <a:r>
              <a:rPr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の存在を</a:t>
            </a:r>
            <a:endParaRPr lang="en-US" altLang="ja-JP"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知ってもらう</a:t>
            </a:r>
            <a:endParaRPr kumimoji="1" lang="ja-JP" altLang="en-US" sz="2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p:cNvSpPr/>
          <p:nvPr/>
        </p:nvSpPr>
        <p:spPr>
          <a:xfrm>
            <a:off x="1547446" y="3179519"/>
            <a:ext cx="4636477" cy="114886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アプリの良さを</a:t>
            </a:r>
            <a:endParaRPr kumimoji="1" lang="en-US" altLang="ja-JP"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2000" dirty="0" smtClean="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rPr>
              <a:t>感じってもらう</a:t>
            </a:r>
            <a:endParaRPr kumimoji="1" lang="ja-JP" altLang="en-US" sz="2000" dirty="0">
              <a:solidFill>
                <a:schemeClr val="accent6">
                  <a:lumMod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正方形/長方形 6"/>
          <p:cNvSpPr/>
          <p:nvPr/>
        </p:nvSpPr>
        <p:spPr>
          <a:xfrm>
            <a:off x="1547447" y="4328381"/>
            <a:ext cx="4636476" cy="114886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smtClean="0">
                <a:latin typeface="メイリオ" panose="020B0604030504040204" pitchFamily="50" charset="-128"/>
                <a:ea typeface="メイリオ" panose="020B0604030504040204" pitchFamily="50" charset="-128"/>
                <a:cs typeface="メイリオ" panose="020B0604030504040204" pitchFamily="50" charset="-128"/>
              </a:rPr>
              <a:t>アプリを使い</a:t>
            </a:r>
            <a:endParaRPr kumimoji="1" lang="en-US" altLang="ja-JP" sz="3200" b="1"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3200" b="1" dirty="0" smtClean="0">
                <a:latin typeface="メイリオ" panose="020B0604030504040204" pitchFamily="50" charset="-128"/>
                <a:ea typeface="メイリオ" panose="020B0604030504040204" pitchFamily="50" charset="-128"/>
                <a:cs typeface="メイリオ" panose="020B0604030504040204" pitchFamily="50" charset="-128"/>
              </a:rPr>
              <a:t>続けてもらう</a:t>
            </a:r>
            <a:endParaRPr kumimoji="1" lang="ja-JP" altLang="en-US" sz="3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正方形/長方形 8"/>
          <p:cNvSpPr/>
          <p:nvPr/>
        </p:nvSpPr>
        <p:spPr>
          <a:xfrm>
            <a:off x="6183923" y="2030657"/>
            <a:ext cx="4636477" cy="1148862"/>
          </a:xfrm>
          <a:prstGeom prst="rect">
            <a:avLst/>
          </a:prstGeom>
          <a:solidFill>
            <a:srgbClr val="FF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smtClean="0">
                <a:solidFill>
                  <a:srgbClr val="CC2A2A"/>
                </a:solidFill>
                <a:latin typeface="メイリオ" panose="020B0604030504040204" pitchFamily="50" charset="-128"/>
                <a:ea typeface="メイリオ" panose="020B0604030504040204" pitchFamily="50" charset="-128"/>
                <a:cs typeface="メイリオ" panose="020B0604030504040204" pitchFamily="50" charset="-128"/>
              </a:rPr>
              <a:t>地元ならではのスポット</a:t>
            </a:r>
            <a:endParaRPr lang="en-US" altLang="ja-JP" sz="2000" dirty="0" smtClean="0">
              <a:solidFill>
                <a:srgbClr val="CC2A2A"/>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dirty="0" smtClean="0">
                <a:solidFill>
                  <a:srgbClr val="CC2A2A"/>
                </a:solidFill>
                <a:latin typeface="メイリオ" panose="020B0604030504040204" pitchFamily="50" charset="-128"/>
                <a:ea typeface="メイリオ" panose="020B0604030504040204" pitchFamily="50" charset="-128"/>
                <a:cs typeface="メイリオ" panose="020B0604030504040204" pitchFamily="50" charset="-128"/>
              </a:rPr>
              <a:t>・イベントを知ってもらう</a:t>
            </a:r>
            <a:endParaRPr kumimoji="1" lang="ja-JP" altLang="en-US" sz="2000" dirty="0">
              <a:solidFill>
                <a:srgbClr val="CC2A2A"/>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正方形/長方形 9"/>
          <p:cNvSpPr/>
          <p:nvPr/>
        </p:nvSpPr>
        <p:spPr>
          <a:xfrm>
            <a:off x="6183923" y="3179519"/>
            <a:ext cx="4636477" cy="1148862"/>
          </a:xfrm>
          <a:prstGeom prst="rect">
            <a:avLst/>
          </a:prstGeom>
          <a:solidFill>
            <a:srgbClr val="EB9F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dirty="0" smtClean="0">
                <a:solidFill>
                  <a:srgbClr val="CC2A2A"/>
                </a:solidFill>
                <a:latin typeface="メイリオ" panose="020B0604030504040204" pitchFamily="50" charset="-128"/>
                <a:ea typeface="メイリオ" panose="020B0604030504040204" pitchFamily="50" charset="-128"/>
                <a:cs typeface="メイリオ" panose="020B0604030504040204" pitchFamily="50" charset="-128"/>
              </a:rPr>
              <a:t>北野・神戸港以外の</a:t>
            </a:r>
            <a:endParaRPr lang="en-US" altLang="ja-JP" sz="2000" dirty="0" smtClean="0">
              <a:solidFill>
                <a:srgbClr val="CC2A2A"/>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dirty="0" smtClean="0">
                <a:solidFill>
                  <a:srgbClr val="CC2A2A"/>
                </a:solidFill>
                <a:latin typeface="メイリオ" panose="020B0604030504040204" pitchFamily="50" charset="-128"/>
                <a:ea typeface="メイリオ" panose="020B0604030504040204" pitchFamily="50" charset="-128"/>
                <a:cs typeface="メイリオ" panose="020B0604030504040204" pitchFamily="50" charset="-128"/>
              </a:rPr>
              <a:t>良さを感じてもらう</a:t>
            </a:r>
            <a:endParaRPr kumimoji="1" lang="ja-JP" altLang="en-US" sz="2000" dirty="0">
              <a:solidFill>
                <a:srgbClr val="CC2A2A"/>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1" name="正方形/長方形 10"/>
          <p:cNvSpPr/>
          <p:nvPr/>
        </p:nvSpPr>
        <p:spPr>
          <a:xfrm>
            <a:off x="6183923" y="4328381"/>
            <a:ext cx="4636477" cy="1148862"/>
          </a:xfrm>
          <a:prstGeom prst="rect">
            <a:avLst/>
          </a:prstGeom>
          <a:solidFill>
            <a:srgbClr val="DA4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smtClean="0">
                <a:latin typeface="メイリオ" panose="020B0604030504040204" pitchFamily="50" charset="-128"/>
                <a:ea typeface="メイリオ" panose="020B0604030504040204" pitchFamily="50" charset="-128"/>
                <a:cs typeface="メイリオ" panose="020B0604030504040204" pitchFamily="50" charset="-128"/>
              </a:rPr>
              <a:t>神戸旅行を</a:t>
            </a:r>
            <a:endParaRPr kumimoji="1" lang="en-US" altLang="ja-JP" sz="3200" b="1"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3200" b="1" dirty="0" smtClean="0">
                <a:latin typeface="メイリオ" panose="020B0604030504040204" pitchFamily="50" charset="-128"/>
                <a:ea typeface="メイリオ" panose="020B0604030504040204" pitchFamily="50" charset="-128"/>
                <a:cs typeface="メイリオ" panose="020B0604030504040204" pitchFamily="50" charset="-128"/>
              </a:rPr>
              <a:t>リピートしてもらう</a:t>
            </a:r>
            <a:endParaRPr kumimoji="1" lang="ja-JP" altLang="en-US" sz="3200"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二等辺三角形 12"/>
          <p:cNvSpPr/>
          <p:nvPr/>
        </p:nvSpPr>
        <p:spPr>
          <a:xfrm rot="5400000">
            <a:off x="6088493" y="2479067"/>
            <a:ext cx="431181" cy="240324"/>
          </a:xfrm>
          <a:prstGeom prst="triangl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二等辺三角形 14"/>
          <p:cNvSpPr/>
          <p:nvPr/>
        </p:nvSpPr>
        <p:spPr>
          <a:xfrm rot="5400000">
            <a:off x="6088493" y="3639647"/>
            <a:ext cx="431181" cy="240324"/>
          </a:xfrm>
          <a:prstGeom prs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二等辺三角形 15"/>
          <p:cNvSpPr/>
          <p:nvPr/>
        </p:nvSpPr>
        <p:spPr>
          <a:xfrm rot="5400000">
            <a:off x="6088493" y="4776791"/>
            <a:ext cx="431181" cy="240324"/>
          </a:xfrm>
          <a:prstGeom prst="triangl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151556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アプリの存在を知ってもらう</a:t>
            </a:r>
            <a:endParaRPr kumimoji="1" lang="ja-JP" altLang="en-US" dirty="0"/>
          </a:p>
        </p:txBody>
      </p:sp>
      <p:sp>
        <p:nvSpPr>
          <p:cNvPr id="8" name="コンテンツ プレースホルダー 2"/>
          <p:cNvSpPr>
            <a:spLocks noGrp="1"/>
          </p:cNvSpPr>
          <p:nvPr>
            <p:ph idx="1"/>
          </p:nvPr>
        </p:nvSpPr>
        <p:spPr>
          <a:xfrm>
            <a:off x="4219439" y="3591207"/>
            <a:ext cx="6822831" cy="501220"/>
          </a:xfrm>
        </p:spPr>
        <p:txBody>
          <a:bodyPr>
            <a:noAutofit/>
          </a:bodyPr>
          <a:lstStyle/>
          <a:p>
            <a:pPr marL="0" indent="0">
              <a:buNone/>
            </a:pPr>
            <a:r>
              <a:rPr lang="ja-JP" altLang="en-US" dirty="0"/>
              <a:t>新規旅行者の</a:t>
            </a:r>
            <a:r>
              <a:rPr lang="ja-JP" altLang="en-US" dirty="0" smtClean="0"/>
              <a:t>情報収集方法は紙媒体が多い傾向にあるため</a:t>
            </a:r>
            <a:r>
              <a:rPr lang="en-US" altLang="ja-JP" sz="1200" dirty="0" smtClean="0"/>
              <a:t>(※4)</a:t>
            </a:r>
            <a:r>
              <a:rPr lang="ja-JP" altLang="en-US" dirty="0" err="1" smtClean="0"/>
              <a:t>、</a:t>
            </a:r>
            <a:r>
              <a:rPr lang="ja-JP" altLang="en-US" dirty="0" smtClean="0"/>
              <a:t>情報誌の神戸特集ページ等にアプリの情報を掲載する。</a:t>
            </a:r>
            <a:endParaRPr lang="en-US" altLang="ja-JP" dirty="0" smtClean="0"/>
          </a:p>
        </p:txBody>
      </p:sp>
      <p:grpSp>
        <p:nvGrpSpPr>
          <p:cNvPr id="45" name="グループ化 44"/>
          <p:cNvGrpSpPr/>
          <p:nvPr/>
        </p:nvGrpSpPr>
        <p:grpSpPr>
          <a:xfrm>
            <a:off x="1465384" y="3594941"/>
            <a:ext cx="1031631" cy="1031631"/>
            <a:chOff x="1465385" y="2297723"/>
            <a:chExt cx="1031631" cy="1031631"/>
          </a:xfrm>
        </p:grpSpPr>
        <p:sp>
          <p:nvSpPr>
            <p:cNvPr id="9" name="円/楕円 8"/>
            <p:cNvSpPr/>
            <p:nvPr/>
          </p:nvSpPr>
          <p:spPr>
            <a:xfrm>
              <a:off x="1465385" y="2297723"/>
              <a:ext cx="1031631" cy="1031631"/>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フリーフォーム 9"/>
            <p:cNvSpPr/>
            <p:nvPr/>
          </p:nvSpPr>
          <p:spPr>
            <a:xfrm rot="16200000">
              <a:off x="1753563" y="2598010"/>
              <a:ext cx="464961" cy="358407"/>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 name="グループ化 3"/>
          <p:cNvGrpSpPr/>
          <p:nvPr/>
        </p:nvGrpSpPr>
        <p:grpSpPr>
          <a:xfrm>
            <a:off x="1465385" y="1671196"/>
            <a:ext cx="1031631" cy="1031631"/>
            <a:chOff x="7549662" y="2297723"/>
            <a:chExt cx="2497015" cy="2497015"/>
          </a:xfrm>
        </p:grpSpPr>
        <p:sp>
          <p:nvSpPr>
            <p:cNvPr id="11" name="円/楕円 10"/>
            <p:cNvSpPr/>
            <p:nvPr/>
          </p:nvSpPr>
          <p:spPr>
            <a:xfrm>
              <a:off x="7549662" y="2297723"/>
              <a:ext cx="2497015" cy="2497015"/>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フリーフォーム 11"/>
            <p:cNvSpPr/>
            <p:nvPr/>
          </p:nvSpPr>
          <p:spPr>
            <a:xfrm rot="16200000">
              <a:off x="8235461" y="3024552"/>
              <a:ext cx="1125416" cy="867508"/>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Picture 2" descr="https://upload.wikimedia.org/wikipedia/commons/thumb/b/b4/Emblem_of_Kobe,_Hyogo.svg/200px-Emblem_of_Kobe,_Hyogo.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77250" y="3449170"/>
              <a:ext cx="641837" cy="641837"/>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フリーフォーム 20"/>
          <p:cNvSpPr/>
          <p:nvPr/>
        </p:nvSpPr>
        <p:spPr>
          <a:xfrm rot="5400000">
            <a:off x="3145435" y="3634120"/>
            <a:ext cx="743864" cy="889469"/>
          </a:xfrm>
          <a:custGeom>
            <a:avLst/>
            <a:gdLst>
              <a:gd name="connsiteX0" fmla="*/ 0 w 743864"/>
              <a:gd name="connsiteY0" fmla="*/ 164976 h 889469"/>
              <a:gd name="connsiteX1" fmla="*/ 21172 w 743864"/>
              <a:gd name="connsiteY1" fmla="*/ 5074 h 889469"/>
              <a:gd name="connsiteX2" fmla="*/ 22986 w 743864"/>
              <a:gd name="connsiteY2" fmla="*/ 0 h 889469"/>
              <a:gd name="connsiteX3" fmla="*/ 642847 w 743864"/>
              <a:gd name="connsiteY3" fmla="*/ 0 h 889469"/>
              <a:gd name="connsiteX4" fmla="*/ 641032 w 743864"/>
              <a:gd name="connsiteY4" fmla="*/ 5074 h 889469"/>
              <a:gd name="connsiteX5" fmla="*/ 619861 w 743864"/>
              <a:gd name="connsiteY5" fmla="*/ 164976 h 889469"/>
              <a:gd name="connsiteX6" fmla="*/ 695585 w 743864"/>
              <a:gd name="connsiteY6" fmla="*/ 428511 h 889469"/>
              <a:gd name="connsiteX7" fmla="*/ 709508 w 743864"/>
              <a:gd name="connsiteY7" fmla="*/ 438479 h 889469"/>
              <a:gd name="connsiteX8" fmla="*/ 743864 w 743864"/>
              <a:gd name="connsiteY8" fmla="*/ 438479 h 889469"/>
              <a:gd name="connsiteX9" fmla="*/ 718866 w 743864"/>
              <a:gd name="connsiteY9" fmla="*/ 444291 h 889469"/>
              <a:gd name="connsiteX10" fmla="*/ 718246 w 743864"/>
              <a:gd name="connsiteY10" fmla="*/ 444735 h 889469"/>
              <a:gd name="connsiteX11" fmla="*/ 718865 w 743864"/>
              <a:gd name="connsiteY11" fmla="*/ 445179 h 889469"/>
              <a:gd name="connsiteX12" fmla="*/ 743863 w 743864"/>
              <a:gd name="connsiteY12" fmla="*/ 450991 h 889469"/>
              <a:gd name="connsiteX13" fmla="*/ 709509 w 743864"/>
              <a:gd name="connsiteY13" fmla="*/ 450991 h 889469"/>
              <a:gd name="connsiteX14" fmla="*/ 695587 w 743864"/>
              <a:gd name="connsiteY14" fmla="*/ 460959 h 889469"/>
              <a:gd name="connsiteX15" fmla="*/ 619863 w 743864"/>
              <a:gd name="connsiteY15" fmla="*/ 724493 h 889469"/>
              <a:gd name="connsiteX16" fmla="*/ 641034 w 743864"/>
              <a:gd name="connsiteY16" fmla="*/ 884395 h 889469"/>
              <a:gd name="connsiteX17" fmla="*/ 642848 w 743864"/>
              <a:gd name="connsiteY17" fmla="*/ 889469 h 889469"/>
              <a:gd name="connsiteX18" fmla="*/ 22989 w 743864"/>
              <a:gd name="connsiteY18" fmla="*/ 889469 h 889469"/>
              <a:gd name="connsiteX19" fmla="*/ 21174 w 743864"/>
              <a:gd name="connsiteY19" fmla="*/ 884395 h 889469"/>
              <a:gd name="connsiteX20" fmla="*/ 3 w 743864"/>
              <a:gd name="connsiteY20" fmla="*/ 724493 h 889469"/>
              <a:gd name="connsiteX21" fmla="*/ 75727 w 743864"/>
              <a:gd name="connsiteY21" fmla="*/ 460959 h 889469"/>
              <a:gd name="connsiteX22" fmla="*/ 98386 w 743864"/>
              <a:gd name="connsiteY22" fmla="*/ 444736 h 889469"/>
              <a:gd name="connsiteX23" fmla="*/ 75725 w 743864"/>
              <a:gd name="connsiteY23" fmla="*/ 428511 h 889469"/>
              <a:gd name="connsiteX24" fmla="*/ 0 w 743864"/>
              <a:gd name="connsiteY24" fmla="*/ 164976 h 889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3864" h="889469">
                <a:moveTo>
                  <a:pt x="0" y="164976"/>
                </a:moveTo>
                <a:cubicBezTo>
                  <a:pt x="0" y="105751"/>
                  <a:pt x="7805" y="50723"/>
                  <a:pt x="21172" y="5074"/>
                </a:cubicBezTo>
                <a:lnTo>
                  <a:pt x="22986" y="0"/>
                </a:lnTo>
                <a:lnTo>
                  <a:pt x="642847" y="0"/>
                </a:lnTo>
                <a:lnTo>
                  <a:pt x="641032" y="5074"/>
                </a:lnTo>
                <a:cubicBezTo>
                  <a:pt x="627665" y="50723"/>
                  <a:pt x="619861" y="105751"/>
                  <a:pt x="619861" y="164976"/>
                </a:cubicBezTo>
                <a:cubicBezTo>
                  <a:pt x="619861" y="283429"/>
                  <a:pt x="651076" y="385086"/>
                  <a:pt x="695585" y="428511"/>
                </a:cubicBezTo>
                <a:lnTo>
                  <a:pt x="709508" y="438479"/>
                </a:lnTo>
                <a:lnTo>
                  <a:pt x="743864" y="438479"/>
                </a:lnTo>
                <a:cubicBezTo>
                  <a:pt x="735301" y="438479"/>
                  <a:pt x="726940" y="440480"/>
                  <a:pt x="718866" y="444291"/>
                </a:cubicBezTo>
                <a:lnTo>
                  <a:pt x="718246" y="444735"/>
                </a:lnTo>
                <a:lnTo>
                  <a:pt x="718865" y="445179"/>
                </a:lnTo>
                <a:cubicBezTo>
                  <a:pt x="726939" y="448989"/>
                  <a:pt x="735299" y="450991"/>
                  <a:pt x="743863" y="450991"/>
                </a:cubicBezTo>
                <a:lnTo>
                  <a:pt x="709509" y="450991"/>
                </a:lnTo>
                <a:lnTo>
                  <a:pt x="695587" y="460959"/>
                </a:lnTo>
                <a:cubicBezTo>
                  <a:pt x="651077" y="504384"/>
                  <a:pt x="619863" y="606040"/>
                  <a:pt x="619863" y="724493"/>
                </a:cubicBezTo>
                <a:cubicBezTo>
                  <a:pt x="619863" y="783719"/>
                  <a:pt x="627667" y="838746"/>
                  <a:pt x="641034" y="884395"/>
                </a:cubicBezTo>
                <a:lnTo>
                  <a:pt x="642848" y="889469"/>
                </a:lnTo>
                <a:lnTo>
                  <a:pt x="22989" y="889469"/>
                </a:lnTo>
                <a:lnTo>
                  <a:pt x="21174" y="884395"/>
                </a:lnTo>
                <a:cubicBezTo>
                  <a:pt x="7807" y="838746"/>
                  <a:pt x="3" y="783719"/>
                  <a:pt x="3" y="724493"/>
                </a:cubicBezTo>
                <a:cubicBezTo>
                  <a:pt x="3" y="606040"/>
                  <a:pt x="31218" y="504384"/>
                  <a:pt x="75727" y="460959"/>
                </a:cubicBezTo>
                <a:lnTo>
                  <a:pt x="98386" y="444736"/>
                </a:lnTo>
                <a:lnTo>
                  <a:pt x="75725" y="428511"/>
                </a:lnTo>
                <a:cubicBezTo>
                  <a:pt x="31215" y="385086"/>
                  <a:pt x="0" y="283429"/>
                  <a:pt x="0" y="164976"/>
                </a:cubicBezTo>
                <a:close/>
              </a:path>
            </a:pathLst>
          </a:custGeom>
          <a:solidFill>
            <a:srgbClr val="E57F7F"/>
          </a:solidFill>
          <a:ln>
            <a:noFill/>
          </a:ln>
          <a:scene3d>
            <a:camera prst="orthographicFront">
              <a:rot lat="21599992"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フリーフォーム 29"/>
          <p:cNvSpPr/>
          <p:nvPr/>
        </p:nvSpPr>
        <p:spPr>
          <a:xfrm rot="5400000">
            <a:off x="2913031" y="5095327"/>
            <a:ext cx="1188692" cy="869491"/>
          </a:xfrm>
          <a:custGeom>
            <a:avLst/>
            <a:gdLst>
              <a:gd name="connsiteX0" fmla="*/ 529739 w 2932906"/>
              <a:gd name="connsiteY0" fmla="*/ 1165254 h 2145327"/>
              <a:gd name="connsiteX1" fmla="*/ 948252 w 2932906"/>
              <a:gd name="connsiteY1" fmla="*/ 2058601 h 2145327"/>
              <a:gd name="connsiteX2" fmla="*/ 2203792 w 2932906"/>
              <a:gd name="connsiteY2" fmla="*/ 2058601 h 2145327"/>
              <a:gd name="connsiteX3" fmla="*/ 2622305 w 2932906"/>
              <a:gd name="connsiteY3" fmla="*/ 1165254 h 2145327"/>
              <a:gd name="connsiteX4" fmla="*/ 306422 w 2932906"/>
              <a:gd name="connsiteY4" fmla="*/ 980076 h 2145327"/>
              <a:gd name="connsiteX5" fmla="*/ 2398988 w 2932906"/>
              <a:gd name="connsiteY5" fmla="*/ 980076 h 2145327"/>
              <a:gd name="connsiteX6" fmla="*/ 1980475 w 2932906"/>
              <a:gd name="connsiteY6" fmla="*/ 86729 h 2145327"/>
              <a:gd name="connsiteX7" fmla="*/ 724935 w 2932906"/>
              <a:gd name="connsiteY7" fmla="*/ 86729 h 2145327"/>
              <a:gd name="connsiteX8" fmla="*/ 0 w 2932906"/>
              <a:gd name="connsiteY8" fmla="*/ 1078524 h 2145327"/>
              <a:gd name="connsiteX9" fmla="*/ 505265 w 2932906"/>
              <a:gd name="connsiteY9" fmla="*/ 0 h 2145327"/>
              <a:gd name="connsiteX10" fmla="*/ 2021059 w 2932906"/>
              <a:gd name="connsiteY10" fmla="*/ 0 h 2145327"/>
              <a:gd name="connsiteX11" fmla="*/ 2021059 w 2932906"/>
              <a:gd name="connsiteY11" fmla="*/ 1 h 2145327"/>
              <a:gd name="connsiteX12" fmla="*/ 2427642 w 2932906"/>
              <a:gd name="connsiteY12" fmla="*/ 1 h 2145327"/>
              <a:gd name="connsiteX13" fmla="*/ 2927415 w 2932906"/>
              <a:gd name="connsiteY13" fmla="*/ 1066803 h 2145327"/>
              <a:gd name="connsiteX14" fmla="*/ 2932905 w 2932906"/>
              <a:gd name="connsiteY14" fmla="*/ 1066803 h 2145327"/>
              <a:gd name="connsiteX15" fmla="*/ 2930160 w 2932906"/>
              <a:gd name="connsiteY15" fmla="*/ 1072663 h 2145327"/>
              <a:gd name="connsiteX16" fmla="*/ 2932906 w 2932906"/>
              <a:gd name="connsiteY16" fmla="*/ 1078525 h 2145327"/>
              <a:gd name="connsiteX17" fmla="*/ 2927414 w 2932906"/>
              <a:gd name="connsiteY17" fmla="*/ 1078525 h 2145327"/>
              <a:gd name="connsiteX18" fmla="*/ 2427641 w 2932906"/>
              <a:gd name="connsiteY18" fmla="*/ 2145327 h 2145327"/>
              <a:gd name="connsiteX19" fmla="*/ 911847 w 2932906"/>
              <a:gd name="connsiteY19" fmla="*/ 2145327 h 2145327"/>
              <a:gd name="connsiteX20" fmla="*/ 412074 w 2932906"/>
              <a:gd name="connsiteY20" fmla="*/ 1078525 h 2145327"/>
              <a:gd name="connsiteX21" fmla="*/ 406583 w 2932906"/>
              <a:gd name="connsiteY21" fmla="*/ 1078525 h 2145327"/>
              <a:gd name="connsiteX22" fmla="*/ 406584 w 2932906"/>
              <a:gd name="connsiteY22" fmla="*/ 1078524 h 2145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32906" h="2145327">
                <a:moveTo>
                  <a:pt x="529739" y="1165254"/>
                </a:moveTo>
                <a:lnTo>
                  <a:pt x="948252" y="2058601"/>
                </a:lnTo>
                <a:lnTo>
                  <a:pt x="2203792" y="2058601"/>
                </a:lnTo>
                <a:lnTo>
                  <a:pt x="2622305" y="1165254"/>
                </a:lnTo>
                <a:close/>
                <a:moveTo>
                  <a:pt x="306422" y="980076"/>
                </a:moveTo>
                <a:lnTo>
                  <a:pt x="2398988" y="980076"/>
                </a:lnTo>
                <a:lnTo>
                  <a:pt x="1980475" y="86729"/>
                </a:lnTo>
                <a:lnTo>
                  <a:pt x="724935" y="86729"/>
                </a:lnTo>
                <a:close/>
                <a:moveTo>
                  <a:pt x="0" y="1078524"/>
                </a:moveTo>
                <a:lnTo>
                  <a:pt x="505265" y="0"/>
                </a:lnTo>
                <a:lnTo>
                  <a:pt x="2021059" y="0"/>
                </a:lnTo>
                <a:lnTo>
                  <a:pt x="2021059" y="1"/>
                </a:lnTo>
                <a:lnTo>
                  <a:pt x="2427642" y="1"/>
                </a:lnTo>
                <a:lnTo>
                  <a:pt x="2927415" y="1066803"/>
                </a:lnTo>
                <a:lnTo>
                  <a:pt x="2932905" y="1066803"/>
                </a:lnTo>
                <a:lnTo>
                  <a:pt x="2930160" y="1072663"/>
                </a:lnTo>
                <a:lnTo>
                  <a:pt x="2932906" y="1078525"/>
                </a:lnTo>
                <a:lnTo>
                  <a:pt x="2927414" y="1078525"/>
                </a:lnTo>
                <a:lnTo>
                  <a:pt x="2427641" y="2145327"/>
                </a:lnTo>
                <a:lnTo>
                  <a:pt x="911847" y="2145327"/>
                </a:lnTo>
                <a:lnTo>
                  <a:pt x="412074" y="1078525"/>
                </a:lnTo>
                <a:lnTo>
                  <a:pt x="406583" y="1078525"/>
                </a:lnTo>
                <a:lnTo>
                  <a:pt x="406584" y="1078524"/>
                </a:lnTo>
                <a:close/>
              </a:path>
            </a:pathLst>
          </a:cu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4" name="グループ化 33"/>
          <p:cNvGrpSpPr/>
          <p:nvPr/>
        </p:nvGrpSpPr>
        <p:grpSpPr>
          <a:xfrm>
            <a:off x="3712017" y="5571916"/>
            <a:ext cx="433282" cy="491302"/>
            <a:chOff x="9124425" y="4992726"/>
            <a:chExt cx="1262223" cy="1431245"/>
          </a:xfrm>
        </p:grpSpPr>
        <p:sp>
          <p:nvSpPr>
            <p:cNvPr id="32" name="フリーフォーム 31"/>
            <p:cNvSpPr/>
            <p:nvPr/>
          </p:nvSpPr>
          <p:spPr>
            <a:xfrm rot="16200000">
              <a:off x="9119400" y="5156724"/>
              <a:ext cx="1431245" cy="1103250"/>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rgbClr val="DD55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フローチャート: 端子 32"/>
            <p:cNvSpPr/>
            <p:nvPr/>
          </p:nvSpPr>
          <p:spPr>
            <a:xfrm rot="3041615">
              <a:off x="8888542" y="5638413"/>
              <a:ext cx="789710" cy="317943"/>
            </a:xfrm>
            <a:prstGeom prst="flowChartTerminator">
              <a:avLst/>
            </a:prstGeom>
            <a:solidFill>
              <a:srgbClr val="DD55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 name="コンテンツ プレースホルダー 2"/>
          <p:cNvSpPr txBox="1">
            <a:spLocks/>
          </p:cNvSpPr>
          <p:nvPr/>
        </p:nvSpPr>
        <p:spPr>
          <a:xfrm>
            <a:off x="4268368" y="1503293"/>
            <a:ext cx="6703261" cy="15172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dirty="0" smtClean="0"/>
              <a:t>神戸市の各団体や市民から公募する。</a:t>
            </a:r>
            <a:endParaRPr lang="en-US" altLang="ja-JP" dirty="0" smtClean="0"/>
          </a:p>
          <a:p>
            <a:pPr marL="0" indent="0">
              <a:buNone/>
            </a:pPr>
            <a:r>
              <a:rPr lang="ja-JP" altLang="en-US" sz="2000" dirty="0"/>
              <a:t>　・観光</a:t>
            </a:r>
            <a:r>
              <a:rPr lang="ja-JP" altLang="en-US" sz="2000" dirty="0" smtClean="0"/>
              <a:t>ボランティア団体</a:t>
            </a:r>
            <a:endParaRPr lang="en-US" altLang="ja-JP" sz="2000" dirty="0" smtClean="0"/>
          </a:p>
          <a:p>
            <a:pPr marL="0" indent="0">
              <a:buNone/>
            </a:pPr>
            <a:r>
              <a:rPr lang="ja-JP" altLang="en-US" sz="2000" dirty="0"/>
              <a:t>　・神戸市商店街の各組合</a:t>
            </a:r>
            <a:endParaRPr lang="en-US" altLang="ja-JP" sz="2000" dirty="0"/>
          </a:p>
          <a:p>
            <a:pPr marL="0" indent="0">
              <a:buNone/>
            </a:pPr>
            <a:r>
              <a:rPr lang="ja-JP" altLang="en-US" sz="2000" dirty="0"/>
              <a:t>　</a:t>
            </a:r>
            <a:r>
              <a:rPr lang="ja-JP" altLang="en-US" sz="2000" dirty="0" smtClean="0"/>
              <a:t>・神戸市広報誌</a:t>
            </a:r>
            <a:endParaRPr lang="ja-JP" altLang="en-US" sz="2000" dirty="0"/>
          </a:p>
        </p:txBody>
      </p:sp>
      <p:sp>
        <p:nvSpPr>
          <p:cNvPr id="37" name="コンテンツ プレースホルダー 2"/>
          <p:cNvSpPr txBox="1">
            <a:spLocks/>
          </p:cNvSpPr>
          <p:nvPr/>
        </p:nvSpPr>
        <p:spPr>
          <a:xfrm>
            <a:off x="4219439" y="5028022"/>
            <a:ext cx="6822831" cy="5012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dirty="0" smtClean="0"/>
              <a:t>観光案内所、駅等に巨大なサイネージを設置し情報検索できるようにする。</a:t>
            </a:r>
            <a:r>
              <a:rPr lang="en-US" altLang="ja-JP" dirty="0"/>
              <a:t/>
            </a:r>
            <a:br>
              <a:rPr lang="en-US" altLang="ja-JP" dirty="0"/>
            </a:br>
            <a:r>
              <a:rPr lang="ja-JP" altLang="en-US" dirty="0" smtClean="0"/>
              <a:t>その中でアプリの存在を知らせる。</a:t>
            </a:r>
            <a:endParaRPr lang="en-US" altLang="ja-JP" dirty="0"/>
          </a:p>
        </p:txBody>
      </p:sp>
      <p:sp>
        <p:nvSpPr>
          <p:cNvPr id="43" name="コンテンツ プレースホルダー 2"/>
          <p:cNvSpPr txBox="1">
            <a:spLocks/>
          </p:cNvSpPr>
          <p:nvPr/>
        </p:nvSpPr>
        <p:spPr>
          <a:xfrm>
            <a:off x="3453527" y="5074252"/>
            <a:ext cx="637826" cy="282902"/>
          </a:xfrm>
          <a:prstGeom prst="rect">
            <a:avLst/>
          </a:prstGeom>
          <a:scene3d>
            <a:camera prst="isometricOffAxis2Left"/>
            <a:lightRig rig="threePt" dir="t"/>
          </a:scene3d>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600" dirty="0" smtClean="0">
                <a:solidFill>
                  <a:srgbClr val="DA4A4A"/>
                </a:solidFill>
                <a:latin typeface="Britannic Bold" panose="020B0903060703020204" pitchFamily="34" charset="0"/>
              </a:rPr>
              <a:t>Info</a:t>
            </a:r>
            <a:endParaRPr lang="en-US" altLang="ja-JP" sz="1600" dirty="0">
              <a:solidFill>
                <a:srgbClr val="DA4A4A"/>
              </a:solidFill>
              <a:latin typeface="Britannic Bold" panose="020B0903060703020204" pitchFamily="34" charset="0"/>
            </a:endParaRPr>
          </a:p>
        </p:txBody>
      </p:sp>
      <p:sp>
        <p:nvSpPr>
          <p:cNvPr id="22" name="フリーフォーム 21"/>
          <p:cNvSpPr/>
          <p:nvPr/>
        </p:nvSpPr>
        <p:spPr>
          <a:xfrm rot="16200000">
            <a:off x="3707825" y="2036751"/>
            <a:ext cx="491302" cy="378712"/>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rgbClr val="DD55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4" name="グループ化 23"/>
          <p:cNvGrpSpPr/>
          <p:nvPr/>
        </p:nvGrpSpPr>
        <p:grpSpPr>
          <a:xfrm flipH="1">
            <a:off x="3122901" y="1980455"/>
            <a:ext cx="433282" cy="491302"/>
            <a:chOff x="9124425" y="4992726"/>
            <a:chExt cx="1262223" cy="1431245"/>
          </a:xfrm>
        </p:grpSpPr>
        <p:sp>
          <p:nvSpPr>
            <p:cNvPr id="25" name="フリーフォーム 24"/>
            <p:cNvSpPr/>
            <p:nvPr/>
          </p:nvSpPr>
          <p:spPr>
            <a:xfrm rot="16200000">
              <a:off x="9119400" y="5156724"/>
              <a:ext cx="1431245" cy="1103250"/>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rgbClr val="DD55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フローチャート: 端子 32"/>
            <p:cNvSpPr/>
            <p:nvPr/>
          </p:nvSpPr>
          <p:spPr>
            <a:xfrm rot="3041615">
              <a:off x="8888542" y="5638413"/>
              <a:ext cx="789710" cy="317943"/>
            </a:xfrm>
            <a:prstGeom prst="flowChartTerminator">
              <a:avLst/>
            </a:prstGeom>
            <a:solidFill>
              <a:srgbClr val="DD55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 name="二等辺三角形 2"/>
          <p:cNvSpPr/>
          <p:nvPr/>
        </p:nvSpPr>
        <p:spPr>
          <a:xfrm rot="12000000">
            <a:off x="3514471" y="1878460"/>
            <a:ext cx="45719" cy="123476"/>
          </a:xfrm>
          <a:prstGeom prst="triangle">
            <a:avLst/>
          </a:prstGeom>
          <a:solidFill>
            <a:srgbClr val="DA4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二等辺三角形 26"/>
          <p:cNvSpPr/>
          <p:nvPr/>
        </p:nvSpPr>
        <p:spPr>
          <a:xfrm rot="14100000">
            <a:off x="3617634" y="1932597"/>
            <a:ext cx="45719" cy="123476"/>
          </a:xfrm>
          <a:prstGeom prst="triangle">
            <a:avLst/>
          </a:prstGeom>
          <a:solidFill>
            <a:srgbClr val="DA4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二等辺三角形 28"/>
          <p:cNvSpPr/>
          <p:nvPr/>
        </p:nvSpPr>
        <p:spPr>
          <a:xfrm rot="15600000">
            <a:off x="3652427" y="2061432"/>
            <a:ext cx="45719" cy="123476"/>
          </a:xfrm>
          <a:prstGeom prst="triangle">
            <a:avLst/>
          </a:prstGeom>
          <a:solidFill>
            <a:srgbClr val="DA4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p:cNvSpPr/>
          <p:nvPr/>
        </p:nvSpPr>
        <p:spPr>
          <a:xfrm>
            <a:off x="102329" y="6347993"/>
            <a:ext cx="8709436" cy="430887"/>
          </a:xfrm>
          <a:prstGeom prst="rect">
            <a:avLst/>
          </a:prstGeom>
        </p:spPr>
        <p:txBody>
          <a:bodyPr wrap="none">
            <a:spAutoFit/>
          </a:bodyPr>
          <a:lstStyle/>
          <a:p>
            <a:pPr marL="263525" indent="-263525"/>
            <a:r>
              <a:rPr lang="en-US" altLang="ja-JP" sz="1100" dirty="0" smtClean="0"/>
              <a:t>※</a:t>
            </a:r>
            <a:r>
              <a:rPr lang="en-US" altLang="ja-JP" sz="1100" dirty="0"/>
              <a:t>3</a:t>
            </a:r>
            <a:r>
              <a:rPr lang="en-US" altLang="ja-JP" sz="1100" dirty="0" smtClean="0"/>
              <a:t>:</a:t>
            </a:r>
            <a:r>
              <a:rPr lang="ja-JP" altLang="en-US" sz="1100" dirty="0"/>
              <a:t>平成</a:t>
            </a:r>
            <a:r>
              <a:rPr lang="en-US" altLang="ja-JP" sz="1100" dirty="0"/>
              <a:t>24</a:t>
            </a:r>
            <a:r>
              <a:rPr lang="ja-JP" altLang="en-US" sz="1100" dirty="0"/>
              <a:t>年度神戸市観光動向調査結果について </a:t>
            </a:r>
            <a:r>
              <a:rPr lang="en-US" altLang="ja-JP" sz="1100" dirty="0"/>
              <a:t>- </a:t>
            </a:r>
            <a:r>
              <a:rPr lang="en-US" altLang="ja-JP" sz="1100" dirty="0" smtClean="0">
                <a:hlinkClick r:id="rId3"/>
              </a:rPr>
              <a:t>http</a:t>
            </a:r>
            <a:r>
              <a:rPr lang="en-US" altLang="ja-JP" sz="1100" dirty="0">
                <a:hlinkClick r:id="rId3"/>
              </a:rPr>
              <a:t>://</a:t>
            </a:r>
            <a:r>
              <a:rPr lang="en-US" altLang="ja-JP" sz="1100" dirty="0" smtClean="0">
                <a:hlinkClick r:id="rId3"/>
              </a:rPr>
              <a:t>www.city.kobe.lg.jp/information/data/statistics/sightseeing/data/</a:t>
            </a:r>
            <a:r>
              <a:rPr lang="en-US" altLang="ja-JP" sz="1100" dirty="0" err="1" smtClean="0">
                <a:hlinkClick r:id="rId3"/>
              </a:rPr>
              <a:t>img</a:t>
            </a:r>
            <a:r>
              <a:rPr lang="en-US" altLang="ja-JP" sz="1100" dirty="0" smtClean="0">
                <a:hlinkClick r:id="rId3"/>
              </a:rPr>
              <a:t>/doukou24.pdf</a:t>
            </a:r>
            <a:r>
              <a:rPr lang="en-US" altLang="ja-JP" sz="1100" dirty="0" smtClean="0"/>
              <a:t/>
            </a:r>
            <a:br>
              <a:rPr lang="en-US" altLang="ja-JP" sz="1100" dirty="0" smtClean="0"/>
            </a:br>
            <a:r>
              <a:rPr lang="ja-JP" altLang="en-US" sz="1100" dirty="0" smtClean="0"/>
              <a:t>「</a:t>
            </a:r>
            <a:r>
              <a:rPr lang="en-US" altLang="ja-JP" sz="1100" dirty="0" smtClean="0"/>
              <a:t>(6)</a:t>
            </a:r>
            <a:r>
              <a:rPr lang="ja-JP" altLang="en-US" sz="1100" dirty="0" smtClean="0"/>
              <a:t>情報</a:t>
            </a:r>
            <a:r>
              <a:rPr lang="ja-JP" altLang="en-US" sz="1100" dirty="0"/>
              <a:t>収集の方法」を参照</a:t>
            </a:r>
            <a:r>
              <a:rPr lang="ja-JP" altLang="en-US" sz="1100" dirty="0" smtClean="0"/>
              <a:t>。</a:t>
            </a:r>
            <a:endParaRPr lang="ja-JP" altLang="en-US" sz="1100" dirty="0"/>
          </a:p>
        </p:txBody>
      </p:sp>
      <p:sp>
        <p:nvSpPr>
          <p:cNvPr id="5" name="正方形/長方形 4"/>
          <p:cNvSpPr/>
          <p:nvPr/>
        </p:nvSpPr>
        <p:spPr>
          <a:xfrm>
            <a:off x="1080952" y="2669918"/>
            <a:ext cx="1800493" cy="369332"/>
          </a:xfrm>
          <a:prstGeom prst="rect">
            <a:avLst/>
          </a:prstGeom>
        </p:spPr>
        <p:txBody>
          <a:bodyPr wrap="none">
            <a:spAutoFit/>
          </a:bodyPr>
          <a:lstStyle/>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ガイドに対して</a:t>
            </a:r>
            <a:endParaRPr lang="ja-JP" altLang="en-US"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1" name="正方形/長方形 30"/>
          <p:cNvSpPr/>
          <p:nvPr/>
        </p:nvSpPr>
        <p:spPr>
          <a:xfrm>
            <a:off x="1065767" y="4566915"/>
            <a:ext cx="1800493" cy="369332"/>
          </a:xfrm>
          <a:prstGeom prst="rect">
            <a:avLst/>
          </a:prstGeom>
        </p:spPr>
        <p:txBody>
          <a:bodyPr wrap="none">
            <a:spAutoFit/>
          </a:bodyPr>
          <a:lstStyle/>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旅行者</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に対して</a:t>
            </a:r>
            <a:endParaRPr lang="ja-JP" altLang="en-US"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1038143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アプリの良さを知ってもらう</a:t>
            </a:r>
            <a:endParaRPr kumimoji="1" lang="ja-JP" altLang="en-US" dirty="0"/>
          </a:p>
        </p:txBody>
      </p:sp>
      <p:grpSp>
        <p:nvGrpSpPr>
          <p:cNvPr id="4" name="グループ化 3"/>
          <p:cNvGrpSpPr/>
          <p:nvPr/>
        </p:nvGrpSpPr>
        <p:grpSpPr>
          <a:xfrm>
            <a:off x="1465385" y="3290697"/>
            <a:ext cx="2497015" cy="2497015"/>
            <a:chOff x="1465385" y="2297723"/>
            <a:chExt cx="2497015" cy="2497015"/>
          </a:xfrm>
        </p:grpSpPr>
        <p:sp>
          <p:nvSpPr>
            <p:cNvPr id="5" name="円/楕円 4"/>
            <p:cNvSpPr/>
            <p:nvPr/>
          </p:nvSpPr>
          <p:spPr>
            <a:xfrm>
              <a:off x="1465385" y="2297723"/>
              <a:ext cx="2497015" cy="2497015"/>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フリーフォーム 6"/>
            <p:cNvSpPr/>
            <p:nvPr/>
          </p:nvSpPr>
          <p:spPr>
            <a:xfrm rot="16200000">
              <a:off x="2162907" y="3024553"/>
              <a:ext cx="1125416" cy="867508"/>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 name="グループ化 2"/>
          <p:cNvGrpSpPr/>
          <p:nvPr/>
        </p:nvGrpSpPr>
        <p:grpSpPr>
          <a:xfrm>
            <a:off x="7549662" y="3290697"/>
            <a:ext cx="2497015" cy="2497015"/>
            <a:chOff x="7549662" y="2297723"/>
            <a:chExt cx="2497015" cy="2497015"/>
          </a:xfrm>
        </p:grpSpPr>
        <p:sp>
          <p:nvSpPr>
            <p:cNvPr id="6" name="円/楕円 5"/>
            <p:cNvSpPr/>
            <p:nvPr/>
          </p:nvSpPr>
          <p:spPr>
            <a:xfrm>
              <a:off x="7549662" y="2297723"/>
              <a:ext cx="2497015" cy="2497015"/>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フリーフォーム 7"/>
            <p:cNvSpPr/>
            <p:nvPr/>
          </p:nvSpPr>
          <p:spPr>
            <a:xfrm rot="16200000">
              <a:off x="8235461" y="3024552"/>
              <a:ext cx="1125416" cy="867508"/>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Picture 2" descr="https://upload.wikimedia.org/wikipedia/commons/thumb/b/b4/Emblem_of_Kobe,_Hyogo.svg/200px-Emblem_of_Kobe,_Hyogo.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77250" y="3449170"/>
              <a:ext cx="641837" cy="641837"/>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0" name="直線矢印コネクタ 9"/>
          <p:cNvCxnSpPr/>
          <p:nvPr/>
        </p:nvCxnSpPr>
        <p:spPr>
          <a:xfrm>
            <a:off x="4243753" y="4216818"/>
            <a:ext cx="3118339" cy="0"/>
          </a:xfrm>
          <a:prstGeom prst="straightConnector1">
            <a:avLst/>
          </a:prstGeom>
          <a:ln w="82550">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p:nvPr/>
        </p:nvCxnSpPr>
        <p:spPr>
          <a:xfrm flipH="1">
            <a:off x="4243753" y="4848399"/>
            <a:ext cx="3118338" cy="0"/>
          </a:xfrm>
          <a:prstGeom prst="straightConnector1">
            <a:avLst/>
          </a:prstGeom>
          <a:ln w="82550">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コンテンツ プレースホルダー 2"/>
          <p:cNvSpPr>
            <a:spLocks noGrp="1"/>
          </p:cNvSpPr>
          <p:nvPr>
            <p:ph idx="1"/>
          </p:nvPr>
        </p:nvSpPr>
        <p:spPr>
          <a:xfrm>
            <a:off x="3838874" y="3308264"/>
            <a:ext cx="2826130" cy="501220"/>
          </a:xfrm>
        </p:spPr>
        <p:txBody>
          <a:bodyPr>
            <a:noAutofit/>
          </a:bodyPr>
          <a:lstStyle/>
          <a:p>
            <a:pPr marL="0" indent="0">
              <a:buNone/>
            </a:pPr>
            <a:r>
              <a:rPr lang="ja-JP" altLang="en-US" dirty="0" smtClean="0"/>
              <a:t>ガイドを申込む</a:t>
            </a:r>
            <a:endParaRPr lang="en-US" altLang="ja-JP" dirty="0" smtClean="0"/>
          </a:p>
        </p:txBody>
      </p:sp>
      <p:grpSp>
        <p:nvGrpSpPr>
          <p:cNvPr id="17" name="グループ化 16"/>
          <p:cNvGrpSpPr/>
          <p:nvPr/>
        </p:nvGrpSpPr>
        <p:grpSpPr>
          <a:xfrm>
            <a:off x="5323742" y="3888572"/>
            <a:ext cx="936381" cy="1351476"/>
            <a:chOff x="4243753" y="4513385"/>
            <a:chExt cx="1137139" cy="1641230"/>
          </a:xfrm>
        </p:grpSpPr>
        <p:sp>
          <p:nvSpPr>
            <p:cNvPr id="14" name="角丸四角形 13"/>
            <p:cNvSpPr/>
            <p:nvPr/>
          </p:nvSpPr>
          <p:spPr>
            <a:xfrm>
              <a:off x="4243753" y="4513385"/>
              <a:ext cx="1137139" cy="1641230"/>
            </a:xfrm>
            <a:prstGeom prst="roundRect">
              <a:avLst>
                <a:gd name="adj" fmla="val 4472"/>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フローチャート: 処理 14"/>
            <p:cNvSpPr/>
            <p:nvPr/>
          </p:nvSpPr>
          <p:spPr>
            <a:xfrm>
              <a:off x="4325815" y="4607169"/>
              <a:ext cx="949570" cy="1242646"/>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円/楕円 15"/>
            <p:cNvSpPr/>
            <p:nvPr/>
          </p:nvSpPr>
          <p:spPr>
            <a:xfrm>
              <a:off x="4712675" y="5908430"/>
              <a:ext cx="199293" cy="1875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8" name="コンテンツ プレースホルダー 2"/>
          <p:cNvSpPr txBox="1">
            <a:spLocks/>
          </p:cNvSpPr>
          <p:nvPr/>
        </p:nvSpPr>
        <p:spPr>
          <a:xfrm>
            <a:off x="3962400" y="5403281"/>
            <a:ext cx="4003866" cy="5012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dirty="0" smtClean="0"/>
              <a:t>チャット、もしくは</a:t>
            </a:r>
            <a:r>
              <a:rPr lang="en-US" altLang="ja-JP" dirty="0"/>
              <a:t/>
            </a:r>
            <a:br>
              <a:rPr lang="en-US" altLang="ja-JP" dirty="0"/>
            </a:br>
            <a:r>
              <a:rPr lang="ja-JP" altLang="en-US" dirty="0" smtClean="0"/>
              <a:t>直接会ってガイドする</a:t>
            </a:r>
            <a:endParaRPr lang="en-US" altLang="ja-JP" dirty="0"/>
          </a:p>
        </p:txBody>
      </p:sp>
      <p:sp>
        <p:nvSpPr>
          <p:cNvPr id="19" name="コンテンツ プレースホルダー 2"/>
          <p:cNvSpPr txBox="1">
            <a:spLocks/>
          </p:cNvSpPr>
          <p:nvPr/>
        </p:nvSpPr>
        <p:spPr>
          <a:xfrm>
            <a:off x="1310878" y="1577301"/>
            <a:ext cx="9119481" cy="5012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2400" dirty="0" smtClean="0"/>
              <a:t>・ガイド情報の検索だけでなく、気になるガイド情報を記載している方に質問をしたり、直接ガイドを申し込める仕組みにする。これにより、情報誌等で得られない自分の知りたい情報を得ることができ、ガイドも独自の情報を提供できるようになる。</a:t>
            </a:r>
            <a:endParaRPr lang="en-US" altLang="ja-JP" sz="2400" dirty="0"/>
          </a:p>
        </p:txBody>
      </p:sp>
    </p:spTree>
    <p:extLst>
      <p:ext uri="{BB962C8B-B14F-4D97-AF65-F5344CB8AC3E}">
        <p14:creationId xmlns:p14="http://schemas.microsoft.com/office/powerpoint/2010/main" val="42890323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アプリを使い続けてもらう</a:t>
            </a:r>
            <a:endParaRPr kumimoji="1" lang="ja-JP" altLang="en-US" dirty="0"/>
          </a:p>
        </p:txBody>
      </p:sp>
      <p:sp>
        <p:nvSpPr>
          <p:cNvPr id="4" name="円/楕円 3"/>
          <p:cNvSpPr/>
          <p:nvPr/>
        </p:nvSpPr>
        <p:spPr>
          <a:xfrm>
            <a:off x="573050" y="3906371"/>
            <a:ext cx="2497015" cy="2497015"/>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円/楕円 4"/>
          <p:cNvSpPr/>
          <p:nvPr/>
        </p:nvSpPr>
        <p:spPr>
          <a:xfrm>
            <a:off x="4456812" y="3906371"/>
            <a:ext cx="2497015" cy="2497015"/>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フリーフォーム 5"/>
          <p:cNvSpPr/>
          <p:nvPr/>
        </p:nvSpPr>
        <p:spPr>
          <a:xfrm rot="16200000">
            <a:off x="1270572" y="4633201"/>
            <a:ext cx="1125416" cy="867508"/>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フリーフォーム 6"/>
          <p:cNvSpPr/>
          <p:nvPr/>
        </p:nvSpPr>
        <p:spPr>
          <a:xfrm rot="16200000">
            <a:off x="5142611" y="4633200"/>
            <a:ext cx="1125416" cy="867508"/>
          </a:xfrm>
          <a:custGeom>
            <a:avLst/>
            <a:gdLst>
              <a:gd name="connsiteX0" fmla="*/ 1125416 w 1125416"/>
              <a:gd name="connsiteY0" fmla="*/ 433755 h 867508"/>
              <a:gd name="connsiteX1" fmla="*/ 814754 w 1125416"/>
              <a:gd name="connsiteY1" fmla="*/ 744417 h 867508"/>
              <a:gd name="connsiteX2" fmla="*/ 557148 w 1125416"/>
              <a:gd name="connsiteY2" fmla="*/ 607449 h 867508"/>
              <a:gd name="connsiteX3" fmla="*/ 544363 w 1125416"/>
              <a:gd name="connsiteY3" fmla="*/ 583894 h 867508"/>
              <a:gd name="connsiteX4" fmla="*/ 540598 w 1125416"/>
              <a:gd name="connsiteY4" fmla="*/ 602591 h 867508"/>
              <a:gd name="connsiteX5" fmla="*/ 281354 w 1125416"/>
              <a:gd name="connsiteY5" fmla="*/ 867508 h 867508"/>
              <a:gd name="connsiteX6" fmla="*/ 0 w 1125416"/>
              <a:gd name="connsiteY6" fmla="*/ 867507 h 867508"/>
              <a:gd name="connsiteX7" fmla="*/ 0 w 1125416"/>
              <a:gd name="connsiteY7" fmla="*/ 0 h 867508"/>
              <a:gd name="connsiteX8" fmla="*/ 281354 w 1125416"/>
              <a:gd name="connsiteY8" fmla="*/ 0 h 867508"/>
              <a:gd name="connsiteX9" fmla="*/ 540598 w 1125416"/>
              <a:gd name="connsiteY9" fmla="*/ 264917 h 867508"/>
              <a:gd name="connsiteX10" fmla="*/ 544363 w 1125416"/>
              <a:gd name="connsiteY10" fmla="*/ 283615 h 867508"/>
              <a:gd name="connsiteX11" fmla="*/ 557148 w 1125416"/>
              <a:gd name="connsiteY11" fmla="*/ 260060 h 867508"/>
              <a:gd name="connsiteX12" fmla="*/ 814754 w 1125416"/>
              <a:gd name="connsiteY12" fmla="*/ 123093 h 867508"/>
              <a:gd name="connsiteX13" fmla="*/ 1125416 w 1125416"/>
              <a:gd name="connsiteY13" fmla="*/ 433755 h 86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416" h="867508">
                <a:moveTo>
                  <a:pt x="1125416" y="433755"/>
                </a:moveTo>
                <a:cubicBezTo>
                  <a:pt x="1125416" y="605329"/>
                  <a:pt x="986328" y="744417"/>
                  <a:pt x="814754" y="744417"/>
                </a:cubicBezTo>
                <a:cubicBezTo>
                  <a:pt x="707520" y="744417"/>
                  <a:pt x="612976" y="690085"/>
                  <a:pt x="557148" y="607449"/>
                </a:cubicBezTo>
                <a:lnTo>
                  <a:pt x="544363" y="583894"/>
                </a:lnTo>
                <a:lnTo>
                  <a:pt x="540598" y="602591"/>
                </a:lnTo>
                <a:cubicBezTo>
                  <a:pt x="497886" y="758272"/>
                  <a:pt x="397895" y="867508"/>
                  <a:pt x="281354" y="867508"/>
                </a:cubicBezTo>
                <a:lnTo>
                  <a:pt x="0" y="867507"/>
                </a:lnTo>
                <a:lnTo>
                  <a:pt x="0" y="0"/>
                </a:lnTo>
                <a:lnTo>
                  <a:pt x="281354" y="0"/>
                </a:lnTo>
                <a:cubicBezTo>
                  <a:pt x="397895" y="0"/>
                  <a:pt x="497886" y="109237"/>
                  <a:pt x="540598" y="264917"/>
                </a:cubicBezTo>
                <a:lnTo>
                  <a:pt x="544363" y="283615"/>
                </a:lnTo>
                <a:lnTo>
                  <a:pt x="557148" y="260060"/>
                </a:lnTo>
                <a:cubicBezTo>
                  <a:pt x="612976" y="177424"/>
                  <a:pt x="707520" y="123093"/>
                  <a:pt x="814754" y="123093"/>
                </a:cubicBezTo>
                <a:cubicBezTo>
                  <a:pt x="986328" y="123093"/>
                  <a:pt x="1125416" y="262181"/>
                  <a:pt x="1125416" y="43375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Picture 2" descr="https://upload.wikimedia.org/wikipedia/commons/thumb/b/b4/Emblem_of_Kobe,_Hyogo.svg/200px-Emblem_of_Kobe,_Hyogo.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12361" y="5057818"/>
            <a:ext cx="641837" cy="641837"/>
          </a:xfrm>
          <a:prstGeom prst="rect">
            <a:avLst/>
          </a:prstGeom>
          <a:noFill/>
          <a:extLst>
            <a:ext uri="{909E8E84-426E-40DD-AFC4-6F175D3DCCD1}">
              <a14:hiddenFill xmlns:a14="http://schemas.microsoft.com/office/drawing/2010/main">
                <a:solidFill>
                  <a:srgbClr val="FFFFFF"/>
                </a:solidFill>
              </a14:hiddenFill>
            </a:ext>
          </a:extLst>
        </p:spPr>
      </p:pic>
      <p:sp>
        <p:nvSpPr>
          <p:cNvPr id="12" name="フローチャート: 磁気ディスク 11"/>
          <p:cNvSpPr/>
          <p:nvPr/>
        </p:nvSpPr>
        <p:spPr>
          <a:xfrm>
            <a:off x="2955141" y="1564074"/>
            <a:ext cx="1641231" cy="1796064"/>
          </a:xfrm>
          <a:prstGeom prst="flowChartMagneticDisk">
            <a:avLst/>
          </a:prstGeom>
          <a:solidFill>
            <a:srgbClr val="E57F7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p:cNvGrpSpPr/>
          <p:nvPr/>
        </p:nvGrpSpPr>
        <p:grpSpPr>
          <a:xfrm>
            <a:off x="2341170" y="4678469"/>
            <a:ext cx="579558" cy="836474"/>
            <a:chOff x="4243753" y="4513385"/>
            <a:chExt cx="1137139" cy="1641230"/>
          </a:xfrm>
        </p:grpSpPr>
        <p:sp>
          <p:nvSpPr>
            <p:cNvPr id="14" name="角丸四角形 13"/>
            <p:cNvSpPr/>
            <p:nvPr/>
          </p:nvSpPr>
          <p:spPr>
            <a:xfrm>
              <a:off x="4243753" y="4513385"/>
              <a:ext cx="1137139" cy="1641230"/>
            </a:xfrm>
            <a:prstGeom prst="roundRect">
              <a:avLst>
                <a:gd name="adj" fmla="val 4472"/>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フローチャート: 処理 14"/>
            <p:cNvSpPr/>
            <p:nvPr/>
          </p:nvSpPr>
          <p:spPr>
            <a:xfrm>
              <a:off x="4325815" y="4607169"/>
              <a:ext cx="949570" cy="1242646"/>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円/楕円 15"/>
            <p:cNvSpPr/>
            <p:nvPr/>
          </p:nvSpPr>
          <p:spPr>
            <a:xfrm>
              <a:off x="4712675" y="5908430"/>
              <a:ext cx="199293" cy="1875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 name="グループ化 16"/>
          <p:cNvGrpSpPr/>
          <p:nvPr/>
        </p:nvGrpSpPr>
        <p:grpSpPr>
          <a:xfrm>
            <a:off x="4652442" y="4678469"/>
            <a:ext cx="579558" cy="836474"/>
            <a:chOff x="4243753" y="4513385"/>
            <a:chExt cx="1137139" cy="1641230"/>
          </a:xfrm>
        </p:grpSpPr>
        <p:sp>
          <p:nvSpPr>
            <p:cNvPr id="18" name="角丸四角形 17"/>
            <p:cNvSpPr/>
            <p:nvPr/>
          </p:nvSpPr>
          <p:spPr>
            <a:xfrm>
              <a:off x="4243753" y="4513385"/>
              <a:ext cx="1137139" cy="1641230"/>
            </a:xfrm>
            <a:prstGeom prst="roundRect">
              <a:avLst>
                <a:gd name="adj" fmla="val 4472"/>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フローチャート: 処理 18"/>
            <p:cNvSpPr/>
            <p:nvPr/>
          </p:nvSpPr>
          <p:spPr>
            <a:xfrm>
              <a:off x="4325815" y="4607169"/>
              <a:ext cx="949570" cy="1242646"/>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p:nvSpPr>
          <p:spPr>
            <a:xfrm>
              <a:off x="4712675" y="5908430"/>
              <a:ext cx="199293" cy="1875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2" name="右矢印 21"/>
          <p:cNvSpPr/>
          <p:nvPr/>
        </p:nvSpPr>
        <p:spPr>
          <a:xfrm rot="7945896">
            <a:off x="2474217" y="3311616"/>
            <a:ext cx="669658" cy="822268"/>
          </a:xfrm>
          <a:prstGeom prst="rightArrow">
            <a:avLst>
              <a:gd name="adj1" fmla="val 50000"/>
              <a:gd name="adj2" fmla="val 68504"/>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p:cNvSpPr txBox="1"/>
          <p:nvPr/>
        </p:nvSpPr>
        <p:spPr>
          <a:xfrm>
            <a:off x="3236096" y="2176756"/>
            <a:ext cx="1156607" cy="1015663"/>
          </a:xfrm>
          <a:prstGeom prst="rect">
            <a:avLst/>
          </a:prstGeom>
          <a:noFill/>
        </p:spPr>
        <p:txBody>
          <a:bodyPr wrap="square" rtlCol="0">
            <a:spAutoFit/>
          </a:bodyPr>
          <a:lstStyle/>
          <a:p>
            <a:r>
              <a:rPr kumimoji="1" lang="en-US" altLang="ja-JP" sz="2000"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Kobe</a:t>
            </a:r>
          </a:p>
          <a:p>
            <a:r>
              <a:rPr lang="en-US" altLang="ja-JP" sz="2000"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Street</a:t>
            </a:r>
          </a:p>
          <a:p>
            <a:r>
              <a:rPr kumimoji="1" lang="en-US" altLang="ja-JP" sz="2000"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Adviser</a:t>
            </a:r>
            <a:endParaRPr kumimoji="1" lang="ja-JP" altLang="en-US" sz="20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9" name="右矢印 38"/>
          <p:cNvSpPr/>
          <p:nvPr/>
        </p:nvSpPr>
        <p:spPr>
          <a:xfrm>
            <a:off x="3479571" y="4686602"/>
            <a:ext cx="669658" cy="822268"/>
          </a:xfrm>
          <a:prstGeom prst="rightArrow">
            <a:avLst>
              <a:gd name="adj1" fmla="val 50000"/>
              <a:gd name="adj2" fmla="val 68504"/>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右矢印 39"/>
          <p:cNvSpPr/>
          <p:nvPr/>
        </p:nvSpPr>
        <p:spPr>
          <a:xfrm rot="13486670">
            <a:off x="4314755" y="3222121"/>
            <a:ext cx="669658" cy="822268"/>
          </a:xfrm>
          <a:prstGeom prst="rightArrow">
            <a:avLst>
              <a:gd name="adj1" fmla="val 50000"/>
              <a:gd name="adj2" fmla="val 68504"/>
            </a:avLst>
          </a:prstGeom>
          <a:solidFill>
            <a:srgbClr val="E5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p:cNvSpPr txBox="1"/>
          <p:nvPr/>
        </p:nvSpPr>
        <p:spPr>
          <a:xfrm>
            <a:off x="3502310" y="4927807"/>
            <a:ext cx="609600" cy="461665"/>
          </a:xfrm>
          <a:prstGeom prst="rect">
            <a:avLst/>
          </a:prstGeom>
          <a:noFill/>
        </p:spPr>
        <p:txBody>
          <a:bodyPr wrap="square" rtlCol="0">
            <a:spAutoFit/>
          </a:bodyPr>
          <a:lstStyle/>
          <a:p>
            <a:r>
              <a:rPr lang="ja-JP" altLang="en-US" sz="2400" dirty="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②</a:t>
            </a:r>
            <a:endParaRPr kumimoji="1" lang="ja-JP" altLang="en-US" sz="2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8" name="テキスト ボックス 37"/>
          <p:cNvSpPr txBox="1"/>
          <p:nvPr/>
        </p:nvSpPr>
        <p:spPr>
          <a:xfrm>
            <a:off x="4459723" y="3486152"/>
            <a:ext cx="609600" cy="461665"/>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③</a:t>
            </a:r>
            <a:endParaRPr kumimoji="1" lang="ja-JP" altLang="en-US" sz="2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1" name="コンテンツ プレースホルダー 2"/>
          <p:cNvSpPr>
            <a:spLocks noGrp="1"/>
          </p:cNvSpPr>
          <p:nvPr>
            <p:ph idx="1"/>
          </p:nvPr>
        </p:nvSpPr>
        <p:spPr>
          <a:xfrm>
            <a:off x="7288318" y="1520829"/>
            <a:ext cx="3867747" cy="3838769"/>
          </a:xfrm>
        </p:spPr>
        <p:txBody>
          <a:bodyPr>
            <a:noAutofit/>
          </a:bodyPr>
          <a:lstStyle/>
          <a:p>
            <a:pPr marL="269875" indent="-269875">
              <a:buNone/>
            </a:pPr>
            <a:r>
              <a:rPr lang="ja-JP" altLang="en-US" sz="2400" dirty="0" smtClean="0"/>
              <a:t>①システムは情報を</a:t>
            </a:r>
            <a:r>
              <a:rPr lang="en-US" altLang="ja-JP" sz="2400" dirty="0" smtClean="0"/>
              <a:t>API</a:t>
            </a:r>
            <a:r>
              <a:rPr lang="ja-JP" altLang="en-US" sz="2400" dirty="0" smtClean="0"/>
              <a:t>や場合によってはクロールして取得し、新しい情報をボランティアに提供。</a:t>
            </a:r>
            <a:endParaRPr lang="en-US" altLang="ja-JP" sz="2400" dirty="0" smtClean="0"/>
          </a:p>
          <a:p>
            <a:pPr marL="269875" indent="-269875">
              <a:buNone/>
            </a:pPr>
            <a:r>
              <a:rPr lang="ja-JP" altLang="en-US" sz="2400" dirty="0" smtClean="0"/>
              <a:t>②ボランティアは得られた情報や自分が新たに発掘した情報を基に旅行者にプッシュ配信。場合によって「いいね」等の評価を与え、モチベーションを上げる。</a:t>
            </a:r>
            <a:endParaRPr lang="en-US" altLang="ja-JP" sz="2400" dirty="0" smtClean="0"/>
          </a:p>
          <a:p>
            <a:pPr marL="269875" indent="-269875">
              <a:buNone/>
            </a:pPr>
            <a:r>
              <a:rPr lang="ja-JP" altLang="en-US" sz="2400" dirty="0" smtClean="0"/>
              <a:t>③旅行者はプッシュ配信情報を基に周辺情報を検索。</a:t>
            </a:r>
            <a:endParaRPr lang="en-US" altLang="ja-JP" sz="2400" dirty="0" smtClean="0"/>
          </a:p>
        </p:txBody>
      </p:sp>
      <p:sp>
        <p:nvSpPr>
          <p:cNvPr id="42" name="右矢印吹き出し 41"/>
          <p:cNvSpPr/>
          <p:nvPr/>
        </p:nvSpPr>
        <p:spPr>
          <a:xfrm rot="19625433">
            <a:off x="514160" y="5501085"/>
            <a:ext cx="824435" cy="737512"/>
          </a:xfrm>
          <a:prstGeom prst="rightArrowCallou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p:cNvSpPr txBox="1"/>
          <p:nvPr/>
        </p:nvSpPr>
        <p:spPr>
          <a:xfrm>
            <a:off x="2580162" y="3486152"/>
            <a:ext cx="609600" cy="461665"/>
          </a:xfrm>
          <a:prstGeom prst="rect">
            <a:avLst/>
          </a:prstGeom>
          <a:noFill/>
        </p:spPr>
        <p:txBody>
          <a:bodyPr wrap="square" rtlCol="0">
            <a:spAutoFit/>
          </a:bodyPr>
          <a:lstStyle/>
          <a:p>
            <a:r>
              <a:rPr lang="ja-JP" altLang="en-US" sz="2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①</a:t>
            </a:r>
            <a:endParaRPr kumimoji="1" lang="ja-JP" altLang="en-US" sz="2400"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フローチャート : 論理積ゲート 8"/>
          <p:cNvSpPr/>
          <p:nvPr/>
        </p:nvSpPr>
        <p:spPr>
          <a:xfrm>
            <a:off x="670751" y="5651619"/>
            <a:ext cx="353327" cy="512643"/>
          </a:xfrm>
          <a:custGeom>
            <a:avLst/>
            <a:gdLst/>
            <a:ahLst/>
            <a:cxnLst/>
            <a:rect l="l" t="t" r="r" b="b"/>
            <a:pathLst>
              <a:path w="909425" h="1319485">
                <a:moveTo>
                  <a:pt x="323503" y="0"/>
                </a:moveTo>
                <a:cubicBezTo>
                  <a:pt x="401962" y="0"/>
                  <a:pt x="468588" y="103665"/>
                  <a:pt x="480115" y="243677"/>
                </a:cubicBezTo>
                <a:cubicBezTo>
                  <a:pt x="484606" y="298228"/>
                  <a:pt x="480205" y="353202"/>
                  <a:pt x="466972" y="402065"/>
                </a:cubicBezTo>
                <a:lnTo>
                  <a:pt x="621189" y="402065"/>
                </a:lnTo>
                <a:lnTo>
                  <a:pt x="678339" y="402065"/>
                </a:lnTo>
                <a:lnTo>
                  <a:pt x="755782" y="402065"/>
                </a:lnTo>
                <a:cubicBezTo>
                  <a:pt x="830116" y="402065"/>
                  <a:pt x="890375" y="460768"/>
                  <a:pt x="890375" y="533181"/>
                </a:cubicBezTo>
                <a:cubicBezTo>
                  <a:pt x="890375" y="605592"/>
                  <a:pt x="830119" y="664294"/>
                  <a:pt x="755787" y="664296"/>
                </a:cubicBezTo>
                <a:lnTo>
                  <a:pt x="774832" y="664296"/>
                </a:lnTo>
                <a:cubicBezTo>
                  <a:pt x="849166" y="664296"/>
                  <a:pt x="909425" y="722999"/>
                  <a:pt x="909425" y="795412"/>
                </a:cubicBezTo>
                <a:cubicBezTo>
                  <a:pt x="909425" y="867825"/>
                  <a:pt x="849166" y="926528"/>
                  <a:pt x="774832" y="926528"/>
                </a:cubicBezTo>
                <a:lnTo>
                  <a:pt x="685488" y="926527"/>
                </a:lnTo>
                <a:cubicBezTo>
                  <a:pt x="750672" y="929398"/>
                  <a:pt x="801962" y="976004"/>
                  <a:pt x="801962" y="1032879"/>
                </a:cubicBezTo>
                <a:cubicBezTo>
                  <a:pt x="801962" y="1092526"/>
                  <a:pt x="745550" y="1140879"/>
                  <a:pt x="675962" y="1140879"/>
                </a:cubicBezTo>
                <a:lnTo>
                  <a:pt x="621932" y="1140879"/>
                </a:lnTo>
                <a:cubicBezTo>
                  <a:pt x="677745" y="1143306"/>
                  <a:pt x="721646" y="1182123"/>
                  <a:pt x="721646" y="1229485"/>
                </a:cubicBezTo>
                <a:cubicBezTo>
                  <a:pt x="721646" y="1279191"/>
                  <a:pt x="673293" y="1319485"/>
                  <a:pt x="613646" y="1319485"/>
                </a:cubicBezTo>
                <a:lnTo>
                  <a:pt x="609094" y="1319485"/>
                </a:lnTo>
                <a:lnTo>
                  <a:pt x="505646" y="1319485"/>
                </a:lnTo>
                <a:lnTo>
                  <a:pt x="216082" y="1319485"/>
                </a:lnTo>
                <a:lnTo>
                  <a:pt x="216082" y="1319484"/>
                </a:lnTo>
                <a:lnTo>
                  <a:pt x="947" y="1319484"/>
                </a:lnTo>
                <a:lnTo>
                  <a:pt x="947" y="547795"/>
                </a:lnTo>
                <a:lnTo>
                  <a:pt x="0" y="547058"/>
                </a:lnTo>
                <a:lnTo>
                  <a:pt x="947" y="545842"/>
                </a:lnTo>
                <a:lnTo>
                  <a:pt x="947" y="535263"/>
                </a:lnTo>
                <a:lnTo>
                  <a:pt x="9181" y="535263"/>
                </a:lnTo>
                <a:lnTo>
                  <a:pt x="244586" y="232850"/>
                </a:lnTo>
                <a:lnTo>
                  <a:pt x="246889" y="23464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901245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スケジュールの方針</a:t>
            </a:r>
            <a:endParaRPr kumimoji="1" lang="ja-JP" altLang="en-US" dirty="0"/>
          </a:p>
        </p:txBody>
      </p:sp>
      <p:sp>
        <p:nvSpPr>
          <p:cNvPr id="3" name="コンテンツ プレースホルダー 2"/>
          <p:cNvSpPr>
            <a:spLocks noGrp="1"/>
          </p:cNvSpPr>
          <p:nvPr>
            <p:ph idx="1"/>
          </p:nvPr>
        </p:nvSpPr>
        <p:spPr>
          <a:xfrm>
            <a:off x="838200" y="1825625"/>
            <a:ext cx="10515600" cy="1111539"/>
          </a:xfrm>
        </p:spPr>
        <p:txBody>
          <a:bodyPr/>
          <a:lstStyle/>
          <a:p>
            <a:pPr marL="0" indent="0">
              <a:buNone/>
            </a:pPr>
            <a:r>
              <a:rPr lang="ja-JP" altLang="en-US" dirty="0" smtClean="0"/>
              <a:t>・神戸は秋のイベントが多いため、オフシーズンに作り終えて広めていくことで効果の発揮</a:t>
            </a:r>
            <a:r>
              <a:rPr lang="ja-JP" altLang="en-US" smtClean="0"/>
              <a:t>を狙います。</a:t>
            </a:r>
            <a:endParaRPr lang="ja-JP" altLang="en-US" dirty="0" smtClean="0"/>
          </a:p>
        </p:txBody>
      </p:sp>
      <p:graphicFrame>
        <p:nvGraphicFramePr>
          <p:cNvPr id="5" name="表 4"/>
          <p:cNvGraphicFramePr>
            <a:graphicFrameLocks noGrp="1"/>
          </p:cNvGraphicFramePr>
          <p:nvPr>
            <p:extLst>
              <p:ext uri="{D42A27DB-BD31-4B8C-83A1-F6EECF244321}">
                <p14:modId xmlns:p14="http://schemas.microsoft.com/office/powerpoint/2010/main" val="4137897902"/>
              </p:ext>
            </p:extLst>
          </p:nvPr>
        </p:nvGraphicFramePr>
        <p:xfrm>
          <a:off x="951345" y="3072043"/>
          <a:ext cx="9932555" cy="2455920"/>
        </p:xfrm>
        <a:graphic>
          <a:graphicData uri="http://schemas.openxmlformats.org/drawingml/2006/table">
            <a:tbl>
              <a:tblPr firstRow="1" bandRow="1">
                <a:tableStyleId>{5940675A-B579-460E-94D1-54222C63F5DA}</a:tableStyleId>
              </a:tblPr>
              <a:tblGrid>
                <a:gridCol w="1986511"/>
                <a:gridCol w="1986511"/>
                <a:gridCol w="1986511"/>
                <a:gridCol w="1986511"/>
                <a:gridCol w="1986511"/>
              </a:tblGrid>
              <a:tr h="446965">
                <a:tc>
                  <a:txBody>
                    <a:bodyPr/>
                    <a:lstStyle/>
                    <a:p>
                      <a:pPr algn="ctr"/>
                      <a:r>
                        <a:rPr kumimoji="1" lang="en-US" altLang="ja-JP" sz="2200" dirty="0" smtClean="0">
                          <a:latin typeface="メイリオ" panose="020B0604030504040204" pitchFamily="50" charset="-128"/>
                          <a:ea typeface="メイリオ" panose="020B0604030504040204" pitchFamily="50" charset="-128"/>
                          <a:cs typeface="メイリオ" panose="020B0604030504040204" pitchFamily="50" charset="-128"/>
                        </a:rPr>
                        <a:t>2015</a:t>
                      </a:r>
                      <a:endParaRPr kumimoji="1" lang="ja-JP" altLang="en-US" sz="2200" dirty="0">
                        <a:latin typeface="メイリオ" panose="020B0604030504040204" pitchFamily="50" charset="-128"/>
                        <a:ea typeface="メイリオ" panose="020B0604030504040204" pitchFamily="50" charset="-128"/>
                        <a:cs typeface="メイリオ" panose="020B0604030504040204" pitchFamily="50" charset="-128"/>
                      </a:endParaRPr>
                    </a:p>
                  </a:txBody>
                  <a:tcPr marL="111741" marR="111741" marT="55871" marB="5587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gridSpan="4">
                  <a:txBody>
                    <a:bodyPr/>
                    <a:lstStyle/>
                    <a:p>
                      <a:pPr algn="ctr"/>
                      <a:r>
                        <a:rPr kumimoji="1" lang="en-US" altLang="ja-JP" sz="2200" dirty="0" smtClean="0">
                          <a:latin typeface="メイリオ" panose="020B0604030504040204" pitchFamily="50" charset="-128"/>
                          <a:ea typeface="メイリオ" panose="020B0604030504040204" pitchFamily="50" charset="-128"/>
                          <a:cs typeface="メイリオ" panose="020B0604030504040204" pitchFamily="50" charset="-128"/>
                        </a:rPr>
                        <a:t>2016</a:t>
                      </a:r>
                      <a:endParaRPr kumimoji="1" lang="ja-JP" altLang="en-US" sz="2200" dirty="0">
                        <a:latin typeface="メイリオ" panose="020B0604030504040204" pitchFamily="50" charset="-128"/>
                        <a:ea typeface="メイリオ" panose="020B0604030504040204" pitchFamily="50" charset="-128"/>
                        <a:cs typeface="メイリオ" panose="020B0604030504040204" pitchFamily="50" charset="-128"/>
                      </a:endParaRPr>
                    </a:p>
                  </a:txBody>
                  <a:tcPr marL="111741" marR="111741" marT="55871" marB="5587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hMerge="1">
                  <a:txBody>
                    <a:bodyPr/>
                    <a:lstStyle/>
                    <a:p>
                      <a:endParaRPr kumimoji="1" lang="ja-JP" altLang="en-US" dirty="0"/>
                    </a:p>
                  </a:txBody>
                  <a:tcPr/>
                </a:tc>
                <a:tc hMerge="1">
                  <a:txBody>
                    <a:bodyPr/>
                    <a:lstStyle/>
                    <a:p>
                      <a:endParaRPr kumimoji="1" lang="ja-JP" altLang="en-US" dirty="0"/>
                    </a:p>
                  </a:txBody>
                  <a:tcPr/>
                </a:tc>
                <a:tc hMerge="1">
                  <a:txBody>
                    <a:bodyPr/>
                    <a:lstStyle/>
                    <a:p>
                      <a:endParaRPr kumimoji="1" lang="ja-JP" altLang="en-US" dirty="0"/>
                    </a:p>
                  </a:txBody>
                  <a:tcPr/>
                </a:tc>
              </a:tr>
              <a:tr h="451293">
                <a:tc>
                  <a:txBody>
                    <a:bodyPr/>
                    <a:lstStyle/>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冬</a:t>
                      </a:r>
                      <a:endParaRPr kumimoji="1" lang="ja-JP" altLang="en-US" sz="2200" dirty="0">
                        <a:latin typeface="メイリオ" panose="020B0604030504040204" pitchFamily="50" charset="-128"/>
                        <a:ea typeface="メイリオ" panose="020B0604030504040204" pitchFamily="50" charset="-128"/>
                        <a:cs typeface="メイリオ" panose="020B0604030504040204" pitchFamily="50" charset="-128"/>
                      </a:endParaRPr>
                    </a:p>
                  </a:txBody>
                  <a:tcPr marL="111741" marR="111741" marT="55871" marB="5587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a:txBody>
                    <a:bodyPr/>
                    <a:lstStyle/>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春</a:t>
                      </a:r>
                      <a:endParaRPr kumimoji="1" lang="ja-JP" altLang="en-US" sz="2200" dirty="0">
                        <a:latin typeface="メイリオ" panose="020B0604030504040204" pitchFamily="50" charset="-128"/>
                        <a:ea typeface="メイリオ" panose="020B0604030504040204" pitchFamily="50" charset="-128"/>
                        <a:cs typeface="メイリオ" panose="020B0604030504040204" pitchFamily="50" charset="-128"/>
                      </a:endParaRPr>
                    </a:p>
                  </a:txBody>
                  <a:tcPr marL="111741" marR="111741" marT="55871" marB="5587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a:txBody>
                    <a:bodyPr/>
                    <a:lstStyle/>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夏</a:t>
                      </a:r>
                      <a:endParaRPr kumimoji="1" lang="ja-JP" altLang="en-US" sz="2200" dirty="0">
                        <a:latin typeface="メイリオ" panose="020B0604030504040204" pitchFamily="50" charset="-128"/>
                        <a:ea typeface="メイリオ" panose="020B0604030504040204" pitchFamily="50" charset="-128"/>
                        <a:cs typeface="メイリオ" panose="020B0604030504040204" pitchFamily="50" charset="-128"/>
                      </a:endParaRPr>
                    </a:p>
                  </a:txBody>
                  <a:tcPr marL="111741" marR="111741" marT="55871" marB="5587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a:txBody>
                    <a:bodyPr/>
                    <a:lstStyle/>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秋</a:t>
                      </a:r>
                      <a:endParaRPr kumimoji="1" lang="ja-JP" altLang="en-US" sz="2200" dirty="0">
                        <a:latin typeface="メイリオ" panose="020B0604030504040204" pitchFamily="50" charset="-128"/>
                        <a:ea typeface="メイリオ" panose="020B0604030504040204" pitchFamily="50" charset="-128"/>
                        <a:cs typeface="メイリオ" panose="020B0604030504040204" pitchFamily="50" charset="-128"/>
                      </a:endParaRPr>
                    </a:p>
                  </a:txBody>
                  <a:tcPr marL="111741" marR="111741" marT="55871" marB="5587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c>
                  <a:txBody>
                    <a:bodyPr/>
                    <a:lstStyle/>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冬</a:t>
                      </a:r>
                      <a:endParaRPr kumimoji="1" lang="ja-JP" altLang="en-US" sz="2200" dirty="0">
                        <a:latin typeface="メイリオ" panose="020B0604030504040204" pitchFamily="50" charset="-128"/>
                        <a:ea typeface="メイリオ" panose="020B0604030504040204" pitchFamily="50" charset="-128"/>
                        <a:cs typeface="メイリオ" panose="020B0604030504040204" pitchFamily="50" charset="-128"/>
                      </a:endParaRPr>
                    </a:p>
                  </a:txBody>
                  <a:tcPr marL="111741" marR="111741" marT="55871" marB="55871">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AB"/>
                    </a:solidFill>
                  </a:tcPr>
                </a:tc>
              </a:tr>
              <a:tr h="1557605">
                <a:tc>
                  <a:txBody>
                    <a:bodyPr/>
                    <a:lstStyle/>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企画</a:t>
                      </a:r>
                      <a:endParaRPr kumimoji="1" lang="ja-JP" altLang="en-US" sz="2200" dirty="0">
                        <a:latin typeface="メイリオ" panose="020B0604030504040204" pitchFamily="50" charset="-128"/>
                        <a:ea typeface="メイリオ" panose="020B0604030504040204" pitchFamily="50" charset="-128"/>
                        <a:cs typeface="メイリオ" panose="020B0604030504040204" pitchFamily="50" charset="-128"/>
                      </a:endParaRPr>
                    </a:p>
                  </a:txBody>
                  <a:tcPr marL="111741" marR="111741" marT="55871" marB="5587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EF7E9"/>
                    </a:solidFill>
                  </a:tcPr>
                </a:tc>
                <a:tc>
                  <a:txBody>
                    <a:bodyPr/>
                    <a:lstStyle/>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開発</a:t>
                      </a:r>
                      <a:endParaRPr kumimoji="1" lang="ja-JP" altLang="en-US" sz="2200" dirty="0">
                        <a:latin typeface="メイリオ" panose="020B0604030504040204" pitchFamily="50" charset="-128"/>
                        <a:ea typeface="メイリオ" panose="020B0604030504040204" pitchFamily="50" charset="-128"/>
                        <a:cs typeface="メイリオ" panose="020B0604030504040204" pitchFamily="50" charset="-128"/>
                      </a:endParaRPr>
                    </a:p>
                  </a:txBody>
                  <a:tcPr marL="111741" marR="111741" marT="55871" marB="5587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情報誌へ掲載</a:t>
                      </a:r>
                      <a:endParaRPr kumimoji="1" lang="en-US" altLang="ja-JP" sz="2200"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サイネージの設置</a:t>
                      </a:r>
                      <a:endParaRPr kumimoji="1" lang="ja-JP" altLang="en-US" sz="2200" dirty="0">
                        <a:latin typeface="メイリオ" panose="020B0604030504040204" pitchFamily="50" charset="-128"/>
                        <a:ea typeface="メイリオ" panose="020B0604030504040204" pitchFamily="50" charset="-128"/>
                        <a:cs typeface="メイリオ" panose="020B0604030504040204" pitchFamily="50" charset="-128"/>
                      </a:endParaRPr>
                    </a:p>
                  </a:txBody>
                  <a:tcPr marL="111741" marR="111741" marT="55871" marB="5587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イベント</a:t>
                      </a:r>
                      <a:endParaRPr kumimoji="1" lang="en-US" altLang="ja-JP" sz="2200"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シーズン</a:t>
                      </a:r>
                      <a:endParaRPr kumimoji="1" lang="ja-JP" altLang="en-US" sz="2200" dirty="0">
                        <a:latin typeface="メイリオ" panose="020B0604030504040204" pitchFamily="50" charset="-128"/>
                        <a:ea typeface="メイリオ" panose="020B0604030504040204" pitchFamily="50" charset="-128"/>
                        <a:cs typeface="メイリオ" panose="020B0604030504040204" pitchFamily="50" charset="-128"/>
                      </a:endParaRPr>
                    </a:p>
                  </a:txBody>
                  <a:tcPr marL="111741" marR="111741" marT="55871" marB="5587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効果有無を</a:t>
                      </a:r>
                      <a:endParaRPr kumimoji="1" lang="en-US" altLang="ja-JP" sz="2200" dirty="0" smtClean="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2200" dirty="0" smtClean="0">
                          <a:latin typeface="メイリオ" panose="020B0604030504040204" pitchFamily="50" charset="-128"/>
                          <a:ea typeface="メイリオ" panose="020B0604030504040204" pitchFamily="50" charset="-128"/>
                          <a:cs typeface="メイリオ" panose="020B0604030504040204" pitchFamily="50" charset="-128"/>
                        </a:rPr>
                        <a:t>確認</a:t>
                      </a:r>
                      <a:endParaRPr kumimoji="1" lang="ja-JP" altLang="en-US" sz="2200" dirty="0">
                        <a:latin typeface="メイリオ" panose="020B0604030504040204" pitchFamily="50" charset="-128"/>
                        <a:ea typeface="メイリオ" panose="020B0604030504040204" pitchFamily="50" charset="-128"/>
                        <a:cs typeface="メイリオ" panose="020B0604030504040204" pitchFamily="50" charset="-128"/>
                      </a:endParaRPr>
                    </a:p>
                  </a:txBody>
                  <a:tcPr marL="111741" marR="111741" marT="55871" marB="5587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3BC5C"/>
                    </a:solidFill>
                  </a:tcPr>
                </a:tc>
              </a:tr>
            </a:tbl>
          </a:graphicData>
        </a:graphic>
      </p:graphicFrame>
    </p:spTree>
    <p:extLst>
      <p:ext uri="{BB962C8B-B14F-4D97-AF65-F5344CB8AC3E}">
        <p14:creationId xmlns:p14="http://schemas.microsoft.com/office/powerpoint/2010/main" val="28634939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アプリ</a:t>
            </a:r>
            <a:r>
              <a:rPr lang="ja-JP" altLang="en-US" dirty="0" smtClean="0"/>
              <a:t>の画面遷移（利用者側）</a:t>
            </a:r>
            <a:endParaRPr kumimoji="1" lang="ja-JP" altLang="en-US" dirty="0"/>
          </a:p>
        </p:txBody>
      </p:sp>
      <p:grpSp>
        <p:nvGrpSpPr>
          <p:cNvPr id="14" name="グループ化 13"/>
          <p:cNvGrpSpPr/>
          <p:nvPr/>
        </p:nvGrpSpPr>
        <p:grpSpPr>
          <a:xfrm>
            <a:off x="2014543" y="1322693"/>
            <a:ext cx="7632848" cy="5446602"/>
            <a:chOff x="1633753" y="603331"/>
            <a:chExt cx="8640959" cy="6165964"/>
          </a:xfrm>
        </p:grpSpPr>
        <p:pic>
          <p:nvPicPr>
            <p:cNvPr id="3" name="Picture 6" descr="\\kdlshared\業務\アプリコンテスト\04.アイデア検討\90.参考資料\nsasaki\利用者\TOP画面.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33753" y="648072"/>
              <a:ext cx="1562530" cy="330154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descr="\\kdlshared\業務\アプリコンテスト\04.アイデア検討\90.参考資料\nsasaki\利用者\詳細画面.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0496" y="603331"/>
              <a:ext cx="1944216" cy="41080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kdlshared\業務\アプリコンテスト\04.アイデア検討\90.参考資料\nsasaki\利用者\地図で見る.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70056" y="631375"/>
              <a:ext cx="1562530" cy="330154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kdlshared\業務\アプリコンテスト\04.アイデア検討\90.参考資料\nsasaki\利用者\カレンダーで見る.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51321" y="2055954"/>
              <a:ext cx="1554693" cy="328498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7" descr="\\kdlshared\業務\アプリコンテスト\04.アイデア検討\90.参考資料\nsasaki\利用者\カテゴリで見る.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98248" y="3484311"/>
              <a:ext cx="1554693" cy="3284984"/>
            </a:xfrm>
            <a:prstGeom prst="rect">
              <a:avLst/>
            </a:prstGeom>
            <a:noFill/>
            <a:extLst>
              <a:ext uri="{909E8E84-426E-40DD-AFC4-6F175D3DCCD1}">
                <a14:hiddenFill xmlns:a14="http://schemas.microsoft.com/office/drawing/2010/main">
                  <a:solidFill>
                    <a:srgbClr val="FFFFFF"/>
                  </a:solidFill>
                </a14:hiddenFill>
              </a:ext>
            </a:extLst>
          </p:spPr>
        </p:pic>
        <p:cxnSp>
          <p:nvCxnSpPr>
            <p:cNvPr id="8" name="カギ線コネクタ 7"/>
            <p:cNvCxnSpPr>
              <a:endCxn id="6" idx="1"/>
            </p:cNvCxnSpPr>
            <p:nvPr/>
          </p:nvCxnSpPr>
          <p:spPr>
            <a:xfrm>
              <a:off x="2641864" y="2998645"/>
              <a:ext cx="2509457" cy="699801"/>
            </a:xfrm>
            <a:prstGeom prst="bentConnector3">
              <a:avLst>
                <a:gd name="adj1" fmla="val 51756"/>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 name="カギ線コネクタ 8"/>
            <p:cNvCxnSpPr>
              <a:endCxn id="5" idx="1"/>
            </p:cNvCxnSpPr>
            <p:nvPr/>
          </p:nvCxnSpPr>
          <p:spPr>
            <a:xfrm flipV="1">
              <a:off x="2641864" y="2282147"/>
              <a:ext cx="1728192" cy="426773"/>
            </a:xfrm>
            <a:prstGeom prst="bentConnector3">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0" name="カギ線コネクタ 9"/>
            <p:cNvCxnSpPr>
              <a:endCxn id="7" idx="1"/>
            </p:cNvCxnSpPr>
            <p:nvPr/>
          </p:nvCxnSpPr>
          <p:spPr>
            <a:xfrm>
              <a:off x="2641864" y="3348546"/>
              <a:ext cx="3456384" cy="1778257"/>
            </a:xfrm>
            <a:prstGeom prst="bentConnector3">
              <a:avLst>
                <a:gd name="adj1" fmla="val 28007"/>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1" name="カギ線コネクタ 10"/>
            <p:cNvCxnSpPr/>
            <p:nvPr/>
          </p:nvCxnSpPr>
          <p:spPr>
            <a:xfrm>
              <a:off x="5928667" y="2055954"/>
              <a:ext cx="2401829" cy="226193"/>
            </a:xfrm>
            <a:prstGeom prst="bentConnector3">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 name="カギ線コネクタ 11"/>
            <p:cNvCxnSpPr>
              <a:endCxn id="4" idx="1"/>
            </p:cNvCxnSpPr>
            <p:nvPr/>
          </p:nvCxnSpPr>
          <p:spPr>
            <a:xfrm flipV="1">
              <a:off x="6706014" y="2657343"/>
              <a:ext cx="1624482" cy="555633"/>
            </a:xfrm>
            <a:prstGeom prst="bentConnector3">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3" name="カギ線コネクタ 12"/>
            <p:cNvCxnSpPr>
              <a:stCxn id="7" idx="3"/>
            </p:cNvCxnSpPr>
            <p:nvPr/>
          </p:nvCxnSpPr>
          <p:spPr>
            <a:xfrm flipV="1">
              <a:off x="7652941" y="2998646"/>
              <a:ext cx="677555" cy="2128157"/>
            </a:xfrm>
            <a:prstGeom prst="bentConnector2">
              <a:avLst/>
            </a:prstGeom>
            <a:ln w="19050">
              <a:tailEnd type="arrow"/>
            </a:ln>
          </p:spPr>
          <p:style>
            <a:lnRef idx="1">
              <a:schemeClr val="accent1"/>
            </a:lnRef>
            <a:fillRef idx="0">
              <a:schemeClr val="accent1"/>
            </a:fillRef>
            <a:effectRef idx="0">
              <a:schemeClr val="accent1"/>
            </a:effectRef>
            <a:fontRef idx="minor">
              <a:schemeClr val="tx1"/>
            </a:fontRef>
          </p:style>
        </p:cxnSp>
      </p:grpSp>
      <p:sp>
        <p:nvSpPr>
          <p:cNvPr id="15" name="コンテンツ プレースホルダー 2"/>
          <p:cNvSpPr>
            <a:spLocks noGrp="1"/>
          </p:cNvSpPr>
          <p:nvPr>
            <p:ph idx="1"/>
          </p:nvPr>
        </p:nvSpPr>
        <p:spPr>
          <a:xfrm>
            <a:off x="2014543" y="1473761"/>
            <a:ext cx="1380235" cy="273017"/>
          </a:xfrm>
          <a:solidFill>
            <a:schemeClr val="accent1"/>
          </a:solidFill>
          <a:ln>
            <a:solidFill>
              <a:schemeClr val="accent1"/>
            </a:solidFill>
          </a:ln>
        </p:spPr>
        <p:txBody>
          <a:bodyPr anchor="ctr" anchorCtr="0">
            <a:noAutofit/>
          </a:bodyPr>
          <a:lstStyle/>
          <a:p>
            <a:pPr marL="0" indent="0" algn="ctr">
              <a:buNone/>
            </a:pPr>
            <a:r>
              <a:rPr lang="ja-JP" altLang="en-US" sz="1400" dirty="0" smtClean="0">
                <a:solidFill>
                  <a:schemeClr val="bg1"/>
                </a:solidFill>
              </a:rPr>
              <a:t>トップ</a:t>
            </a:r>
            <a:endParaRPr lang="en-US" altLang="ja-JP" sz="1400" dirty="0" smtClean="0">
              <a:solidFill>
                <a:schemeClr val="bg1"/>
              </a:solidFill>
            </a:endParaRPr>
          </a:p>
        </p:txBody>
      </p:sp>
      <p:sp>
        <p:nvSpPr>
          <p:cNvPr id="17" name="コンテンツ プレースホルダー 2"/>
          <p:cNvSpPr txBox="1">
            <a:spLocks/>
          </p:cNvSpPr>
          <p:nvPr/>
        </p:nvSpPr>
        <p:spPr>
          <a:xfrm>
            <a:off x="4428149" y="1459201"/>
            <a:ext cx="1380235" cy="273017"/>
          </a:xfrm>
          <a:prstGeom prst="rect">
            <a:avLst/>
          </a:prstGeom>
          <a:solidFill>
            <a:schemeClr val="accent1"/>
          </a:solidFill>
          <a:ln>
            <a:solidFill>
              <a:schemeClr val="accent1"/>
            </a:solidFill>
          </a:ln>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400" dirty="0" smtClean="0">
                <a:solidFill>
                  <a:schemeClr val="bg1"/>
                </a:solidFill>
              </a:rPr>
              <a:t>地図</a:t>
            </a:r>
            <a:endParaRPr lang="en-US" altLang="ja-JP" sz="1400" dirty="0" smtClean="0">
              <a:solidFill>
                <a:schemeClr val="bg1"/>
              </a:solidFill>
            </a:endParaRPr>
          </a:p>
        </p:txBody>
      </p:sp>
      <p:sp>
        <p:nvSpPr>
          <p:cNvPr id="18" name="コンテンツ プレースホルダー 2"/>
          <p:cNvSpPr txBox="1">
            <a:spLocks/>
          </p:cNvSpPr>
          <p:nvPr/>
        </p:nvSpPr>
        <p:spPr>
          <a:xfrm>
            <a:off x="5121728" y="2729314"/>
            <a:ext cx="1380235" cy="273017"/>
          </a:xfrm>
          <a:prstGeom prst="rect">
            <a:avLst/>
          </a:prstGeom>
          <a:solidFill>
            <a:schemeClr val="accent1"/>
          </a:solidFill>
          <a:ln>
            <a:solidFill>
              <a:schemeClr val="accent1"/>
            </a:solidFill>
          </a:ln>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400" dirty="0" smtClean="0">
                <a:solidFill>
                  <a:schemeClr val="bg1"/>
                </a:solidFill>
              </a:rPr>
              <a:t>カレンダー</a:t>
            </a:r>
            <a:endParaRPr lang="en-US" altLang="ja-JP" sz="1400" dirty="0" smtClean="0">
              <a:solidFill>
                <a:schemeClr val="bg1"/>
              </a:solidFill>
            </a:endParaRPr>
          </a:p>
        </p:txBody>
      </p:sp>
      <p:sp>
        <p:nvSpPr>
          <p:cNvPr id="19" name="コンテンツ プレースホルダー 2"/>
          <p:cNvSpPr txBox="1">
            <a:spLocks/>
          </p:cNvSpPr>
          <p:nvPr/>
        </p:nvSpPr>
        <p:spPr>
          <a:xfrm>
            <a:off x="5951258" y="3920203"/>
            <a:ext cx="1380235" cy="273017"/>
          </a:xfrm>
          <a:prstGeom prst="rect">
            <a:avLst/>
          </a:prstGeom>
          <a:solidFill>
            <a:schemeClr val="accent1"/>
          </a:solidFill>
          <a:ln>
            <a:solidFill>
              <a:schemeClr val="accent1"/>
            </a:solidFill>
          </a:ln>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400" dirty="0" smtClean="0">
                <a:solidFill>
                  <a:schemeClr val="bg1"/>
                </a:solidFill>
              </a:rPr>
              <a:t>カテゴリ</a:t>
            </a:r>
            <a:endParaRPr lang="en-US" altLang="ja-JP" sz="1400" dirty="0" smtClean="0">
              <a:solidFill>
                <a:schemeClr val="bg1"/>
              </a:solidFill>
            </a:endParaRPr>
          </a:p>
        </p:txBody>
      </p:sp>
      <p:sp>
        <p:nvSpPr>
          <p:cNvPr id="20" name="コンテンツ プレースホルダー 2"/>
          <p:cNvSpPr txBox="1">
            <a:spLocks/>
          </p:cNvSpPr>
          <p:nvPr/>
        </p:nvSpPr>
        <p:spPr>
          <a:xfrm>
            <a:off x="8098577" y="1459201"/>
            <a:ext cx="1380235" cy="273017"/>
          </a:xfrm>
          <a:prstGeom prst="rect">
            <a:avLst/>
          </a:prstGeom>
          <a:solidFill>
            <a:schemeClr val="accent1"/>
          </a:solidFill>
          <a:ln>
            <a:solidFill>
              <a:schemeClr val="accent1"/>
            </a:solidFill>
          </a:ln>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400" dirty="0" smtClean="0">
                <a:solidFill>
                  <a:schemeClr val="bg1"/>
                </a:solidFill>
              </a:rPr>
              <a:t>ガイド詳細</a:t>
            </a:r>
            <a:endParaRPr lang="en-US" altLang="ja-JP" sz="1400" dirty="0" smtClean="0">
              <a:solidFill>
                <a:schemeClr val="bg1"/>
              </a:solidFill>
            </a:endParaRPr>
          </a:p>
        </p:txBody>
      </p:sp>
    </p:spTree>
    <p:extLst>
      <p:ext uri="{BB962C8B-B14F-4D97-AF65-F5344CB8AC3E}">
        <p14:creationId xmlns:p14="http://schemas.microsoft.com/office/powerpoint/2010/main" val="37470409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アプリ</a:t>
            </a:r>
            <a:r>
              <a:rPr lang="ja-JP" altLang="en-US" dirty="0" smtClean="0"/>
              <a:t>の画面</a:t>
            </a:r>
            <a:r>
              <a:rPr lang="en-US" altLang="ja-JP" dirty="0" smtClean="0"/>
              <a:t>(</a:t>
            </a:r>
            <a:r>
              <a:rPr lang="ja-JP" altLang="en-US" dirty="0" smtClean="0"/>
              <a:t>利用者側</a:t>
            </a:r>
            <a:r>
              <a:rPr lang="en-US" altLang="ja-JP" dirty="0" smtClean="0"/>
              <a:t>)</a:t>
            </a:r>
            <a:endParaRPr kumimoji="1" lang="ja-JP" altLang="en-US" dirty="0"/>
          </a:p>
        </p:txBody>
      </p:sp>
      <p:sp>
        <p:nvSpPr>
          <p:cNvPr id="5" name="テキスト ボックス 4"/>
          <p:cNvSpPr txBox="1"/>
          <p:nvPr/>
        </p:nvSpPr>
        <p:spPr>
          <a:xfrm>
            <a:off x="2582502" y="1886313"/>
            <a:ext cx="2042271" cy="369332"/>
          </a:xfrm>
          <a:prstGeom prst="rect">
            <a:avLst/>
          </a:prstGeom>
          <a:noFill/>
        </p:spPr>
        <p:txBody>
          <a:bodyPr wrap="square" rtlCol="0">
            <a:spAutoFit/>
          </a:bodyPr>
          <a:lstStyle/>
          <a:p>
            <a:r>
              <a:rPr kumimoji="1" lang="ja-JP" altLang="en-US" b="1" dirty="0" smtClean="0">
                <a:latin typeface="メイリオ" panose="020B0604030504040204" pitchFamily="50" charset="-128"/>
                <a:ea typeface="メイリオ" panose="020B0604030504040204" pitchFamily="50" charset="-128"/>
                <a:cs typeface="メイリオ" panose="020B0604030504040204" pitchFamily="50" charset="-128"/>
              </a:rPr>
              <a:t>トップ画面</a:t>
            </a:r>
            <a:endParaRPr kumimoji="1" lang="ja-JP" altLang="en-US" b="1"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7" name="Picture 6" descr="\\kdlshared\業務\アプリコンテスト\04.アイデア検討\90.参考資料\nsasaki\利用者\TOP画面.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985" y="1886313"/>
            <a:ext cx="2002094" cy="4230320"/>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p:cNvSpPr txBox="1"/>
          <p:nvPr/>
        </p:nvSpPr>
        <p:spPr>
          <a:xfrm>
            <a:off x="2582503" y="2307389"/>
            <a:ext cx="2638076" cy="2308324"/>
          </a:xfrm>
          <a:prstGeom prst="rect">
            <a:avLst/>
          </a:prstGeom>
          <a:noFill/>
        </p:spPr>
        <p:txBody>
          <a:bodyPr wrap="square" rtlCol="0">
            <a:spAutoFit/>
          </a:bodyPr>
          <a:lstStyle/>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ガイド利用者</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が</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アプリ</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を起動し最初に表示される画面です。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「地図で見る」「カレンダーで見る」「カテゴリで見る」を押すと、それぞれの画面に遷移します。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p:nvPr/>
        </p:nvSpPr>
        <p:spPr>
          <a:xfrm>
            <a:off x="9005776" y="1886312"/>
            <a:ext cx="3042466" cy="369332"/>
          </a:xfrm>
          <a:prstGeom prst="rect">
            <a:avLst/>
          </a:prstGeom>
          <a:noFill/>
        </p:spPr>
        <p:txBody>
          <a:bodyPr wrap="square" rtlCol="0">
            <a:spAutoFit/>
          </a:bodyPr>
          <a:lstStyle/>
          <a:p>
            <a:r>
              <a:rPr kumimoji="1" lang="ja-JP" altLang="en-US" b="1" dirty="0" smtClean="0">
                <a:latin typeface="メイリオ" panose="020B0604030504040204" pitchFamily="50" charset="-128"/>
                <a:ea typeface="メイリオ" panose="020B0604030504040204" pitchFamily="50" charset="-128"/>
                <a:cs typeface="メイリオ" panose="020B0604030504040204" pitchFamily="50" charset="-128"/>
              </a:rPr>
              <a:t>「地図で見る」画面</a:t>
            </a:r>
            <a:endParaRPr kumimoji="1" lang="ja-JP" altLang="en-US"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テキスト ボックス 9"/>
          <p:cNvSpPr txBox="1"/>
          <p:nvPr/>
        </p:nvSpPr>
        <p:spPr>
          <a:xfrm>
            <a:off x="8905694" y="2275489"/>
            <a:ext cx="3286306" cy="2585323"/>
          </a:xfrm>
          <a:prstGeom prst="rect">
            <a:avLst/>
          </a:prstGeom>
          <a:noFill/>
        </p:spPr>
        <p:txBody>
          <a:bodyPr wrap="square" rtlCol="0">
            <a:spAutoFit/>
          </a:bodyPr>
          <a:lstStyle/>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ガイド利用者</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が</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、地図からガイド情報を探すことが出来る画面です。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カテゴリやシーズンガイド者名などで、フィルタリングすることもできます。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b="1"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神戸市</a:t>
            </a:r>
            <a:r>
              <a:rPr lang="ja-JP" altLang="en-US"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行政データ</a:t>
            </a:r>
            <a:r>
              <a:rPr lang="en-US" altLang="ja-JP"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API</a:t>
            </a:r>
            <a:r>
              <a:rPr lang="en-US" altLang="ja-JP" b="1"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より取得した</a:t>
            </a: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rPr>
              <a:t>AED</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情報やトイレ位置情報なども表示します。</a:t>
            </a:r>
            <a:endParaRPr lang="en-US" altLang="ja-JP" b="1"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1" name="Picture 2" descr="\\kdlshared\業務\アプリコンテスト\04.アイデア検討\90.参考資料\nsasaki\利用者\地図で見る_フィルタリング付.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4042" y="1886312"/>
            <a:ext cx="3441652" cy="4170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4070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アプリ</a:t>
            </a:r>
            <a:r>
              <a:rPr lang="ja-JP" altLang="en-US" dirty="0" smtClean="0"/>
              <a:t>の画面</a:t>
            </a:r>
            <a:r>
              <a:rPr lang="en-US" altLang="ja-JP" dirty="0" smtClean="0"/>
              <a:t>(</a:t>
            </a:r>
            <a:r>
              <a:rPr lang="ja-JP" altLang="en-US" dirty="0" smtClean="0"/>
              <a:t>利用者側</a:t>
            </a:r>
            <a:r>
              <a:rPr lang="en-US" altLang="ja-JP" dirty="0" smtClean="0"/>
              <a:t>)</a:t>
            </a:r>
            <a:endParaRPr kumimoji="1" lang="ja-JP" altLang="en-US" dirty="0"/>
          </a:p>
        </p:txBody>
      </p:sp>
      <p:sp>
        <p:nvSpPr>
          <p:cNvPr id="12" name="テキスト ボックス 11"/>
          <p:cNvSpPr txBox="1"/>
          <p:nvPr/>
        </p:nvSpPr>
        <p:spPr>
          <a:xfrm>
            <a:off x="2764098" y="1729057"/>
            <a:ext cx="2956213" cy="369332"/>
          </a:xfrm>
          <a:prstGeom prst="rect">
            <a:avLst/>
          </a:prstGeom>
          <a:noFill/>
        </p:spPr>
        <p:txBody>
          <a:bodyPr wrap="square" rtlCol="0">
            <a:spAutoFit/>
          </a:bodyPr>
          <a:lstStyle/>
          <a:p>
            <a:r>
              <a:rPr lang="ja-JP" altLang="en-US" b="1" dirty="0" smtClean="0">
                <a:latin typeface="メイリオ" panose="020B0604030504040204" pitchFamily="50" charset="-128"/>
                <a:ea typeface="メイリオ" panose="020B0604030504040204" pitchFamily="50" charset="-128"/>
                <a:cs typeface="メイリオ" panose="020B0604030504040204" pitchFamily="50" charset="-128"/>
              </a:rPr>
              <a:t>「カレンダーで見る」</a:t>
            </a:r>
            <a:r>
              <a:rPr kumimoji="1" lang="ja-JP" altLang="en-US" b="1" dirty="0" smtClean="0">
                <a:latin typeface="メイリオ" panose="020B0604030504040204" pitchFamily="50" charset="-128"/>
                <a:ea typeface="メイリオ" panose="020B0604030504040204" pitchFamily="50" charset="-128"/>
                <a:cs typeface="メイリオ" panose="020B0604030504040204" pitchFamily="50" charset="-128"/>
              </a:rPr>
              <a:t>画面</a:t>
            </a:r>
            <a:endParaRPr kumimoji="1" lang="ja-JP" altLang="en-US"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テキスト ボックス 12"/>
          <p:cNvSpPr txBox="1"/>
          <p:nvPr/>
        </p:nvSpPr>
        <p:spPr>
          <a:xfrm>
            <a:off x="2859796" y="2217389"/>
            <a:ext cx="2956213" cy="1754326"/>
          </a:xfrm>
          <a:prstGeom prst="rect">
            <a:avLst/>
          </a:prstGeom>
          <a:noFill/>
        </p:spPr>
        <p:txBody>
          <a:bodyPr wrap="square" rtlCol="0">
            <a:spAutoFit/>
          </a:bodyPr>
          <a:lstStyle/>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ガイド利用者</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が</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、カレンダーでガイド情報を探すことが出来る画面です。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旅行</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に行く日などが決まっている場合などに利用することを想定しています。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4" name="Picture 4" descr="\\kdlshared\業務\アプリコンテスト\04.アイデア検討\90.参考資料\nsasaki\利用者\カレンダーで見る.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175" y="1729057"/>
            <a:ext cx="1988392" cy="4201367"/>
          </a:xfrm>
          <a:prstGeom prst="rect">
            <a:avLst/>
          </a:prstGeom>
          <a:noFill/>
          <a:extLst>
            <a:ext uri="{909E8E84-426E-40DD-AFC4-6F175D3DCCD1}">
              <a14:hiddenFill xmlns:a14="http://schemas.microsoft.com/office/drawing/2010/main">
                <a:solidFill>
                  <a:srgbClr val="FFFFFF"/>
                </a:solidFill>
              </a14:hiddenFill>
            </a:ext>
          </a:extLst>
        </p:spPr>
      </p:pic>
      <p:sp>
        <p:nvSpPr>
          <p:cNvPr id="15" name="テキスト ボックス 14"/>
          <p:cNvSpPr txBox="1"/>
          <p:nvPr/>
        </p:nvSpPr>
        <p:spPr>
          <a:xfrm>
            <a:off x="8323279" y="1729057"/>
            <a:ext cx="2925967" cy="369332"/>
          </a:xfrm>
          <a:prstGeom prst="rect">
            <a:avLst/>
          </a:prstGeom>
          <a:noFill/>
        </p:spPr>
        <p:txBody>
          <a:bodyPr wrap="square" rtlCol="0">
            <a:spAutoFit/>
          </a:bodyPr>
          <a:lstStyle/>
          <a:p>
            <a:r>
              <a:rPr lang="ja-JP" altLang="en-US" b="1" dirty="0" smtClean="0">
                <a:latin typeface="メイリオ" panose="020B0604030504040204" pitchFamily="50" charset="-128"/>
                <a:ea typeface="メイリオ" panose="020B0604030504040204" pitchFamily="50" charset="-128"/>
                <a:cs typeface="メイリオ" panose="020B0604030504040204" pitchFamily="50" charset="-128"/>
              </a:rPr>
              <a:t>「カテゴリ</a:t>
            </a:r>
            <a:r>
              <a:rPr kumimoji="1" lang="ja-JP" altLang="en-US" b="1" dirty="0" smtClean="0">
                <a:latin typeface="メイリオ" panose="020B0604030504040204" pitchFamily="50" charset="-128"/>
                <a:ea typeface="メイリオ" panose="020B0604030504040204" pitchFamily="50" charset="-128"/>
                <a:cs typeface="メイリオ" panose="020B0604030504040204" pitchFamily="50" charset="-128"/>
              </a:rPr>
              <a:t>で見る」画面</a:t>
            </a:r>
            <a:endParaRPr kumimoji="1" lang="ja-JP" altLang="en-US"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6" name="テキスト ボックス 15"/>
          <p:cNvSpPr txBox="1"/>
          <p:nvPr/>
        </p:nvSpPr>
        <p:spPr>
          <a:xfrm>
            <a:off x="8488287" y="2217389"/>
            <a:ext cx="2952346" cy="1754326"/>
          </a:xfrm>
          <a:prstGeom prst="rect">
            <a:avLst/>
          </a:prstGeom>
          <a:noFill/>
        </p:spPr>
        <p:txBody>
          <a:bodyPr wrap="square" rtlCol="0">
            <a:spAutoFit/>
          </a:bodyPr>
          <a:lstStyle/>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ガイド利用者</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が</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、カテゴリからガイド情報を探すことが出来る画面です。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カテゴリごとや、ガイド者ごとに情報を利用することを想定しています。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7" name="Picture 7" descr="\\kdlshared\業務\アプリコンテスト\04.アイデア検討\90.参考資料\nsasaki\利用者\カテゴリで見る.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3210" y="1729057"/>
            <a:ext cx="1988392" cy="4201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3136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アプリ</a:t>
            </a:r>
            <a:r>
              <a:rPr lang="ja-JP" altLang="en-US" dirty="0" smtClean="0"/>
              <a:t>の画面</a:t>
            </a:r>
            <a:r>
              <a:rPr lang="en-US" altLang="ja-JP" dirty="0" smtClean="0"/>
              <a:t>(</a:t>
            </a:r>
            <a:r>
              <a:rPr lang="ja-JP" altLang="en-US" dirty="0" smtClean="0"/>
              <a:t>利用者側</a:t>
            </a:r>
            <a:r>
              <a:rPr lang="en-US" altLang="ja-JP" dirty="0" smtClean="0"/>
              <a:t>)</a:t>
            </a:r>
            <a:endParaRPr kumimoji="1" lang="ja-JP" altLang="en-US" dirty="0"/>
          </a:p>
        </p:txBody>
      </p:sp>
      <p:sp>
        <p:nvSpPr>
          <p:cNvPr id="9" name="テキスト ボックス 8"/>
          <p:cNvSpPr txBox="1"/>
          <p:nvPr/>
        </p:nvSpPr>
        <p:spPr>
          <a:xfrm>
            <a:off x="3519013" y="2058101"/>
            <a:ext cx="6840760" cy="369332"/>
          </a:xfrm>
          <a:prstGeom prst="rect">
            <a:avLst/>
          </a:prstGeom>
          <a:noFill/>
        </p:spPr>
        <p:txBody>
          <a:bodyPr wrap="square" rtlCol="0">
            <a:spAutoFit/>
          </a:bodyPr>
          <a:lstStyle/>
          <a:p>
            <a:r>
              <a:rPr lang="ja-JP" altLang="en-US" b="1" dirty="0" smtClean="0">
                <a:latin typeface="メイリオ" panose="020B0604030504040204" pitchFamily="50" charset="-128"/>
                <a:ea typeface="メイリオ" panose="020B0604030504040204" pitchFamily="50" charset="-128"/>
                <a:cs typeface="メイリオ" panose="020B0604030504040204" pitchFamily="50" charset="-128"/>
              </a:rPr>
              <a:t>ガイド情報詳細</a:t>
            </a:r>
            <a:r>
              <a:rPr kumimoji="1" lang="ja-JP" altLang="en-US" b="1" dirty="0" smtClean="0">
                <a:latin typeface="メイリオ" panose="020B0604030504040204" pitchFamily="50" charset="-128"/>
                <a:ea typeface="メイリオ" panose="020B0604030504040204" pitchFamily="50" charset="-128"/>
                <a:cs typeface="メイリオ" panose="020B0604030504040204" pitchFamily="50" charset="-128"/>
              </a:rPr>
              <a:t>画面</a:t>
            </a:r>
            <a:endParaRPr kumimoji="1" lang="ja-JP" altLang="en-US"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テキスト ボックス 9"/>
          <p:cNvSpPr txBox="1"/>
          <p:nvPr/>
        </p:nvSpPr>
        <p:spPr>
          <a:xfrm>
            <a:off x="3550140" y="2490055"/>
            <a:ext cx="6840760" cy="2862322"/>
          </a:xfrm>
          <a:prstGeom prst="rect">
            <a:avLst/>
          </a:prstGeom>
          <a:noFill/>
        </p:spPr>
        <p:txBody>
          <a:bodyPr wrap="square" rtlCol="0">
            <a:spAutoFit/>
          </a:bodyPr>
          <a:lstStyle/>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ガイド利用者</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が</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、ガイド詳細を見る画面です。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ガイドが入力している情報「写真、コメント、シーズン等」を一通り確認することができ、ソーシャルメディアに共有することや、お気に入りに登録、いいねといった評価を行う事ができます。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また</a:t>
            </a:r>
            <a:r>
              <a:rPr lang="ja-JP" altLang="en-US"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「ガイドを依頼する」</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ボタンを押すことで、情報を入力したガイドと直接コンタクトを取ることが出来、ガイドへの質問やガイドを直接依頼することができます。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1" name="Picture 8" descr="\\kdlshared\業務\アプリコンテスト\04.アイデア検討\90.参考資料\nsasaki\利用者\詳細画面.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4797" y="1874339"/>
            <a:ext cx="1872208" cy="3955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37678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アプリ</a:t>
            </a:r>
            <a:r>
              <a:rPr lang="ja-JP" altLang="en-US" dirty="0" smtClean="0"/>
              <a:t>の画面遷移（ガイド側）</a:t>
            </a:r>
            <a:endParaRPr kumimoji="1" lang="ja-JP" altLang="en-US" dirty="0"/>
          </a:p>
        </p:txBody>
      </p:sp>
      <p:grpSp>
        <p:nvGrpSpPr>
          <p:cNvPr id="22" name="グループ化 21"/>
          <p:cNvGrpSpPr/>
          <p:nvPr/>
        </p:nvGrpSpPr>
        <p:grpSpPr>
          <a:xfrm>
            <a:off x="2020186" y="1418884"/>
            <a:ext cx="7683320" cy="5150395"/>
            <a:chOff x="288194" y="620688"/>
            <a:chExt cx="8745461" cy="6156488"/>
          </a:xfrm>
        </p:grpSpPr>
        <p:pic>
          <p:nvPicPr>
            <p:cNvPr id="15" name="Picture 2" descr="\\kdlshared\業務\アプリコンテスト\04.アイデア検討\90.参考資料\nsasaki\ガイド用\ガイド新規入力.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87632" y="1743658"/>
              <a:ext cx="3677609" cy="3446125"/>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16" name="Picture 2" descr="\\kdlshared\業務\アプリコンテスト\04.アイデア検討\90.参考資料\nsasaki\ガイド用\ガイドログイン.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194" y="620688"/>
              <a:ext cx="1197077" cy="926904"/>
            </a:xfrm>
            <a:prstGeom prst="rect">
              <a:avLst/>
            </a:prstGeom>
            <a:noFill/>
            <a:ln>
              <a:solidFill>
                <a:schemeClr val="accent1">
                  <a:shade val="95000"/>
                  <a:satMod val="105000"/>
                </a:schemeClr>
              </a:solidFill>
            </a:ln>
            <a:extLst>
              <a:ext uri="{909E8E84-426E-40DD-AFC4-6F175D3DCCD1}">
                <a14:hiddenFill xmlns:a14="http://schemas.microsoft.com/office/drawing/2010/main">
                  <a:solidFill>
                    <a:srgbClr val="FFFFFF"/>
                  </a:solidFill>
                </a14:hiddenFill>
              </a:ext>
            </a:extLst>
          </p:spPr>
        </p:pic>
        <p:pic>
          <p:nvPicPr>
            <p:cNvPr id="17" name="Picture 5" descr="\\kdlshared\業務\アプリコンテスト\04.アイデア検討\90.参考資料\nsasaki\ガイド用\ガイドTOP.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0880" y="1743659"/>
              <a:ext cx="3421080" cy="3485764"/>
            </a:xfrm>
            <a:prstGeom prst="rect">
              <a:avLst/>
            </a:prstGeom>
            <a:noFill/>
            <a:ln>
              <a:solidFill>
                <a:schemeClr val="accent1">
                  <a:shade val="95000"/>
                  <a:satMod val="105000"/>
                </a:schemeClr>
              </a:solidFill>
            </a:ln>
            <a:extLst>
              <a:ext uri="{909E8E84-426E-40DD-AFC4-6F175D3DCCD1}">
                <a14:hiddenFill xmlns:a14="http://schemas.microsoft.com/office/drawing/2010/main">
                  <a:solidFill>
                    <a:srgbClr val="FFFFFF"/>
                  </a:solidFill>
                </a14:hiddenFill>
              </a:ext>
            </a:extLst>
          </p:spPr>
        </p:pic>
        <p:cxnSp>
          <p:nvCxnSpPr>
            <p:cNvPr id="18" name="カギ線コネクタ 17"/>
            <p:cNvCxnSpPr>
              <a:stCxn id="16" idx="3"/>
              <a:endCxn id="17" idx="0"/>
            </p:cNvCxnSpPr>
            <p:nvPr/>
          </p:nvCxnSpPr>
          <p:spPr>
            <a:xfrm>
              <a:off x="1485271" y="1084140"/>
              <a:ext cx="1016149" cy="659519"/>
            </a:xfrm>
            <a:prstGeom prst="bentConnector2">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9" name="カギ線コネクタ 18"/>
            <p:cNvCxnSpPr/>
            <p:nvPr/>
          </p:nvCxnSpPr>
          <p:spPr>
            <a:xfrm>
              <a:off x="8065242" y="3450425"/>
              <a:ext cx="257035" cy="1365630"/>
            </a:xfrm>
            <a:prstGeom prst="bentConnector2">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0" name="カギ線コネクタ 19"/>
            <p:cNvCxnSpPr>
              <a:stCxn id="17" idx="3"/>
            </p:cNvCxnSpPr>
            <p:nvPr/>
          </p:nvCxnSpPr>
          <p:spPr>
            <a:xfrm flipV="1">
              <a:off x="4211960" y="3450425"/>
              <a:ext cx="210454" cy="3611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pic>
          <p:nvPicPr>
            <p:cNvPr id="21" name="Picture 2" descr="C:\Users\nsasaki\Downloads\ガイド補助情報.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92280" y="4914839"/>
              <a:ext cx="1941375" cy="1862337"/>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grpSp>
      <p:sp>
        <p:nvSpPr>
          <p:cNvPr id="11" name="コンテンツ プレースホルダー 2"/>
          <p:cNvSpPr txBox="1">
            <a:spLocks/>
          </p:cNvSpPr>
          <p:nvPr/>
        </p:nvSpPr>
        <p:spPr>
          <a:xfrm>
            <a:off x="2897927" y="1322692"/>
            <a:ext cx="1380235" cy="273017"/>
          </a:xfrm>
          <a:prstGeom prst="rect">
            <a:avLst/>
          </a:prstGeom>
          <a:solidFill>
            <a:schemeClr val="accent1"/>
          </a:solidFill>
          <a:ln>
            <a:solidFill>
              <a:schemeClr val="accent1"/>
            </a:solidFill>
          </a:ln>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400" dirty="0" smtClean="0">
                <a:solidFill>
                  <a:schemeClr val="bg1"/>
                </a:solidFill>
              </a:rPr>
              <a:t>ログイン</a:t>
            </a:r>
            <a:endParaRPr lang="en-US" altLang="ja-JP" sz="1400" dirty="0" smtClean="0">
              <a:solidFill>
                <a:schemeClr val="bg1"/>
              </a:solidFill>
            </a:endParaRPr>
          </a:p>
        </p:txBody>
      </p:sp>
      <p:sp>
        <p:nvSpPr>
          <p:cNvPr id="12" name="コンテンツ プレースホルダー 2"/>
          <p:cNvSpPr txBox="1">
            <a:spLocks/>
          </p:cNvSpPr>
          <p:nvPr/>
        </p:nvSpPr>
        <p:spPr>
          <a:xfrm>
            <a:off x="3071877" y="5123838"/>
            <a:ext cx="1607398" cy="333987"/>
          </a:xfrm>
          <a:prstGeom prst="rect">
            <a:avLst/>
          </a:prstGeom>
          <a:solidFill>
            <a:schemeClr val="accent1"/>
          </a:solidFill>
          <a:ln>
            <a:solidFill>
              <a:schemeClr val="accent1"/>
            </a:solidFill>
          </a:ln>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400" dirty="0" smtClean="0">
                <a:solidFill>
                  <a:schemeClr val="bg1"/>
                </a:solidFill>
              </a:rPr>
              <a:t>ガイド情報一覧</a:t>
            </a:r>
            <a:endParaRPr lang="en-US" altLang="ja-JP" sz="1400" dirty="0" smtClean="0">
              <a:solidFill>
                <a:schemeClr val="bg1"/>
              </a:solidFill>
            </a:endParaRPr>
          </a:p>
        </p:txBody>
      </p:sp>
      <p:sp>
        <p:nvSpPr>
          <p:cNvPr id="13" name="コンテンツ プレースホルダー 2"/>
          <p:cNvSpPr txBox="1">
            <a:spLocks/>
          </p:cNvSpPr>
          <p:nvPr/>
        </p:nvSpPr>
        <p:spPr>
          <a:xfrm>
            <a:off x="6177027" y="5107466"/>
            <a:ext cx="1607398" cy="333987"/>
          </a:xfrm>
          <a:prstGeom prst="rect">
            <a:avLst/>
          </a:prstGeom>
          <a:solidFill>
            <a:schemeClr val="accent1"/>
          </a:solidFill>
          <a:ln>
            <a:solidFill>
              <a:schemeClr val="accent1"/>
            </a:solidFill>
          </a:ln>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400" dirty="0" smtClean="0">
                <a:solidFill>
                  <a:schemeClr val="bg1"/>
                </a:solidFill>
              </a:rPr>
              <a:t>ガイド情報入力</a:t>
            </a:r>
            <a:endParaRPr lang="en-US" altLang="ja-JP" sz="1400" dirty="0" smtClean="0">
              <a:solidFill>
                <a:schemeClr val="bg1"/>
              </a:solidFill>
            </a:endParaRPr>
          </a:p>
        </p:txBody>
      </p:sp>
      <p:sp>
        <p:nvSpPr>
          <p:cNvPr id="14" name="コンテンツ プレースホルダー 2"/>
          <p:cNvSpPr txBox="1">
            <a:spLocks/>
          </p:cNvSpPr>
          <p:nvPr/>
        </p:nvSpPr>
        <p:spPr>
          <a:xfrm>
            <a:off x="8096108" y="6402285"/>
            <a:ext cx="1607398" cy="333987"/>
          </a:xfrm>
          <a:prstGeom prst="rect">
            <a:avLst/>
          </a:prstGeom>
          <a:solidFill>
            <a:schemeClr val="accent1"/>
          </a:solidFill>
          <a:ln>
            <a:solidFill>
              <a:schemeClr val="accent1"/>
            </a:solidFill>
          </a:ln>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400" dirty="0" smtClean="0">
                <a:solidFill>
                  <a:schemeClr val="bg1"/>
                </a:solidFill>
              </a:rPr>
              <a:t>周辺情報確認</a:t>
            </a:r>
            <a:endParaRPr lang="en-US" altLang="ja-JP" sz="1400" dirty="0" smtClean="0">
              <a:solidFill>
                <a:schemeClr val="bg1"/>
              </a:solidFill>
            </a:endParaRPr>
          </a:p>
        </p:txBody>
      </p:sp>
    </p:spTree>
    <p:extLst>
      <p:ext uri="{BB962C8B-B14F-4D97-AF65-F5344CB8AC3E}">
        <p14:creationId xmlns:p14="http://schemas.microsoft.com/office/powerpoint/2010/main" val="26572792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アプリ</a:t>
            </a:r>
            <a:r>
              <a:rPr lang="ja-JP" altLang="en-US" dirty="0" smtClean="0"/>
              <a:t>の画面（</a:t>
            </a:r>
            <a:r>
              <a:rPr lang="ja-JP" altLang="en-US" dirty="0"/>
              <a:t>ガイド</a:t>
            </a:r>
            <a:r>
              <a:rPr lang="ja-JP" altLang="en-US" dirty="0" smtClean="0"/>
              <a:t>側）</a:t>
            </a:r>
            <a:endParaRPr kumimoji="1" lang="ja-JP" altLang="en-US" dirty="0"/>
          </a:p>
        </p:txBody>
      </p:sp>
      <p:sp>
        <p:nvSpPr>
          <p:cNvPr id="4" name="テキスト ボックス 3"/>
          <p:cNvSpPr txBox="1"/>
          <p:nvPr/>
        </p:nvSpPr>
        <p:spPr>
          <a:xfrm>
            <a:off x="5134702" y="2093044"/>
            <a:ext cx="5320763" cy="369332"/>
          </a:xfrm>
          <a:prstGeom prst="rect">
            <a:avLst/>
          </a:prstGeom>
          <a:noFill/>
        </p:spPr>
        <p:txBody>
          <a:bodyPr wrap="square" rtlCol="0">
            <a:spAutoFit/>
          </a:bodyPr>
          <a:lstStyle/>
          <a:p>
            <a:r>
              <a:rPr lang="ja-JP" altLang="en-US" b="1" dirty="0" smtClean="0">
                <a:latin typeface="メイリオ" panose="020B0604030504040204" pitchFamily="50" charset="-128"/>
                <a:ea typeface="メイリオ" panose="020B0604030504040204" pitchFamily="50" charset="-128"/>
                <a:cs typeface="メイリオ" panose="020B0604030504040204" pitchFamily="50" charset="-128"/>
              </a:rPr>
              <a:t>ガイド情報一覧</a:t>
            </a:r>
            <a:r>
              <a:rPr kumimoji="1" lang="ja-JP" altLang="en-US" b="1" dirty="0" smtClean="0">
                <a:latin typeface="メイリオ" panose="020B0604030504040204" pitchFamily="50" charset="-128"/>
                <a:ea typeface="メイリオ" panose="020B0604030504040204" pitchFamily="50" charset="-128"/>
                <a:cs typeface="メイリオ" panose="020B0604030504040204" pitchFamily="50" charset="-128"/>
              </a:rPr>
              <a:t>画面</a:t>
            </a:r>
            <a:endParaRPr kumimoji="1" lang="ja-JP" altLang="en-US"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p:cNvSpPr txBox="1"/>
          <p:nvPr/>
        </p:nvSpPr>
        <p:spPr>
          <a:xfrm>
            <a:off x="5134703" y="2524998"/>
            <a:ext cx="5351890" cy="1477328"/>
          </a:xfrm>
          <a:prstGeom prst="rect">
            <a:avLst/>
          </a:prstGeom>
          <a:noFill/>
        </p:spPr>
        <p:txBody>
          <a:bodyPr wrap="square" rtlCol="0">
            <a:spAutoFit/>
          </a:bodyPr>
          <a:lstStyle/>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ガイドが、自身が入力したガイド情報の一覧を確認出来る画面です。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ガイドの新規入力を行ったり、入力済のガイド情報の修正・削除を行うことが出来ます。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6" name="Picture 5" descr="\\kdlshared\業務\アプリコンテスト\04.アイデア検討\90.参考資料\nsasaki\ガイド用\ガイドTOP.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13623" y="2093408"/>
            <a:ext cx="3421080" cy="3485764"/>
          </a:xfrm>
          <a:prstGeom prst="rect">
            <a:avLst/>
          </a:prstGeom>
          <a:noFill/>
          <a:ln>
            <a:solidFill>
              <a:schemeClr val="accent1">
                <a:shade val="95000"/>
                <a:satMod val="10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54873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アプリ</a:t>
            </a:r>
            <a:r>
              <a:rPr lang="ja-JP" altLang="en-US" dirty="0" smtClean="0"/>
              <a:t>の画面（</a:t>
            </a:r>
            <a:r>
              <a:rPr lang="ja-JP" altLang="en-US" dirty="0"/>
              <a:t>ガイド</a:t>
            </a:r>
            <a:r>
              <a:rPr lang="ja-JP" altLang="en-US" dirty="0" smtClean="0"/>
              <a:t>側）</a:t>
            </a:r>
            <a:endParaRPr kumimoji="1" lang="ja-JP" altLang="en-US" dirty="0"/>
          </a:p>
        </p:txBody>
      </p:sp>
      <p:sp>
        <p:nvSpPr>
          <p:cNvPr id="7" name="テキスト ボックス 6"/>
          <p:cNvSpPr txBox="1"/>
          <p:nvPr/>
        </p:nvSpPr>
        <p:spPr>
          <a:xfrm>
            <a:off x="5227900" y="1735699"/>
            <a:ext cx="5320763" cy="369332"/>
          </a:xfrm>
          <a:prstGeom prst="rect">
            <a:avLst/>
          </a:prstGeom>
          <a:noFill/>
        </p:spPr>
        <p:txBody>
          <a:bodyPr wrap="square" rtlCol="0">
            <a:spAutoFit/>
          </a:bodyPr>
          <a:lstStyle/>
          <a:p>
            <a:r>
              <a:rPr lang="ja-JP" altLang="en-US" b="1" dirty="0" smtClean="0">
                <a:latin typeface="メイリオ" panose="020B0604030504040204" pitchFamily="50" charset="-128"/>
                <a:ea typeface="メイリオ" panose="020B0604030504040204" pitchFamily="50" charset="-128"/>
                <a:cs typeface="メイリオ" panose="020B0604030504040204" pitchFamily="50" charset="-128"/>
              </a:rPr>
              <a:t>ガイド情報入力・編集画面</a:t>
            </a:r>
            <a:endParaRPr kumimoji="1" lang="ja-JP" altLang="en-US"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テキスト ボックス 7"/>
          <p:cNvSpPr txBox="1"/>
          <p:nvPr/>
        </p:nvSpPr>
        <p:spPr>
          <a:xfrm>
            <a:off x="5227901" y="2167653"/>
            <a:ext cx="5351890" cy="4524315"/>
          </a:xfrm>
          <a:prstGeom prst="rect">
            <a:avLst/>
          </a:prstGeom>
          <a:noFill/>
        </p:spPr>
        <p:txBody>
          <a:bodyPr wrap="square" rtlCol="0">
            <a:spAutoFit/>
          </a:bodyPr>
          <a:lstStyle/>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ガイドが情報を入力・編集を行う画面です。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下記情報を入力可能です。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・ガイドカテゴリ</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 （イベント、観光、グルメ、ショッピング、宿泊、その他）</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・場所 （地名）</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・言語  （情報を記述している言語）</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・月日  （ガイド情報のシーズン）</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・写真  （ガイド情報の写真）</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・コメント  （ガイド情報コメント）</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また右上の</a:t>
            </a:r>
            <a:r>
              <a:rPr lang="ja-JP" altLang="en-US"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「混み具合を確認する。」</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ボタンを押すことで、場所、シーズンごとの混み具合を確認することが出来、より詳細なコメントを作成することが可能となります。</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9" name="Picture 2" descr="\\kdlshared\業務\アプリコンテスト\04.アイデア検討\90.参考資料\nsasaki\ガイド用\ガイド新規入力.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5696" y="1812585"/>
            <a:ext cx="3312368" cy="3103874"/>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1260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アプリ</a:t>
            </a:r>
            <a:r>
              <a:rPr lang="ja-JP" altLang="en-US" dirty="0" smtClean="0"/>
              <a:t>の画面（</a:t>
            </a:r>
            <a:r>
              <a:rPr lang="ja-JP" altLang="en-US" dirty="0"/>
              <a:t>ガイド</a:t>
            </a:r>
            <a:r>
              <a:rPr lang="ja-JP" altLang="en-US" dirty="0" smtClean="0"/>
              <a:t>側）</a:t>
            </a:r>
            <a:endParaRPr kumimoji="1" lang="ja-JP" altLang="en-US" dirty="0"/>
          </a:p>
        </p:txBody>
      </p:sp>
      <p:sp>
        <p:nvSpPr>
          <p:cNvPr id="3" name="テキスト ボックス 2"/>
          <p:cNvSpPr txBox="1"/>
          <p:nvPr/>
        </p:nvSpPr>
        <p:spPr>
          <a:xfrm>
            <a:off x="4879521" y="1892202"/>
            <a:ext cx="5320763" cy="369332"/>
          </a:xfrm>
          <a:prstGeom prst="rect">
            <a:avLst/>
          </a:prstGeom>
          <a:noFill/>
        </p:spPr>
        <p:txBody>
          <a:bodyPr wrap="square" rtlCol="0">
            <a:spAutoFit/>
          </a:bodyPr>
          <a:lstStyle/>
          <a:p>
            <a:r>
              <a:rPr lang="ja-JP" altLang="en-US" b="1" dirty="0" smtClean="0">
                <a:latin typeface="メイリオ" panose="020B0604030504040204" pitchFamily="50" charset="-128"/>
                <a:ea typeface="メイリオ" panose="020B0604030504040204" pitchFamily="50" charset="-128"/>
                <a:cs typeface="メイリオ" panose="020B0604030504040204" pitchFamily="50" charset="-128"/>
              </a:rPr>
              <a:t>「周辺情報を確認する」画面</a:t>
            </a:r>
            <a:endParaRPr kumimoji="1" lang="ja-JP" altLang="en-US" b="1"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テキスト ボックス 3"/>
          <p:cNvSpPr txBox="1"/>
          <p:nvPr/>
        </p:nvSpPr>
        <p:spPr>
          <a:xfrm>
            <a:off x="4879522" y="2324156"/>
            <a:ext cx="5351890" cy="3139321"/>
          </a:xfrm>
          <a:prstGeom prst="rect">
            <a:avLst/>
          </a:prstGeom>
          <a:noFill/>
        </p:spPr>
        <p:txBody>
          <a:bodyPr wrap="square" rtlCol="0">
            <a:spAutoFit/>
          </a:bodyPr>
          <a:lstStyle/>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ガイドが情報を入力・編集を行う場合に、参考情報をして混み具合や周辺情報などを地図で確認することができる画面です。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混み具合は</a:t>
            </a:r>
            <a:r>
              <a:rPr lang="ja-JP" altLang="en-US"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b="1"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神戸市モバイル空間統計</a:t>
            </a:r>
            <a:r>
              <a:rPr lang="en-US" altLang="ja-JP" b="1"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b="1"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を利用し取得します。</a:t>
            </a:r>
            <a:endParaRPr lang="en-US" altLang="ja-JP"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dirty="0">
                <a:latin typeface="メイリオ" panose="020B0604030504040204" pitchFamily="50" charset="-128"/>
                <a:ea typeface="メイリオ" panose="020B0604030504040204" pitchFamily="50" charset="-128"/>
                <a:cs typeface="メイリオ" panose="020B0604030504040204" pitchFamily="50" charset="-128"/>
              </a:rPr>
              <a:t>また</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a:t>
            </a:r>
            <a:r>
              <a:rPr lang="ja-JP" altLang="en-US"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神戸市行政データ</a:t>
            </a:r>
            <a:r>
              <a:rPr lang="en-US" altLang="ja-JP" b="1"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b="1"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を利用し、</a:t>
            </a:r>
            <a:r>
              <a:rPr lang="ja-JP" altLang="en-US" dirty="0" smtClean="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周辺のロケ地や観光情報、トイレ位置</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なども取得・表示し、より有用なガイド情報作成にお役立ていただけます。</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5" name="Picture 2" descr="C:\Users\nsasaki\Downloads\ガイド補助情報.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87317" y="1890644"/>
            <a:ext cx="3309527" cy="3174788"/>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87113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（参考資料）</a:t>
            </a:r>
            <a:endParaRPr kumimoji="1" lang="ja-JP" altLang="en-US" dirty="0"/>
          </a:p>
        </p:txBody>
      </p:sp>
      <p:sp>
        <p:nvSpPr>
          <p:cNvPr id="3" name="正方形/長方形 2"/>
          <p:cNvSpPr/>
          <p:nvPr/>
        </p:nvSpPr>
        <p:spPr>
          <a:xfrm>
            <a:off x="1048718" y="1690688"/>
            <a:ext cx="9102671" cy="5078313"/>
          </a:xfrm>
          <a:prstGeom prst="rect">
            <a:avLst/>
          </a:prstGeom>
        </p:spPr>
        <p:txBody>
          <a:bodyPr wrap="square">
            <a:spAutoFit/>
          </a:bodyPr>
          <a:lstStyle/>
          <a:p>
            <a:pPr marL="185738" indent="-185738"/>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rPr>
              <a:t>1.</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平成</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24年度神戸市観光動向調査結果に</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ついて </a:t>
            </a: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rPr>
            </a:b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hlinkClick r:id="rId2"/>
              </a:rPr>
              <a:t>http</a:t>
            </a:r>
            <a:r>
              <a:rPr lang="ja-JP" altLang="en-US" dirty="0">
                <a:latin typeface="メイリオ" panose="020B0604030504040204" pitchFamily="50" charset="-128"/>
                <a:ea typeface="メイリオ" panose="020B0604030504040204" pitchFamily="50" charset="-128"/>
                <a:cs typeface="メイリオ" panose="020B0604030504040204" pitchFamily="50" charset="-128"/>
                <a:hlinkClick r:id="rId2"/>
              </a:rPr>
              <a:t>://www.city.kobe.lg.jp/information/data/statistics/sightseeing/data/img/doukou24.</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hlinkClick r:id="rId2"/>
              </a:rPr>
              <a:t>pdf</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85738" indent="-185738"/>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85738" indent="-185738"/>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rPr>
              <a:t>2.</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神戸のイメージ調査結果について </a:t>
            </a:r>
            <a:r>
              <a:rPr lang="en-US" altLang="ja-JP"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hlinkClick r:id="rId3"/>
              </a:rPr>
              <a:t>http</a:t>
            </a:r>
            <a:r>
              <a:rPr lang="en-US" altLang="ja-JP" dirty="0">
                <a:latin typeface="メイリオ" panose="020B0604030504040204" pitchFamily="50" charset="-128"/>
                <a:ea typeface="メイリオ" panose="020B0604030504040204" pitchFamily="50" charset="-128"/>
                <a:cs typeface="メイリオ" panose="020B0604030504040204" pitchFamily="50" charset="-128"/>
                <a:hlinkClick r:id="rId3"/>
              </a:rPr>
              <a:t>://</a:t>
            </a: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hlinkClick r:id="rId3"/>
              </a:rPr>
              <a:t>www.city.kobe.lg.jp/information/data/statistics/sightseeing/data/</a:t>
            </a:r>
            <a:r>
              <a:rPr lang="en-US" altLang="ja-JP" dirty="0" err="1" smtClean="0">
                <a:latin typeface="メイリオ" panose="020B0604030504040204" pitchFamily="50" charset="-128"/>
                <a:ea typeface="メイリオ" panose="020B0604030504040204" pitchFamily="50" charset="-128"/>
                <a:cs typeface="メイリオ" panose="020B0604030504040204" pitchFamily="50" charset="-128"/>
                <a:hlinkClick r:id="rId3"/>
              </a:rPr>
              <a:t>img</a:t>
            </a: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hlinkClick r:id="rId3"/>
              </a:rPr>
              <a:t>/image1501.pdf</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85738" indent="-185738"/>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85738" indent="-185738"/>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rPr>
              <a:t>3.</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観光ボランティアガイド一覧</a:t>
            </a: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rPr>
              <a:t/>
            </a:r>
            <a:b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rPr>
            </a:b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hlinkClick r:id="rId4"/>
              </a:rPr>
              <a:t>http</a:t>
            </a:r>
            <a:r>
              <a:rPr lang="en-US" altLang="ja-JP" dirty="0">
                <a:latin typeface="メイリオ" panose="020B0604030504040204" pitchFamily="50" charset="-128"/>
                <a:ea typeface="メイリオ" panose="020B0604030504040204" pitchFamily="50" charset="-128"/>
                <a:cs typeface="メイリオ" panose="020B0604030504040204" pitchFamily="50" charset="-128"/>
                <a:hlinkClick r:id="rId4"/>
              </a:rPr>
              <a:t>://</a:t>
            </a:r>
            <a:r>
              <a:rPr lang="en-US" altLang="ja-JP" dirty="0" err="1">
                <a:latin typeface="メイリオ" panose="020B0604030504040204" pitchFamily="50" charset="-128"/>
                <a:ea typeface="メイリオ" panose="020B0604030504040204" pitchFamily="50" charset="-128"/>
                <a:cs typeface="メイリオ" panose="020B0604030504040204" pitchFamily="50" charset="-128"/>
                <a:hlinkClick r:id="rId4"/>
              </a:rPr>
              <a:t>www.feel-kobe.jp</a:t>
            </a:r>
            <a:r>
              <a:rPr lang="en-US" altLang="ja-JP" dirty="0">
                <a:latin typeface="メイリオ" panose="020B0604030504040204" pitchFamily="50" charset="-128"/>
                <a:ea typeface="メイリオ" panose="020B0604030504040204" pitchFamily="50" charset="-128"/>
                <a:cs typeface="メイリオ" panose="020B0604030504040204" pitchFamily="50" charset="-128"/>
                <a:hlinkClick r:id="rId4"/>
              </a:rPr>
              <a:t>/volunteer</a:t>
            </a: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hlinkClick r:id="rId4"/>
              </a:rPr>
              <a:t>/</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85738" indent="-185738"/>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85738" indent="-185738"/>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rPr>
              <a:t>4.</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神戸市商店街組合</a:t>
            </a:r>
            <a:r>
              <a:rPr lang="ja-JP" altLang="en-US" dirty="0">
                <a:latin typeface="メイリオ" panose="020B0604030504040204" pitchFamily="50" charset="-128"/>
                <a:ea typeface="メイリオ" panose="020B0604030504040204" pitchFamily="50" charset="-128"/>
                <a:cs typeface="メイリオ" panose="020B0604030504040204" pitchFamily="50" charset="-128"/>
              </a:rPr>
              <a:t>一覧</a:t>
            </a:r>
            <a:r>
              <a:rPr lang="en-US" altLang="ja-JP" dirty="0">
                <a:latin typeface="メイリオ" panose="020B0604030504040204" pitchFamily="50" charset="-128"/>
                <a:ea typeface="メイリオ" panose="020B0604030504040204" pitchFamily="50" charset="-128"/>
                <a:cs typeface="メイリオ" panose="020B0604030504040204" pitchFamily="50" charset="-128"/>
              </a:rPr>
              <a:t/>
            </a:r>
            <a:br>
              <a:rPr lang="en-US" altLang="ja-JP" dirty="0">
                <a:latin typeface="メイリオ" panose="020B0604030504040204" pitchFamily="50" charset="-128"/>
                <a:ea typeface="メイリオ" panose="020B0604030504040204" pitchFamily="50" charset="-128"/>
                <a:cs typeface="メイリオ" panose="020B0604030504040204" pitchFamily="50" charset="-128"/>
              </a:rPr>
            </a:b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hlinkClick r:id="rId5"/>
              </a:rPr>
              <a:t>http</a:t>
            </a:r>
            <a:r>
              <a:rPr lang="en-US" altLang="ja-JP" dirty="0">
                <a:latin typeface="メイリオ" panose="020B0604030504040204" pitchFamily="50" charset="-128"/>
                <a:ea typeface="メイリオ" panose="020B0604030504040204" pitchFamily="50" charset="-128"/>
                <a:cs typeface="メイリオ" panose="020B0604030504040204" pitchFamily="50" charset="-128"/>
                <a:hlinkClick r:id="rId5"/>
              </a:rPr>
              <a:t>://</a:t>
            </a: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hlinkClick r:id="rId5"/>
              </a:rPr>
              <a:t>www.city.kobe.lg.jp/business/promotion/commerce/shop/3.html</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85738" indent="-185738"/>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85738" indent="-185738"/>
            <a:r>
              <a:rPr lang="en-US" altLang="ja-JP" dirty="0">
                <a:latin typeface="メイリオ" panose="020B0604030504040204" pitchFamily="50" charset="-128"/>
                <a:ea typeface="メイリオ" panose="020B0604030504040204" pitchFamily="50" charset="-128"/>
                <a:cs typeface="メイリオ" panose="020B0604030504040204" pitchFamily="50" charset="-128"/>
              </a:rPr>
              <a:t>5</a:t>
            </a: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rPr>
              <a:t>.</a:t>
            </a:r>
            <a:r>
              <a:rPr lang="ja-JP" altLang="en-US" dirty="0" smtClean="0">
                <a:latin typeface="メイリオ" panose="020B0604030504040204" pitchFamily="50" charset="-128"/>
                <a:ea typeface="メイリオ" panose="020B0604030504040204" pitchFamily="50" charset="-128"/>
                <a:cs typeface="メイリオ" panose="020B0604030504040204" pitchFamily="50" charset="-128"/>
              </a:rPr>
              <a:t>神戸市広報誌</a:t>
            </a:r>
            <a:r>
              <a:rPr lang="en-US" altLang="ja-JP" dirty="0">
                <a:latin typeface="メイリオ" panose="020B0604030504040204" pitchFamily="50" charset="-128"/>
                <a:ea typeface="メイリオ" panose="020B0604030504040204" pitchFamily="50" charset="-128"/>
                <a:cs typeface="メイリオ" panose="020B0604030504040204" pitchFamily="50" charset="-128"/>
              </a:rPr>
              <a:t/>
            </a:r>
            <a:br>
              <a:rPr lang="en-US" altLang="ja-JP" dirty="0">
                <a:latin typeface="メイリオ" panose="020B0604030504040204" pitchFamily="50" charset="-128"/>
                <a:ea typeface="メイリオ" panose="020B0604030504040204" pitchFamily="50" charset="-128"/>
                <a:cs typeface="メイリオ" panose="020B0604030504040204" pitchFamily="50" charset="-128"/>
              </a:rPr>
            </a:b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hlinkClick r:id="rId6"/>
              </a:rPr>
              <a:t>http</a:t>
            </a:r>
            <a:r>
              <a:rPr lang="en-US" altLang="ja-JP" dirty="0">
                <a:latin typeface="メイリオ" panose="020B0604030504040204" pitchFamily="50" charset="-128"/>
                <a:ea typeface="メイリオ" panose="020B0604030504040204" pitchFamily="50" charset="-128"/>
                <a:cs typeface="メイリオ" panose="020B0604030504040204" pitchFamily="50" charset="-128"/>
                <a:hlinkClick r:id="rId6"/>
              </a:rPr>
              <a:t>://www.city.kobe.lg.jp/information/public/</a:t>
            </a:r>
            <a:r>
              <a:rPr lang="en-US" altLang="ja-JP" dirty="0" err="1">
                <a:latin typeface="メイリオ" panose="020B0604030504040204" pitchFamily="50" charset="-128"/>
                <a:ea typeface="メイリオ" panose="020B0604030504040204" pitchFamily="50" charset="-128"/>
                <a:cs typeface="メイリオ" panose="020B0604030504040204" pitchFamily="50" charset="-128"/>
                <a:hlinkClick r:id="rId6"/>
              </a:rPr>
              <a:t>kouhoushi</a:t>
            </a:r>
            <a:r>
              <a:rPr lang="en-US" altLang="ja-JP" dirty="0" smtClean="0">
                <a:latin typeface="メイリオ" panose="020B0604030504040204" pitchFamily="50" charset="-128"/>
                <a:ea typeface="メイリオ" panose="020B0604030504040204" pitchFamily="50" charset="-128"/>
                <a:cs typeface="メイリオ" panose="020B0604030504040204" pitchFamily="50" charset="-128"/>
                <a:hlinkClick r:id="rId6"/>
              </a:rPr>
              <a:t>/</a:t>
            </a:r>
            <a:endParaRPr lang="en-US" altLang="ja-JP" dirty="0" smtClean="0">
              <a:latin typeface="メイリオ" panose="020B0604030504040204" pitchFamily="50" charset="-128"/>
              <a:ea typeface="メイリオ" panose="020B0604030504040204" pitchFamily="50" charset="-128"/>
              <a:cs typeface="メイリオ" panose="020B0604030504040204" pitchFamily="50" charset="-128"/>
            </a:endParaRPr>
          </a:p>
          <a:p>
            <a:pPr marL="185738" indent="-185738"/>
            <a:endParaRPr lang="en-US" altLang="ja-JP" dirty="0">
              <a:latin typeface="メイリオ" panose="020B0604030504040204" pitchFamily="50" charset="-128"/>
              <a:ea typeface="メイリオ" panose="020B0604030504040204" pitchFamily="50" charset="-128"/>
              <a:cs typeface="メイリオ" panose="020B0604030504040204" pitchFamily="50" charset="-128"/>
            </a:endParaRPr>
          </a:p>
          <a:p>
            <a:pPr marL="185738" indent="-185738"/>
            <a:endParaRPr lang="ja-JP" altLang="en-US"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08919332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kumimoji="1" dirty="0">
            <a:latin typeface="メイリオ" panose="020B0604030504040204" pitchFamily="50" charset="-128"/>
            <a:ea typeface="メイリオ" panose="020B0604030504040204" pitchFamily="50" charset="-128"/>
            <a:cs typeface="メイリオ" panose="020B0604030504040204" pitchFamily="50" charset="-128"/>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6543</TotalTime>
  <Words>1401</Words>
  <Application>Microsoft Office PowerPoint</Application>
  <PresentationFormat>ユーザー設定</PresentationFormat>
  <Paragraphs>205</Paragraphs>
  <Slides>22</Slides>
  <Notes>1</Notes>
  <HiddenSlides>0</HiddenSlides>
  <MMClips>0</MMClips>
  <ScaleCrop>false</ScaleCrop>
  <HeadingPairs>
    <vt:vector size="4" baseType="variant">
      <vt:variant>
        <vt:lpstr>テーマ</vt:lpstr>
      </vt:variant>
      <vt:variant>
        <vt:i4>1</vt:i4>
      </vt:variant>
      <vt:variant>
        <vt:lpstr>スライド タイトル</vt:lpstr>
      </vt:variant>
      <vt:variant>
        <vt:i4>22</vt:i4>
      </vt:variant>
    </vt:vector>
  </HeadingPairs>
  <TitlesOfParts>
    <vt:vector size="23" baseType="lpstr">
      <vt:lpstr>Office テーマ</vt:lpstr>
      <vt:lpstr>Kobe Street Adviser</vt:lpstr>
      <vt:lpstr>企画の目的</vt:lpstr>
      <vt:lpstr>課題の分析</vt:lpstr>
      <vt:lpstr>課題の分析</vt:lpstr>
      <vt:lpstr>企画の方針と狙い</vt:lpstr>
      <vt:lpstr>企画の方針と狙い</vt:lpstr>
      <vt:lpstr>企画のターゲット</vt:lpstr>
      <vt:lpstr>企画の実現案</vt:lpstr>
      <vt:lpstr>プロモーションプラン</vt:lpstr>
      <vt:lpstr>アプリの存在を知ってもらう</vt:lpstr>
      <vt:lpstr>アプリの良さを知ってもらう</vt:lpstr>
      <vt:lpstr>アプリを使い続けてもらう</vt:lpstr>
      <vt:lpstr>スケジュールの方針</vt:lpstr>
      <vt:lpstr>アプリの画面遷移（利用者側）</vt:lpstr>
      <vt:lpstr>アプリの画面(利用者側)</vt:lpstr>
      <vt:lpstr>アプリの画面(利用者側)</vt:lpstr>
      <vt:lpstr>アプリの画面(利用者側)</vt:lpstr>
      <vt:lpstr>アプリの画面遷移（ガイド側）</vt:lpstr>
      <vt:lpstr>アプリの画面（ガイド側）</vt:lpstr>
      <vt:lpstr>アプリの画面（ガイド側）</vt:lpstr>
      <vt:lpstr>アプリの画面（ガイド側）</vt:lpstr>
      <vt:lpstr>（参考資料）</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2015-10-09T10:44:55Z</dcterms:created>
  <dcterms:modified xsi:type="dcterms:W3CDTF">2015-10-23T05:44:18Z</dcterms:modified>
</cp:coreProperties>
</file>