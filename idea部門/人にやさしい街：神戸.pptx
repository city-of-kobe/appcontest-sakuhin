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653" r:id="rId2"/>
  </p:sldMasterIdLst>
  <p:notesMasterIdLst>
    <p:notesMasterId r:id="rId9"/>
  </p:notesMasterIdLst>
  <p:handoutMasterIdLst>
    <p:handoutMasterId r:id="rId10"/>
  </p:handoutMasterIdLst>
  <p:sldIdLst>
    <p:sldId id="527" r:id="rId3"/>
    <p:sldId id="531" r:id="rId4"/>
    <p:sldId id="526" r:id="rId5"/>
    <p:sldId id="528" r:id="rId6"/>
    <p:sldId id="532" r:id="rId7"/>
    <p:sldId id="529" r:id="rId8"/>
  </p:sldIdLst>
  <p:sldSz cx="9906000" cy="6858000" type="A4"/>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120">
          <p15:clr>
            <a:srgbClr val="A4A3A4"/>
          </p15:clr>
        </p15:guide>
      </p15:sldGuideLst>
    </p:ext>
    <p:ext uri="{2D200454-40CA-4A62-9FC3-DE9A4176ACB9}">
      <p15:notesGuideLst xmlns:p15="http://schemas.microsoft.com/office/powerpoint/2012/main" xmlns="">
        <p15:guide id="1" orient="horz" pos="3108">
          <p15:clr>
            <a:srgbClr val="A4A3A4"/>
          </p15:clr>
        </p15:guide>
        <p15:guide id="2" pos="212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福田 孝一" initials="福田"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CCFF"/>
    <a:srgbClr val="00A0EA"/>
    <a:srgbClr val="FFFF99"/>
    <a:srgbClr val="FFFFCC"/>
    <a:srgbClr val="996633"/>
    <a:srgbClr val="CCFFFF"/>
    <a:srgbClr val="CCFF99"/>
    <a:srgbClr val="CCECFF"/>
    <a:srgbClr val="FFCCFF"/>
    <a:srgbClr val="FDEF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24" autoAdjust="0"/>
    <p:restoredTop sz="69355" autoAdjust="0"/>
  </p:normalViewPr>
  <p:slideViewPr>
    <p:cSldViewPr>
      <p:cViewPr varScale="1">
        <p:scale>
          <a:sx n="74" d="100"/>
          <a:sy n="74" d="100"/>
        </p:scale>
        <p:origin x="-1050" y="-102"/>
      </p:cViewPr>
      <p:guideLst>
        <p:guide orient="horz" pos="2160"/>
        <p:guide pos="3120"/>
      </p:guideLst>
    </p:cSldViewPr>
  </p:slideViewPr>
  <p:outlineViewPr>
    <p:cViewPr>
      <p:scale>
        <a:sx n="33" d="100"/>
        <a:sy n="33" d="100"/>
      </p:scale>
      <p:origin x="0" y="387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1" d="100"/>
          <a:sy n="71" d="100"/>
        </p:scale>
        <p:origin x="-2028"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0"/>
            <a:ext cx="2919565" cy="493868"/>
          </a:xfrm>
          <a:prstGeom prst="rect">
            <a:avLst/>
          </a:prstGeom>
        </p:spPr>
        <p:txBody>
          <a:bodyPr vert="horz" lIns="90749" tIns="45375" rIns="90749" bIns="45375"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14627" y="0"/>
            <a:ext cx="2919565" cy="493868"/>
          </a:xfrm>
          <a:prstGeom prst="rect">
            <a:avLst/>
          </a:prstGeom>
        </p:spPr>
        <p:txBody>
          <a:bodyPr vert="horz" lIns="90749" tIns="45375" rIns="90749" bIns="45375" rtlCol="0"/>
          <a:lstStyle>
            <a:lvl1pPr algn="r">
              <a:defRPr sz="1200"/>
            </a:lvl1pPr>
          </a:lstStyle>
          <a:p>
            <a:fld id="{F5B87635-C4EE-4F20-8881-81C61FA494A5}" type="datetimeFigureOut">
              <a:rPr kumimoji="1" lang="ja-JP" altLang="en-US" smtClean="0"/>
              <a:pPr/>
              <a:t>2015/10/23</a:t>
            </a:fld>
            <a:endParaRPr kumimoji="1" lang="ja-JP" altLang="en-US"/>
          </a:p>
        </p:txBody>
      </p:sp>
      <p:sp>
        <p:nvSpPr>
          <p:cNvPr id="4" name="フッター プレースホルダ 3"/>
          <p:cNvSpPr>
            <a:spLocks noGrp="1"/>
          </p:cNvSpPr>
          <p:nvPr>
            <p:ph type="ftr" sz="quarter" idx="2"/>
          </p:nvPr>
        </p:nvSpPr>
        <p:spPr>
          <a:xfrm>
            <a:off x="1" y="9370869"/>
            <a:ext cx="2919565" cy="493867"/>
          </a:xfrm>
          <a:prstGeom prst="rect">
            <a:avLst/>
          </a:prstGeom>
        </p:spPr>
        <p:txBody>
          <a:bodyPr vert="horz" lIns="90749" tIns="45375" rIns="90749" bIns="45375"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14627" y="9370869"/>
            <a:ext cx="2919565" cy="493867"/>
          </a:xfrm>
          <a:prstGeom prst="rect">
            <a:avLst/>
          </a:prstGeom>
        </p:spPr>
        <p:txBody>
          <a:bodyPr vert="horz" lIns="90749" tIns="45375" rIns="90749" bIns="45375" rtlCol="0" anchor="b"/>
          <a:lstStyle>
            <a:lvl1pPr algn="r">
              <a:defRPr sz="1200"/>
            </a:lvl1pPr>
          </a:lstStyle>
          <a:p>
            <a:fld id="{58EC5D0E-8306-4E37-9C68-25EF48B3EA10}" type="slidenum">
              <a:rPr kumimoji="1" lang="ja-JP" altLang="en-US" smtClean="0"/>
              <a:pPr/>
              <a:t>‹#›</a:t>
            </a:fld>
            <a:endParaRPr kumimoji="1" lang="ja-JP" altLang="en-US"/>
          </a:p>
        </p:txBody>
      </p:sp>
    </p:spTree>
    <p:extLst>
      <p:ext uri="{BB962C8B-B14F-4D97-AF65-F5344CB8AC3E}">
        <p14:creationId xmlns:p14="http://schemas.microsoft.com/office/powerpoint/2010/main" val="31439774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0"/>
            <a:ext cx="2918830" cy="493316"/>
          </a:xfrm>
          <a:prstGeom prst="rect">
            <a:avLst/>
          </a:prstGeom>
        </p:spPr>
        <p:txBody>
          <a:bodyPr vert="horz" lIns="90734" tIns="45366" rIns="90734" bIns="45366" rtlCol="0"/>
          <a:lstStyle>
            <a:lvl1pPr algn="l">
              <a:defRPr sz="1200"/>
            </a:lvl1pPr>
          </a:lstStyle>
          <a:p>
            <a:endParaRPr kumimoji="1" lang="ja-JP" altLang="en-US"/>
          </a:p>
        </p:txBody>
      </p:sp>
      <p:sp>
        <p:nvSpPr>
          <p:cNvPr id="3" name="日付プレースホルダ 2"/>
          <p:cNvSpPr>
            <a:spLocks noGrp="1"/>
          </p:cNvSpPr>
          <p:nvPr>
            <p:ph type="dt" idx="1"/>
          </p:nvPr>
        </p:nvSpPr>
        <p:spPr>
          <a:xfrm>
            <a:off x="3815377" y="0"/>
            <a:ext cx="2918830" cy="493316"/>
          </a:xfrm>
          <a:prstGeom prst="rect">
            <a:avLst/>
          </a:prstGeom>
        </p:spPr>
        <p:txBody>
          <a:bodyPr vert="horz" lIns="90734" tIns="45366" rIns="90734" bIns="45366" rtlCol="0"/>
          <a:lstStyle>
            <a:lvl1pPr algn="r">
              <a:defRPr sz="1200"/>
            </a:lvl1pPr>
          </a:lstStyle>
          <a:p>
            <a:fld id="{119C1353-73AE-4A89-B701-37E7AD0651E2}" type="datetimeFigureOut">
              <a:rPr kumimoji="1" lang="ja-JP" altLang="en-US" smtClean="0"/>
              <a:pPr/>
              <a:t>2015/10/23</a:t>
            </a:fld>
            <a:endParaRPr kumimoji="1" lang="ja-JP" altLang="en-US"/>
          </a:p>
        </p:txBody>
      </p:sp>
      <p:sp>
        <p:nvSpPr>
          <p:cNvPr id="4" name="スライド イメージ プレースホルダ 3"/>
          <p:cNvSpPr>
            <a:spLocks noGrp="1" noRot="1" noChangeAspect="1"/>
          </p:cNvSpPr>
          <p:nvPr>
            <p:ph type="sldImg" idx="2"/>
          </p:nvPr>
        </p:nvSpPr>
        <p:spPr>
          <a:xfrm>
            <a:off x="695325" y="739775"/>
            <a:ext cx="5345113" cy="3700463"/>
          </a:xfrm>
          <a:prstGeom prst="rect">
            <a:avLst/>
          </a:prstGeom>
          <a:noFill/>
          <a:ln w="12700">
            <a:solidFill>
              <a:prstClr val="black"/>
            </a:solidFill>
          </a:ln>
        </p:spPr>
        <p:txBody>
          <a:bodyPr vert="horz" lIns="90734" tIns="45366" rIns="90734" bIns="45366" rtlCol="0" anchor="ctr"/>
          <a:lstStyle/>
          <a:p>
            <a:endParaRPr lang="ja-JP" altLang="en-US"/>
          </a:p>
        </p:txBody>
      </p:sp>
      <p:sp>
        <p:nvSpPr>
          <p:cNvPr id="6" name="フッター プレースホルダ 5"/>
          <p:cNvSpPr>
            <a:spLocks noGrp="1"/>
          </p:cNvSpPr>
          <p:nvPr>
            <p:ph type="ftr" sz="quarter" idx="4"/>
          </p:nvPr>
        </p:nvSpPr>
        <p:spPr>
          <a:xfrm>
            <a:off x="2" y="9371285"/>
            <a:ext cx="2918830" cy="493316"/>
          </a:xfrm>
          <a:prstGeom prst="rect">
            <a:avLst/>
          </a:prstGeom>
        </p:spPr>
        <p:txBody>
          <a:bodyPr vert="horz" lIns="90734" tIns="45366" rIns="90734" bIns="45366"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15377" y="9371285"/>
            <a:ext cx="2918830" cy="493316"/>
          </a:xfrm>
          <a:prstGeom prst="rect">
            <a:avLst/>
          </a:prstGeom>
        </p:spPr>
        <p:txBody>
          <a:bodyPr vert="horz" lIns="90734" tIns="45366" rIns="90734" bIns="45366" rtlCol="0" anchor="b"/>
          <a:lstStyle>
            <a:lvl1pPr algn="r">
              <a:defRPr sz="1200"/>
            </a:lvl1pPr>
          </a:lstStyle>
          <a:p>
            <a:fld id="{42E20DB2-011A-4328-A813-F16DB0E73677}" type="slidenum">
              <a:rPr kumimoji="1" lang="ja-JP" altLang="en-US" smtClean="0"/>
              <a:pPr/>
              <a:t>‹#›</a:t>
            </a:fld>
            <a:endParaRPr kumimoji="1" lang="ja-JP" altLang="en-US"/>
          </a:p>
        </p:txBody>
      </p:sp>
    </p:spTree>
    <p:extLst>
      <p:ext uri="{BB962C8B-B14F-4D97-AF65-F5344CB8AC3E}">
        <p14:creationId xmlns:p14="http://schemas.microsoft.com/office/powerpoint/2010/main" val="41114603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695325" y="739775"/>
            <a:ext cx="5345113" cy="3700463"/>
          </a:xfrm>
          <a:ln/>
        </p:spPr>
      </p:sp>
      <p:sp>
        <p:nvSpPr>
          <p:cNvPr id="51203" name="Rectangle 3"/>
          <p:cNvSpPr>
            <a:spLocks noGrp="1" noChangeArrowheads="1"/>
          </p:cNvSpPr>
          <p:nvPr>
            <p:ph type="body" idx="1"/>
          </p:nvPr>
        </p:nvSpPr>
        <p:spPr>
          <a:xfrm>
            <a:off x="673577" y="4686501"/>
            <a:ext cx="5388610" cy="4439841"/>
          </a:xfrm>
          <a:prstGeom prst="rect">
            <a:avLst/>
          </a:prstGeom>
          <a:noFill/>
          <a:ln/>
        </p:spPr>
        <p:txBody>
          <a:bodyPr lIns="90734" tIns="45366" rIns="90734" bIns="45366"/>
          <a:lstStyle/>
          <a:p>
            <a:endParaRPr lang="ja-JP" altLang="en-US" dirty="0" smtClean="0"/>
          </a:p>
        </p:txBody>
      </p:sp>
    </p:spTree>
    <p:extLst>
      <p:ext uri="{BB962C8B-B14F-4D97-AF65-F5344CB8AC3E}">
        <p14:creationId xmlns:p14="http://schemas.microsoft.com/office/powerpoint/2010/main" val="1557551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95325" y="739775"/>
            <a:ext cx="5345113" cy="3700463"/>
          </a:xfrm>
        </p:spPr>
      </p:sp>
      <p:sp>
        <p:nvSpPr>
          <p:cNvPr id="3" name="ノート プレースホルダー 2"/>
          <p:cNvSpPr>
            <a:spLocks noGrp="1"/>
          </p:cNvSpPr>
          <p:nvPr>
            <p:ph type="body" idx="1"/>
          </p:nvPr>
        </p:nvSpPr>
        <p:spPr>
          <a:xfrm>
            <a:off x="673101" y="4686300"/>
            <a:ext cx="5389563" cy="4440238"/>
          </a:xfrm>
          <a:prstGeom prst="rect">
            <a:avLst/>
          </a:prstGeom>
        </p:spPr>
        <p:txBody>
          <a:bodyPr lIns="91425" tIns="45713" rIns="91425" bIns="45713"/>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E20DB2-011A-4328-A813-F16DB0E73677}" type="slidenum">
              <a:rPr kumimoji="1" lang="ja-JP" altLang="en-US" smtClean="0"/>
              <a:pPr/>
              <a:t>1</a:t>
            </a:fld>
            <a:endParaRPr kumimoji="1" lang="ja-JP" altLang="en-US"/>
          </a:p>
        </p:txBody>
      </p:sp>
    </p:spTree>
    <p:extLst>
      <p:ext uri="{BB962C8B-B14F-4D97-AF65-F5344CB8AC3E}">
        <p14:creationId xmlns:p14="http://schemas.microsoft.com/office/powerpoint/2010/main" val="87476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95325" y="739775"/>
            <a:ext cx="5345113" cy="3700463"/>
          </a:xfrm>
        </p:spPr>
      </p:sp>
      <p:sp>
        <p:nvSpPr>
          <p:cNvPr id="3" name="ノート プレースホルダー 2"/>
          <p:cNvSpPr>
            <a:spLocks noGrp="1"/>
          </p:cNvSpPr>
          <p:nvPr>
            <p:ph type="body" idx="1"/>
          </p:nvPr>
        </p:nvSpPr>
        <p:spPr>
          <a:xfrm>
            <a:off x="673101" y="4686300"/>
            <a:ext cx="5389563" cy="4440238"/>
          </a:xfrm>
          <a:prstGeom prst="rect">
            <a:avLst/>
          </a:prstGeom>
        </p:spPr>
        <p:txBody>
          <a:bodyPr lIns="91425" tIns="45713" rIns="91425" bIns="45713"/>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E20DB2-011A-4328-A813-F16DB0E73677}" type="slidenum">
              <a:rPr kumimoji="1" lang="ja-JP" altLang="en-US" smtClean="0"/>
              <a:pPr/>
              <a:t>2</a:t>
            </a:fld>
            <a:endParaRPr kumimoji="1" lang="ja-JP" altLang="en-US"/>
          </a:p>
        </p:txBody>
      </p:sp>
    </p:spTree>
    <p:extLst>
      <p:ext uri="{BB962C8B-B14F-4D97-AF65-F5344CB8AC3E}">
        <p14:creationId xmlns:p14="http://schemas.microsoft.com/office/powerpoint/2010/main" val="409890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95325" y="739775"/>
            <a:ext cx="5345113" cy="3700463"/>
          </a:xfrm>
        </p:spPr>
      </p:sp>
      <p:sp>
        <p:nvSpPr>
          <p:cNvPr id="3" name="ノート プレースホルダー 2"/>
          <p:cNvSpPr>
            <a:spLocks noGrp="1"/>
          </p:cNvSpPr>
          <p:nvPr>
            <p:ph type="body" idx="1"/>
          </p:nvPr>
        </p:nvSpPr>
        <p:spPr>
          <a:xfrm>
            <a:off x="673101" y="4686300"/>
            <a:ext cx="5389563" cy="4440238"/>
          </a:xfrm>
          <a:prstGeom prst="rect">
            <a:avLst/>
          </a:prstGeom>
        </p:spPr>
        <p:txBody>
          <a:bodyPr lIns="91425" tIns="45713" rIns="91425" bIns="45713"/>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E20DB2-011A-4328-A813-F16DB0E73677}" type="slidenum">
              <a:rPr kumimoji="1" lang="ja-JP" altLang="en-US" smtClean="0"/>
              <a:pPr/>
              <a:t>3</a:t>
            </a:fld>
            <a:endParaRPr kumimoji="1" lang="ja-JP" altLang="en-US"/>
          </a:p>
        </p:txBody>
      </p:sp>
    </p:spTree>
    <p:extLst>
      <p:ext uri="{BB962C8B-B14F-4D97-AF65-F5344CB8AC3E}">
        <p14:creationId xmlns:p14="http://schemas.microsoft.com/office/powerpoint/2010/main" val="4098908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95325" y="739775"/>
            <a:ext cx="5345113" cy="3700463"/>
          </a:xfrm>
        </p:spPr>
      </p:sp>
      <p:sp>
        <p:nvSpPr>
          <p:cNvPr id="3" name="ノート プレースホルダー 2"/>
          <p:cNvSpPr>
            <a:spLocks noGrp="1"/>
          </p:cNvSpPr>
          <p:nvPr>
            <p:ph type="body" idx="1"/>
          </p:nvPr>
        </p:nvSpPr>
        <p:spPr>
          <a:xfrm>
            <a:off x="673101" y="4686300"/>
            <a:ext cx="5389563" cy="4440238"/>
          </a:xfrm>
          <a:prstGeom prst="rect">
            <a:avLst/>
          </a:prstGeom>
        </p:spPr>
        <p:txBody>
          <a:bodyPr lIns="91425" tIns="45713" rIns="91425" bIns="45713"/>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E20DB2-011A-4328-A813-F16DB0E73677}" type="slidenum">
              <a:rPr kumimoji="1" lang="ja-JP" altLang="en-US" smtClean="0"/>
              <a:pPr/>
              <a:t>4</a:t>
            </a:fld>
            <a:endParaRPr kumimoji="1" lang="ja-JP" altLang="en-US"/>
          </a:p>
        </p:txBody>
      </p:sp>
    </p:spTree>
    <p:extLst>
      <p:ext uri="{BB962C8B-B14F-4D97-AF65-F5344CB8AC3E}">
        <p14:creationId xmlns:p14="http://schemas.microsoft.com/office/powerpoint/2010/main" val="3357743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95325" y="739775"/>
            <a:ext cx="5345113" cy="3700463"/>
          </a:xfrm>
        </p:spPr>
      </p:sp>
      <p:sp>
        <p:nvSpPr>
          <p:cNvPr id="3" name="ノート プレースホルダー 2"/>
          <p:cNvSpPr>
            <a:spLocks noGrp="1"/>
          </p:cNvSpPr>
          <p:nvPr>
            <p:ph type="body" idx="1"/>
          </p:nvPr>
        </p:nvSpPr>
        <p:spPr>
          <a:xfrm>
            <a:off x="673101" y="4686300"/>
            <a:ext cx="5389563" cy="4440238"/>
          </a:xfrm>
          <a:prstGeom prst="rect">
            <a:avLst/>
          </a:prstGeom>
        </p:spPr>
        <p:txBody>
          <a:bodyPr lIns="91425" tIns="45713" rIns="91425" bIns="45713"/>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E20DB2-011A-4328-A813-F16DB0E73677}" type="slidenum">
              <a:rPr kumimoji="1" lang="ja-JP" altLang="en-US" smtClean="0"/>
              <a:pPr/>
              <a:t>5</a:t>
            </a:fld>
            <a:endParaRPr kumimoji="1" lang="ja-JP" altLang="en-US"/>
          </a:p>
        </p:txBody>
      </p:sp>
    </p:spTree>
    <p:extLst>
      <p:ext uri="{BB962C8B-B14F-4D97-AF65-F5344CB8AC3E}">
        <p14:creationId xmlns:p14="http://schemas.microsoft.com/office/powerpoint/2010/main" val="40989083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vmlDrawing" Target="../drawings/vmlDrawing4.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タイトル スライド">
    <p:spTree>
      <p:nvGrpSpPr>
        <p:cNvPr id="1" name=""/>
        <p:cNvGrpSpPr/>
        <p:nvPr/>
      </p:nvGrpSpPr>
      <p:grpSpPr>
        <a:xfrm>
          <a:off x="0" y="0"/>
          <a:ext cx="0" cy="0"/>
          <a:chOff x="0" y="0"/>
          <a:chExt cx="0" cy="0"/>
        </a:xfrm>
      </p:grpSpPr>
      <p:sp>
        <p:nvSpPr>
          <p:cNvPr id="8" name="Text Box 5"/>
          <p:cNvSpPr txBox="1">
            <a:spLocks noChangeArrowheads="1"/>
          </p:cNvSpPr>
          <p:nvPr userDrawn="1"/>
        </p:nvSpPr>
        <p:spPr bwMode="auto">
          <a:xfrm>
            <a:off x="3626855" y="6623501"/>
            <a:ext cx="5928659" cy="211203"/>
          </a:xfrm>
          <a:prstGeom prst="rect">
            <a:avLst/>
          </a:prstGeom>
          <a:noFill/>
          <a:ln w="9525">
            <a:noFill/>
            <a:miter lim="800000"/>
            <a:headEnd/>
            <a:tailEnd/>
          </a:ln>
          <a:effectLst/>
        </p:spPr>
        <p:txBody>
          <a:bodyPr wrap="square" lIns="91429" tIns="36000" rIns="91429" bIns="36000" anchor="ctr" anchorCtr="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Copyright</a:t>
            </a:r>
            <a:r>
              <a:rPr lang="ja-JP" altLang="en-US" sz="900" dirty="0" smtClean="0">
                <a:solidFill>
                  <a:schemeClr val="tx1">
                    <a:lumMod val="50000"/>
                    <a:lumOff val="50000"/>
                  </a:schemeClr>
                </a:solidFill>
                <a:latin typeface="メイリオ" pitchFamily="50" charset="-128"/>
                <a:ea typeface="メイリオ" pitchFamily="50" charset="-128"/>
                <a:cs typeface="メイリオ" pitchFamily="50" charset="-128"/>
              </a:rPr>
              <a:t> Ⓒ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2015</a:t>
            </a:r>
            <a:r>
              <a:rPr kumimoji="0"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Kobe Digital </a:t>
            </a:r>
            <a:r>
              <a:rPr lang="en-US" altLang="ja-JP" sz="900" dirty="0" err="1" smtClean="0">
                <a:solidFill>
                  <a:schemeClr val="tx1">
                    <a:lumMod val="50000"/>
                    <a:lumOff val="50000"/>
                  </a:schemeClr>
                </a:solidFill>
                <a:latin typeface="メイリオ" pitchFamily="50" charset="-128"/>
                <a:ea typeface="メイリオ" pitchFamily="50" charset="-128"/>
                <a:cs typeface="メイリオ" pitchFamily="50" charset="-128"/>
              </a:rPr>
              <a:t>Labo</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 Inc. All rights Reserved</a:t>
            </a:r>
          </a:p>
        </p:txBody>
      </p:sp>
      <p:sp>
        <p:nvSpPr>
          <p:cNvPr id="9" name="Line 6"/>
          <p:cNvSpPr>
            <a:spLocks noChangeShapeType="1"/>
          </p:cNvSpPr>
          <p:nvPr userDrawn="1"/>
        </p:nvSpPr>
        <p:spPr bwMode="auto">
          <a:xfrm>
            <a:off x="818542" y="6572272"/>
            <a:ext cx="9087087" cy="0"/>
          </a:xfrm>
          <a:prstGeom prst="line">
            <a:avLst/>
          </a:prstGeom>
          <a:noFill/>
          <a:ln w="9525">
            <a:solidFill>
              <a:schemeClr val="bg1">
                <a:lumMod val="50000"/>
              </a:schemeClr>
            </a:solidFill>
            <a:round/>
            <a:headEnd/>
            <a:tailEnd/>
          </a:ln>
          <a:effectLst/>
        </p:spPr>
        <p:txBody>
          <a:bodyPr/>
          <a:lstStyle/>
          <a:p>
            <a:pPr>
              <a:spcBef>
                <a:spcPct val="50000"/>
              </a:spcBef>
              <a:defRPr/>
            </a:pPr>
            <a:endParaRPr lang="ja-JP" altLang="en-US" sz="1000" dirty="0"/>
          </a:p>
        </p:txBody>
      </p:sp>
      <p:sp>
        <p:nvSpPr>
          <p:cNvPr id="11" name="Text Box 8"/>
          <p:cNvSpPr txBox="1">
            <a:spLocks noChangeArrowheads="1"/>
          </p:cNvSpPr>
          <p:nvPr userDrawn="1"/>
        </p:nvSpPr>
        <p:spPr bwMode="auto">
          <a:xfrm>
            <a:off x="9446818" y="6622336"/>
            <a:ext cx="464344" cy="226591"/>
          </a:xfrm>
          <a:prstGeom prst="rect">
            <a:avLst/>
          </a:prstGeom>
          <a:noFill/>
          <a:ln w="9525">
            <a:noFill/>
            <a:miter lim="800000"/>
            <a:headEnd/>
            <a:tailEnd/>
          </a:ln>
          <a:effectLst/>
        </p:spPr>
        <p:txBody>
          <a:bodyPr tIns="36000" bIns="36000" anchor="ctr" anchorCtr="0">
            <a:spAutoFit/>
          </a:bodyPr>
          <a:lstStyle/>
          <a:p>
            <a:pPr algn="ctr">
              <a:spcBef>
                <a:spcPct val="50000"/>
              </a:spcBef>
              <a:defRPr/>
            </a:pPr>
            <a:fld id="{5620107A-EB14-47BF-ABAD-40C395D4963C}" type="slidenum">
              <a:rPr lang="en-US" altLang="ja-JP" sz="1000">
                <a:latin typeface="メイリオ" pitchFamily="50" charset="-128"/>
                <a:ea typeface="メイリオ" pitchFamily="50" charset="-128"/>
                <a:cs typeface="メイリオ" pitchFamily="50" charset="-128"/>
              </a:rPr>
              <a:pPr algn="ctr">
                <a:spcBef>
                  <a:spcPct val="50000"/>
                </a:spcBef>
                <a:defRPr/>
              </a:pPr>
              <a:t>‹#›</a:t>
            </a:fld>
            <a:endParaRPr lang="en-US" altLang="ja-JP" sz="1000" dirty="0">
              <a:latin typeface="メイリオ" pitchFamily="50" charset="-128"/>
              <a:ea typeface="メイリオ" pitchFamily="50" charset="-128"/>
              <a:cs typeface="メイリオ" pitchFamily="50" charset="-128"/>
            </a:endParaRPr>
          </a:p>
        </p:txBody>
      </p:sp>
      <p:cxnSp>
        <p:nvCxnSpPr>
          <p:cNvPr id="13" name="直線コネクタ 12"/>
          <p:cNvCxnSpPr/>
          <p:nvPr userDrawn="1"/>
        </p:nvCxnSpPr>
        <p:spPr>
          <a:xfrm>
            <a:off x="117035" y="498454"/>
            <a:ext cx="9789000" cy="1588"/>
          </a:xfrm>
          <a:prstGeom prst="line">
            <a:avLst/>
          </a:prstGeom>
          <a:ln w="38100">
            <a:solidFill>
              <a:srgbClr val="969696"/>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userDrawn="1"/>
        </p:nvCxnSpPr>
        <p:spPr>
          <a:xfrm>
            <a:off x="-35" y="444268"/>
            <a:ext cx="9789000" cy="1588"/>
          </a:xfrm>
          <a:prstGeom prst="line">
            <a:avLst/>
          </a:prstGeom>
          <a:ln w="15875">
            <a:solidFill>
              <a:srgbClr val="FF5050"/>
            </a:solidFill>
          </a:ln>
        </p:spPr>
        <p:style>
          <a:lnRef idx="1">
            <a:schemeClr val="accent1"/>
          </a:lnRef>
          <a:fillRef idx="0">
            <a:schemeClr val="accent1"/>
          </a:fillRef>
          <a:effectRef idx="0">
            <a:schemeClr val="accent1"/>
          </a:effectRef>
          <a:fontRef idx="minor">
            <a:schemeClr val="tx1"/>
          </a:fontRef>
        </p:style>
      </p:cxnSp>
      <p:sp>
        <p:nvSpPr>
          <p:cNvPr id="16" name="Text Box 11"/>
          <p:cNvSpPr txBox="1">
            <a:spLocks noChangeArrowheads="1"/>
          </p:cNvSpPr>
          <p:nvPr userDrawn="1"/>
        </p:nvSpPr>
        <p:spPr bwMode="auto">
          <a:xfrm>
            <a:off x="-35" y="0"/>
            <a:ext cx="9906000" cy="468000"/>
          </a:xfrm>
          <a:prstGeom prst="rect">
            <a:avLst/>
          </a:prstGeom>
          <a:gradFill rotWithShape="1">
            <a:gsLst>
              <a:gs pos="0">
                <a:srgbClr val="DDDDDD"/>
              </a:gs>
              <a:gs pos="100000">
                <a:srgbClr val="DDDDDD">
                  <a:gamma/>
                  <a:tint val="0"/>
                  <a:invGamma/>
                </a:srgbClr>
              </a:gs>
            </a:gsLst>
            <a:lin ang="5400000" scaled="1"/>
          </a:gradFill>
          <a:ln w="9525">
            <a:noFill/>
            <a:miter lim="800000"/>
            <a:headEnd/>
            <a:tailEnd/>
          </a:ln>
          <a:effectLst/>
        </p:spPr>
        <p:txBody>
          <a:bodyPr>
            <a:spAutoFit/>
          </a:bodyPr>
          <a:lstStyle/>
          <a:p>
            <a:pPr algn="l">
              <a:defRPr/>
            </a:pPr>
            <a:r>
              <a:rPr lang="ja-JP" altLang="en-US" sz="2400" dirty="0">
                <a:solidFill>
                  <a:schemeClr val="bg1"/>
                </a:solidFill>
                <a:latin typeface="Arial" charset="0"/>
                <a:ea typeface="HGP創英角ｺﾞｼｯｸUB" pitchFamily="50" charset="-128"/>
              </a:rPr>
              <a:t>　</a:t>
            </a:r>
            <a:endParaRPr lang="ja-JP" altLang="en-US" sz="2400" dirty="0">
              <a:solidFill>
                <a:schemeClr val="bg1"/>
              </a:solidFill>
              <a:latin typeface="HGP創英角ｺﾞｼｯｸUB" pitchFamily="50" charset="-128"/>
              <a:ea typeface="HGP創英角ｺﾞｼｯｸUB" pitchFamily="50" charset="-128"/>
            </a:endParaRPr>
          </a:p>
        </p:txBody>
      </p:sp>
      <p:graphicFrame>
        <p:nvGraphicFramePr>
          <p:cNvPr id="10" name="Object 7"/>
          <p:cNvGraphicFramePr>
            <a:graphicFrameLocks noChangeAspect="1"/>
          </p:cNvGraphicFramePr>
          <p:nvPr userDrawn="1"/>
        </p:nvGraphicFramePr>
        <p:xfrm>
          <a:off x="116463" y="6386492"/>
          <a:ext cx="644552" cy="384154"/>
        </p:xfrm>
        <a:graphic>
          <a:graphicData uri="http://schemas.openxmlformats.org/presentationml/2006/ole">
            <mc:AlternateContent xmlns:mc="http://schemas.openxmlformats.org/markup-compatibility/2006">
              <mc:Choice xmlns:v="urn:schemas-microsoft-com:vml" Requires="v">
                <p:oleObj spid="_x0000_s10481" name="Photo Editor 写真" r:id="rId3" imgW="752381" imgH="485586" progId="">
                  <p:embed/>
                </p:oleObj>
              </mc:Choice>
              <mc:Fallback>
                <p:oleObj name="Photo Editor 写真" r:id="rId3" imgW="752381" imgH="485586" progId="">
                  <p:embed/>
                  <p:pic>
                    <p:nvPicPr>
                      <p:cNvPr id="0" name="Picture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463" y="6386492"/>
                        <a:ext cx="644552" cy="384154"/>
                      </a:xfrm>
                      <a:prstGeom prst="rect">
                        <a:avLst/>
                      </a:prstGeom>
                      <a:noFill/>
                      <a:ln>
                        <a:noFill/>
                      </a:ln>
                      <a:extLst>
                        <a:ext uri="{909E8E84-426E-40DD-AFC4-6F175D3DCCD1}">
                          <a14:hiddenFill xmlns:a14="http://schemas.microsoft.com/office/drawing/2010/main">
                            <a:solidFill>
                              <a:srgbClr val="A9FFA9"/>
                            </a:solidFill>
                          </a14:hiddenFill>
                        </a:ext>
                        <a:ext uri="{91240B29-F687-4F45-9708-019B960494DF}">
                          <a14:hiddenLine xmlns:a14="http://schemas.microsoft.com/office/drawing/2010/main" w="9525">
                            <a:solidFill>
                              <a:srgbClr val="808080"/>
                            </a:solidFill>
                            <a:miter lim="800000"/>
                            <a:headEnd/>
                            <a:tailEnd/>
                          </a14:hiddenLine>
                        </a:ext>
                      </a:extLst>
                    </p:spPr>
                  </p:pic>
                </p:oleObj>
              </mc:Fallback>
            </mc:AlternateContent>
          </a:graphicData>
        </a:graphic>
      </p:graphicFrame>
      <p:sp>
        <p:nvSpPr>
          <p:cNvPr id="18" name="タイトル 17"/>
          <p:cNvSpPr>
            <a:spLocks noGrp="1"/>
          </p:cNvSpPr>
          <p:nvPr>
            <p:ph type="title"/>
          </p:nvPr>
        </p:nvSpPr>
        <p:spPr>
          <a:xfrm>
            <a:off x="38454" y="65823"/>
            <a:ext cx="9517057" cy="461665"/>
          </a:xfrm>
          <a:noFill/>
          <a:ln w="9525">
            <a:noFill/>
            <a:miter lim="800000"/>
            <a:headEnd/>
            <a:tailEnd/>
          </a:ln>
        </p:spPr>
        <p:txBody>
          <a:bodyPr wrap="square">
            <a:spAutoFit/>
          </a:bodyPr>
          <a:lstStyle>
            <a:lvl1pPr marL="0" algn="l" defTabSz="914400" rtl="0" eaLnBrk="1" latinLnBrk="0" hangingPunct="1">
              <a:defRPr kumimoji="1" lang="ja-JP" altLang="en-US" sz="2400" b="1" kern="1200" dirty="0" smtClean="0">
                <a:solidFill>
                  <a:prstClr val="black"/>
                </a:solidFill>
                <a:effectLst>
                  <a:outerShdw blurRad="38100" dist="38100" dir="2700000" algn="tl">
                    <a:srgbClr val="000000">
                      <a:alpha val="43137"/>
                    </a:srgbClr>
                  </a:outerShdw>
                </a:effectLst>
                <a:latin typeface="+mn-lt"/>
                <a:ea typeface="+mn-ea"/>
                <a:cs typeface="+mn-cs"/>
              </a:defRPr>
            </a:lvl1pPr>
          </a:lstStyle>
          <a:p>
            <a:r>
              <a:rPr kumimoji="1" lang="ja-JP" altLang="en-US" smtClean="0"/>
              <a:t>マスタ タイトルの書式設定</a:t>
            </a:r>
            <a:endParaRPr kumimoji="1" lang="ja-JP" altLang="en-US"/>
          </a:p>
        </p:txBody>
      </p:sp>
      <p:sp>
        <p:nvSpPr>
          <p:cNvPr id="12" name="正方形/長方形 11"/>
          <p:cNvSpPr/>
          <p:nvPr userDrawn="1"/>
        </p:nvSpPr>
        <p:spPr bwMode="auto">
          <a:xfrm>
            <a:off x="4808984" y="6627015"/>
            <a:ext cx="1080120" cy="198736"/>
          </a:xfrm>
          <a:prstGeom prst="rect">
            <a:avLst/>
          </a:prstGeom>
          <a:solidFill>
            <a:srgbClr val="3333FF"/>
          </a:solidFill>
          <a:ln w="6350" cap="flat" cmpd="sng" algn="ctr">
            <a:solidFill>
              <a:srgbClr val="3333FF"/>
            </a:solidFill>
            <a:prstDash val="solid"/>
            <a:round/>
            <a:headEnd type="none" w="med" len="med"/>
            <a:tailEnd type="none" w="med" len="med"/>
          </a:ln>
          <a:effectLst/>
        </p:spPr>
        <p:txBody>
          <a:bodyPr wrap="none" tIns="72000" bIns="36000" anchor="ctr"/>
          <a:lstStyle/>
          <a:p>
            <a:pPr algn="ctr" defTabSz="514350">
              <a:buClr>
                <a:srgbClr val="FCA202"/>
              </a:buClr>
              <a:buFont typeface="MS UI Gothic" pitchFamily="50" charset="-128"/>
              <a:buNone/>
              <a:defRPr/>
            </a:pPr>
            <a:r>
              <a:rPr lang="en-US" altLang="ja-JP" sz="1050" b="0">
                <a:solidFill>
                  <a:schemeClr val="bg1"/>
                </a:solidFill>
                <a:latin typeface="メイリオ" pitchFamily="50" charset="-128"/>
                <a:ea typeface="メイリオ" pitchFamily="50" charset="-128"/>
                <a:cs typeface="メイリオ" pitchFamily="50" charset="-128"/>
              </a:rPr>
              <a:t>Confidential</a:t>
            </a:r>
            <a:endParaRPr lang="ja-JP" altLang="en-US" sz="1050" b="0">
              <a:solidFill>
                <a:schemeClr val="bg1"/>
              </a:solidFill>
              <a:latin typeface="メイリオ" pitchFamily="50" charset="-128"/>
              <a:ea typeface="メイリオ" pitchFamily="50" charset="-128"/>
              <a:cs typeface="メイリオ" pitchFamily="50" charset="-128"/>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Text Box 5"/>
          <p:cNvSpPr txBox="1">
            <a:spLocks noChangeArrowheads="1"/>
          </p:cNvSpPr>
          <p:nvPr userDrawn="1"/>
        </p:nvSpPr>
        <p:spPr bwMode="auto">
          <a:xfrm>
            <a:off x="3626855" y="6623501"/>
            <a:ext cx="5928659" cy="211203"/>
          </a:xfrm>
          <a:prstGeom prst="rect">
            <a:avLst/>
          </a:prstGeom>
          <a:noFill/>
          <a:ln w="9525">
            <a:noFill/>
            <a:miter lim="800000"/>
            <a:headEnd/>
            <a:tailEnd/>
          </a:ln>
          <a:effectLst/>
        </p:spPr>
        <p:txBody>
          <a:bodyPr wrap="square" lIns="91429" tIns="36000" rIns="91429" bIns="36000" anchor="ctr" anchorCtr="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Copyright</a:t>
            </a:r>
            <a:r>
              <a:rPr lang="ja-JP" altLang="en-US" sz="900" dirty="0" smtClean="0">
                <a:solidFill>
                  <a:schemeClr val="tx1">
                    <a:lumMod val="50000"/>
                    <a:lumOff val="50000"/>
                  </a:schemeClr>
                </a:solidFill>
                <a:latin typeface="メイリオ" pitchFamily="50" charset="-128"/>
                <a:ea typeface="メイリオ" pitchFamily="50" charset="-128"/>
                <a:cs typeface="メイリオ" pitchFamily="50" charset="-128"/>
              </a:rPr>
              <a:t> Ⓒ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2015</a:t>
            </a:r>
            <a:r>
              <a:rPr kumimoji="0"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Kobe Digital </a:t>
            </a:r>
            <a:r>
              <a:rPr lang="en-US" altLang="ja-JP" sz="900" dirty="0" err="1" smtClean="0">
                <a:solidFill>
                  <a:schemeClr val="tx1">
                    <a:lumMod val="50000"/>
                    <a:lumOff val="50000"/>
                  </a:schemeClr>
                </a:solidFill>
                <a:latin typeface="メイリオ" pitchFamily="50" charset="-128"/>
                <a:ea typeface="メイリオ" pitchFamily="50" charset="-128"/>
                <a:cs typeface="メイリオ" pitchFamily="50" charset="-128"/>
              </a:rPr>
              <a:t>Labo</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 Inc. All rights Reserved</a:t>
            </a:r>
          </a:p>
        </p:txBody>
      </p:sp>
      <p:sp>
        <p:nvSpPr>
          <p:cNvPr id="3" name="Line 6"/>
          <p:cNvSpPr>
            <a:spLocks noChangeShapeType="1"/>
          </p:cNvSpPr>
          <p:nvPr userDrawn="1"/>
        </p:nvSpPr>
        <p:spPr bwMode="auto">
          <a:xfrm>
            <a:off x="818542" y="6572272"/>
            <a:ext cx="9087087" cy="0"/>
          </a:xfrm>
          <a:prstGeom prst="line">
            <a:avLst/>
          </a:prstGeom>
          <a:noFill/>
          <a:ln w="9525">
            <a:solidFill>
              <a:schemeClr val="bg1">
                <a:lumMod val="50000"/>
              </a:schemeClr>
            </a:solidFill>
            <a:round/>
            <a:headEnd/>
            <a:tailEnd/>
          </a:ln>
          <a:effectLst/>
        </p:spPr>
        <p:txBody>
          <a:bodyPr/>
          <a:lstStyle/>
          <a:p>
            <a:pPr>
              <a:spcBef>
                <a:spcPct val="50000"/>
              </a:spcBef>
              <a:defRPr/>
            </a:pPr>
            <a:endParaRPr lang="ja-JP" altLang="en-US" sz="1000" dirty="0"/>
          </a:p>
        </p:txBody>
      </p:sp>
      <p:sp>
        <p:nvSpPr>
          <p:cNvPr id="4" name="Text Box 8"/>
          <p:cNvSpPr txBox="1">
            <a:spLocks noChangeArrowheads="1"/>
          </p:cNvSpPr>
          <p:nvPr userDrawn="1"/>
        </p:nvSpPr>
        <p:spPr bwMode="auto">
          <a:xfrm>
            <a:off x="9446818" y="6622336"/>
            <a:ext cx="464344" cy="226591"/>
          </a:xfrm>
          <a:prstGeom prst="rect">
            <a:avLst/>
          </a:prstGeom>
          <a:noFill/>
          <a:ln w="9525">
            <a:noFill/>
            <a:miter lim="800000"/>
            <a:headEnd/>
            <a:tailEnd/>
          </a:ln>
          <a:effectLst/>
        </p:spPr>
        <p:txBody>
          <a:bodyPr tIns="36000" bIns="36000" anchor="ctr" anchorCtr="0">
            <a:spAutoFit/>
          </a:bodyPr>
          <a:lstStyle/>
          <a:p>
            <a:pPr algn="ctr">
              <a:spcBef>
                <a:spcPct val="50000"/>
              </a:spcBef>
              <a:defRPr/>
            </a:pPr>
            <a:fld id="{5620107A-EB14-47BF-ABAD-40C395D4963C}" type="slidenum">
              <a:rPr lang="en-US" altLang="ja-JP" sz="1000">
                <a:latin typeface="メイリオ" pitchFamily="50" charset="-128"/>
                <a:ea typeface="メイリオ" pitchFamily="50" charset="-128"/>
                <a:cs typeface="メイリオ" pitchFamily="50" charset="-128"/>
              </a:rPr>
              <a:pPr algn="ctr">
                <a:spcBef>
                  <a:spcPct val="50000"/>
                </a:spcBef>
                <a:defRPr/>
              </a:pPr>
              <a:t>‹#›</a:t>
            </a:fld>
            <a:endParaRPr lang="en-US" altLang="ja-JP" sz="1000" dirty="0">
              <a:latin typeface="メイリオ" pitchFamily="50" charset="-128"/>
              <a:ea typeface="メイリオ" pitchFamily="50" charset="-128"/>
              <a:cs typeface="メイリオ" pitchFamily="50" charset="-128"/>
            </a:endParaRPr>
          </a:p>
        </p:txBody>
      </p:sp>
      <p:graphicFrame>
        <p:nvGraphicFramePr>
          <p:cNvPr id="5" name="Object 7"/>
          <p:cNvGraphicFramePr>
            <a:graphicFrameLocks noChangeAspect="1"/>
          </p:cNvGraphicFramePr>
          <p:nvPr userDrawn="1"/>
        </p:nvGraphicFramePr>
        <p:xfrm>
          <a:off x="116463" y="6386492"/>
          <a:ext cx="644552" cy="384154"/>
        </p:xfrm>
        <a:graphic>
          <a:graphicData uri="http://schemas.openxmlformats.org/presentationml/2006/ole">
            <mc:AlternateContent xmlns:mc="http://schemas.openxmlformats.org/markup-compatibility/2006">
              <mc:Choice xmlns:v="urn:schemas-microsoft-com:vml" Requires="v">
                <p:oleObj spid="_x0000_s9516" name="Photo Editor 写真" r:id="rId3" imgW="752381" imgH="485586" progId="">
                  <p:embed/>
                </p:oleObj>
              </mc:Choice>
              <mc:Fallback>
                <p:oleObj name="Photo Editor 写真" r:id="rId3" imgW="752381" imgH="485586"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463" y="6386492"/>
                        <a:ext cx="644552" cy="384154"/>
                      </a:xfrm>
                      <a:prstGeom prst="rect">
                        <a:avLst/>
                      </a:prstGeom>
                      <a:noFill/>
                      <a:ln>
                        <a:noFill/>
                      </a:ln>
                      <a:extLst>
                        <a:ext uri="{909E8E84-426E-40DD-AFC4-6F175D3DCCD1}">
                          <a14:hiddenFill xmlns:a14="http://schemas.microsoft.com/office/drawing/2010/main">
                            <a:solidFill>
                              <a:srgbClr val="A9FFA9"/>
                            </a:solidFill>
                          </a14:hiddenFill>
                        </a:ext>
                        <a:ext uri="{91240B29-F687-4F45-9708-019B960494DF}">
                          <a14:hiddenLine xmlns:a14="http://schemas.microsoft.com/office/drawing/2010/main" w="9525">
                            <a:solidFill>
                              <a:srgbClr val="808080"/>
                            </a:solidFill>
                            <a:miter lim="800000"/>
                            <a:headEnd/>
                            <a:tailEnd/>
                          </a14:hiddenLine>
                        </a:ext>
                      </a:extLst>
                    </p:spPr>
                  </p:pic>
                </p:oleObj>
              </mc:Fallback>
            </mc:AlternateContent>
          </a:graphicData>
        </a:graphic>
      </p:graphicFrame>
      <p:sp>
        <p:nvSpPr>
          <p:cNvPr id="6" name="Text Box 11"/>
          <p:cNvSpPr txBox="1">
            <a:spLocks noChangeArrowheads="1"/>
          </p:cNvSpPr>
          <p:nvPr userDrawn="1"/>
        </p:nvSpPr>
        <p:spPr bwMode="auto">
          <a:xfrm>
            <a:off x="-35" y="0"/>
            <a:ext cx="9906000" cy="468000"/>
          </a:xfrm>
          <a:prstGeom prst="rect">
            <a:avLst/>
          </a:prstGeom>
          <a:gradFill rotWithShape="1">
            <a:gsLst>
              <a:gs pos="0">
                <a:srgbClr val="DDDDDD"/>
              </a:gs>
              <a:gs pos="100000">
                <a:srgbClr val="DDDDDD">
                  <a:gamma/>
                  <a:tint val="0"/>
                  <a:invGamma/>
                </a:srgbClr>
              </a:gs>
            </a:gsLst>
            <a:lin ang="5400000" scaled="1"/>
          </a:gradFill>
          <a:ln w="9525">
            <a:noFill/>
            <a:miter lim="800000"/>
            <a:headEnd/>
            <a:tailEnd/>
          </a:ln>
          <a:effectLst/>
        </p:spPr>
        <p:txBody>
          <a:bodyPr>
            <a:spAutoFit/>
          </a:bodyPr>
          <a:lstStyle/>
          <a:p>
            <a:pPr algn="l">
              <a:defRPr/>
            </a:pPr>
            <a:r>
              <a:rPr lang="ja-JP" altLang="en-US" sz="2400" dirty="0">
                <a:solidFill>
                  <a:schemeClr val="bg1"/>
                </a:solidFill>
                <a:latin typeface="Arial" charset="0"/>
                <a:ea typeface="HGP創英角ｺﾞｼｯｸUB" pitchFamily="50" charset="-128"/>
              </a:rPr>
              <a:t>　</a:t>
            </a:r>
            <a:endParaRPr lang="ja-JP" altLang="en-US" sz="2400" dirty="0">
              <a:solidFill>
                <a:schemeClr val="bg1"/>
              </a:solidFill>
              <a:latin typeface="HGP創英角ｺﾞｼｯｸUB" pitchFamily="50" charset="-128"/>
              <a:ea typeface="HGP創英角ｺﾞｼｯｸUB" pitchFamily="50" charset="-128"/>
            </a:endParaRPr>
          </a:p>
        </p:txBody>
      </p:sp>
      <p:sp>
        <p:nvSpPr>
          <p:cNvPr id="8" name="正方形/長方形 7"/>
          <p:cNvSpPr/>
          <p:nvPr userDrawn="1"/>
        </p:nvSpPr>
        <p:spPr bwMode="auto">
          <a:xfrm>
            <a:off x="4808984" y="6627015"/>
            <a:ext cx="1080120" cy="198736"/>
          </a:xfrm>
          <a:prstGeom prst="rect">
            <a:avLst/>
          </a:prstGeom>
          <a:solidFill>
            <a:srgbClr val="3333FF"/>
          </a:solidFill>
          <a:ln w="6350" cap="flat" cmpd="sng" algn="ctr">
            <a:solidFill>
              <a:srgbClr val="3333FF"/>
            </a:solidFill>
            <a:prstDash val="solid"/>
            <a:round/>
            <a:headEnd type="none" w="med" len="med"/>
            <a:tailEnd type="none" w="med" len="med"/>
          </a:ln>
          <a:effectLst/>
        </p:spPr>
        <p:txBody>
          <a:bodyPr wrap="none" tIns="72000" bIns="36000" anchor="ctr"/>
          <a:lstStyle/>
          <a:p>
            <a:pPr algn="ctr" defTabSz="514350">
              <a:buClr>
                <a:srgbClr val="FCA202"/>
              </a:buClr>
              <a:buFont typeface="MS UI Gothic" pitchFamily="50" charset="-128"/>
              <a:buNone/>
              <a:defRPr/>
            </a:pPr>
            <a:r>
              <a:rPr lang="en-US" altLang="ja-JP" sz="1050" b="0">
                <a:solidFill>
                  <a:schemeClr val="bg1"/>
                </a:solidFill>
                <a:latin typeface="メイリオ" pitchFamily="50" charset="-128"/>
                <a:ea typeface="メイリオ" pitchFamily="50" charset="-128"/>
                <a:cs typeface="メイリオ" pitchFamily="50" charset="-128"/>
              </a:rPr>
              <a:t>Confidential</a:t>
            </a:r>
            <a:endParaRPr lang="ja-JP" altLang="en-US" sz="1050" b="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39927480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Text Box 11"/>
          <p:cNvSpPr txBox="1">
            <a:spLocks noChangeArrowheads="1"/>
          </p:cNvSpPr>
          <p:nvPr userDrawn="1"/>
        </p:nvSpPr>
        <p:spPr bwMode="auto">
          <a:xfrm>
            <a:off x="-35" y="0"/>
            <a:ext cx="9906000" cy="468000"/>
          </a:xfrm>
          <a:prstGeom prst="rect">
            <a:avLst/>
          </a:prstGeom>
          <a:gradFill rotWithShape="1">
            <a:gsLst>
              <a:gs pos="0">
                <a:srgbClr val="DDDDDD"/>
              </a:gs>
              <a:gs pos="100000">
                <a:srgbClr val="DDDDDD">
                  <a:gamma/>
                  <a:tint val="0"/>
                  <a:invGamma/>
                </a:srgbClr>
              </a:gs>
            </a:gsLst>
            <a:lin ang="5400000" scaled="1"/>
          </a:gradFill>
          <a:ln w="9525">
            <a:noFill/>
            <a:miter lim="800000"/>
            <a:headEnd/>
            <a:tailEnd/>
          </a:ln>
          <a:effectLst/>
        </p:spPr>
        <p:txBody>
          <a:bodyPr>
            <a:spAutoFit/>
          </a:bodyPr>
          <a:lstStyle/>
          <a:p>
            <a:pPr algn="l">
              <a:defRPr/>
            </a:pPr>
            <a:r>
              <a:rPr lang="ja-JP" altLang="en-US" sz="2400" dirty="0">
                <a:solidFill>
                  <a:schemeClr val="bg1"/>
                </a:solidFill>
                <a:latin typeface="Arial" charset="0"/>
                <a:ea typeface="HGP創英角ｺﾞｼｯｸUB" pitchFamily="50" charset="-128"/>
              </a:rPr>
              <a:t>　</a:t>
            </a:r>
            <a:endParaRPr lang="ja-JP" altLang="en-US" sz="2400" dirty="0">
              <a:solidFill>
                <a:schemeClr val="bg1"/>
              </a:solidFill>
              <a:latin typeface="HGP創英角ｺﾞｼｯｸUB" pitchFamily="50" charset="-128"/>
              <a:ea typeface="HGP創英角ｺﾞｼｯｸUB" pitchFamily="50" charset="-128"/>
            </a:endParaRPr>
          </a:p>
        </p:txBody>
      </p:sp>
      <p:sp>
        <p:nvSpPr>
          <p:cNvPr id="6" name="Text Box 5"/>
          <p:cNvSpPr txBox="1">
            <a:spLocks noChangeArrowheads="1"/>
          </p:cNvSpPr>
          <p:nvPr userDrawn="1"/>
        </p:nvSpPr>
        <p:spPr bwMode="auto">
          <a:xfrm>
            <a:off x="3938887" y="6582554"/>
            <a:ext cx="5928659" cy="230822"/>
          </a:xfrm>
          <a:prstGeom prst="rect">
            <a:avLst/>
          </a:prstGeom>
          <a:noFill/>
          <a:ln w="9525">
            <a:noFill/>
            <a:miter lim="800000"/>
            <a:headEnd/>
            <a:tailEnd/>
          </a:ln>
          <a:effectLst/>
        </p:spPr>
        <p:txBody>
          <a:bodyPr wrap="square" lIns="91429" tIns="45715" rIns="91429" bIns="45715">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Copyright</a:t>
            </a:r>
            <a:r>
              <a:rPr lang="ja-JP" altLang="en-US" sz="900" dirty="0" smtClean="0">
                <a:solidFill>
                  <a:schemeClr val="tx1">
                    <a:lumMod val="50000"/>
                    <a:lumOff val="50000"/>
                  </a:schemeClr>
                </a:solidFill>
                <a:latin typeface="メイリオ" pitchFamily="50" charset="-128"/>
                <a:ea typeface="メイリオ" pitchFamily="50" charset="-128"/>
                <a:cs typeface="メイリオ" pitchFamily="50" charset="-128"/>
              </a:rPr>
              <a:t> Ⓒ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2015</a:t>
            </a:r>
            <a:r>
              <a:rPr kumimoji="0"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Kobe Digital </a:t>
            </a:r>
            <a:r>
              <a:rPr lang="en-US" altLang="ja-JP" sz="900" dirty="0" err="1" smtClean="0">
                <a:solidFill>
                  <a:schemeClr val="tx1">
                    <a:lumMod val="50000"/>
                    <a:lumOff val="50000"/>
                  </a:schemeClr>
                </a:solidFill>
                <a:latin typeface="メイリオ" pitchFamily="50" charset="-128"/>
                <a:ea typeface="メイリオ" pitchFamily="50" charset="-128"/>
                <a:cs typeface="メイリオ" pitchFamily="50" charset="-128"/>
              </a:rPr>
              <a:t>Labo</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 Inc. All rights Reserved</a:t>
            </a:r>
          </a:p>
        </p:txBody>
      </p:sp>
    </p:spTree>
    <p:extLst>
      <p:ext uri="{BB962C8B-B14F-4D97-AF65-F5344CB8AC3E}">
        <p14:creationId xmlns:p14="http://schemas.microsoft.com/office/powerpoint/2010/main" val="35667626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ext Box 2"/>
          <p:cNvSpPr txBox="1">
            <a:spLocks noChangeArrowheads="1"/>
          </p:cNvSpPr>
          <p:nvPr userDrawn="1"/>
        </p:nvSpPr>
        <p:spPr bwMode="auto">
          <a:xfrm>
            <a:off x="12041" y="0"/>
            <a:ext cx="9893961" cy="457200"/>
          </a:xfrm>
          <a:prstGeom prst="rect">
            <a:avLst/>
          </a:prstGeom>
          <a:gradFill rotWithShape="1">
            <a:gsLst>
              <a:gs pos="0">
                <a:srgbClr val="DDDDDD"/>
              </a:gs>
              <a:gs pos="100000">
                <a:srgbClr val="DDDDDD">
                  <a:gamma/>
                  <a:tint val="0"/>
                  <a:invGamma/>
                </a:srgbClr>
              </a:gs>
            </a:gsLst>
            <a:lin ang="5400000" scaled="1"/>
          </a:gradFill>
          <a:ln w="9525">
            <a:noFill/>
            <a:miter lim="800000"/>
            <a:headEnd/>
            <a:tailEnd/>
          </a:ln>
          <a:effectLst/>
        </p:spPr>
        <p:txBody>
          <a:bodyPr>
            <a:spAutoFit/>
          </a:bodyPr>
          <a:lstStyle/>
          <a:p>
            <a:pPr fontAlgn="base">
              <a:spcBef>
                <a:spcPct val="50000"/>
              </a:spcBef>
              <a:spcAft>
                <a:spcPct val="0"/>
              </a:spcAft>
              <a:defRPr/>
            </a:pPr>
            <a:r>
              <a:rPr lang="ja-JP" altLang="en-US" sz="2400">
                <a:solidFill>
                  <a:srgbClr val="FFFFFF"/>
                </a:solidFill>
                <a:latin typeface="Arial" charset="0"/>
              </a:rPr>
              <a:t>　</a:t>
            </a:r>
            <a:endParaRPr lang="ja-JP" altLang="en-US" sz="2400">
              <a:solidFill>
                <a:srgbClr val="FFFFFF"/>
              </a:solidFill>
              <a:latin typeface="HGP創英角ｺﾞｼｯｸUB" pitchFamily="50" charset="-128"/>
            </a:endParaRPr>
          </a:p>
        </p:txBody>
      </p:sp>
      <p:graphicFrame>
        <p:nvGraphicFramePr>
          <p:cNvPr id="3" name="Object 3"/>
          <p:cNvGraphicFramePr>
            <a:graphicFrameLocks noChangeAspect="1"/>
          </p:cNvGraphicFramePr>
          <p:nvPr/>
        </p:nvGraphicFramePr>
        <p:xfrm>
          <a:off x="2044833" y="6356353"/>
          <a:ext cx="5138738" cy="504825"/>
        </p:xfrm>
        <a:graphic>
          <a:graphicData uri="http://schemas.openxmlformats.org/presentationml/2006/ole">
            <mc:AlternateContent xmlns:mc="http://schemas.openxmlformats.org/markup-compatibility/2006">
              <mc:Choice xmlns:v="urn:schemas-microsoft-com:vml" Requires="v">
                <p:oleObj spid="_x0000_s12495" name="ビットマップ イメージ" r:id="rId3" imgW="4742857" imgH="504762" progId="PBrush">
                  <p:embed/>
                </p:oleObj>
              </mc:Choice>
              <mc:Fallback>
                <p:oleObj name="ビットマップ イメージ" r:id="rId3" imgW="4742857" imgH="504762" progId="PBrush">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833" y="6356353"/>
                        <a:ext cx="513873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 name="Picture 4"/>
          <p:cNvPicPr>
            <a:picLocks noChangeAspect="1" noChangeArrowheads="1"/>
          </p:cNvPicPr>
          <p:nvPr userDrawn="1"/>
        </p:nvPicPr>
        <p:blipFill>
          <a:blip r:embed="rId5" cstate="print"/>
          <a:srcRect/>
          <a:stretch>
            <a:fillRect/>
          </a:stretch>
        </p:blipFill>
        <p:spPr bwMode="auto">
          <a:xfrm>
            <a:off x="82550" y="6357941"/>
            <a:ext cx="2105025" cy="490537"/>
          </a:xfrm>
          <a:prstGeom prst="rect">
            <a:avLst/>
          </a:prstGeom>
          <a:noFill/>
          <a:ln w="9525">
            <a:noFill/>
            <a:miter lim="800000"/>
            <a:headEnd/>
            <a:tailEnd/>
          </a:ln>
        </p:spPr>
      </p:pic>
      <p:sp>
        <p:nvSpPr>
          <p:cNvPr id="5" name="Text Box 5"/>
          <p:cNvSpPr txBox="1">
            <a:spLocks noChangeArrowheads="1"/>
          </p:cNvSpPr>
          <p:nvPr userDrawn="1"/>
        </p:nvSpPr>
        <p:spPr bwMode="auto">
          <a:xfrm>
            <a:off x="5757862" y="6646863"/>
            <a:ext cx="4148138" cy="214312"/>
          </a:xfrm>
          <a:prstGeom prst="rect">
            <a:avLst/>
          </a:prstGeom>
          <a:noFill/>
          <a:ln w="9525">
            <a:noFill/>
            <a:miter lim="800000"/>
            <a:headEnd/>
            <a:tailEnd/>
          </a:ln>
          <a:effectLst/>
        </p:spPr>
        <p:txBody>
          <a:bodyPr>
            <a:spAutoFit/>
          </a:bodyPr>
          <a:lstStyle/>
          <a:p>
            <a:pPr algn="r" fontAlgn="base">
              <a:spcBef>
                <a:spcPct val="50000"/>
              </a:spcBef>
              <a:spcAft>
                <a:spcPct val="0"/>
              </a:spcAft>
              <a:defRPr/>
            </a:pPr>
            <a:r>
              <a:rPr lang="en-US" altLang="ja-JP" sz="800" b="1" dirty="0">
                <a:solidFill>
                  <a:srgbClr val="000000"/>
                </a:solidFill>
                <a:latin typeface="Tahoma" pitchFamily="34" charset="0"/>
                <a:ea typeface="Dotum" pitchFamily="34" charset="-127"/>
              </a:rPr>
              <a:t>Copyright © </a:t>
            </a:r>
            <a:r>
              <a:rPr lang="en-US" altLang="ja-JP" sz="800" b="1" dirty="0" smtClean="0">
                <a:solidFill>
                  <a:srgbClr val="000000"/>
                </a:solidFill>
                <a:latin typeface="Tahoma" pitchFamily="34" charset="0"/>
                <a:ea typeface="Dotum" pitchFamily="34" charset="-127"/>
              </a:rPr>
              <a:t>2015. </a:t>
            </a:r>
            <a:r>
              <a:rPr lang="en-US" altLang="ja-JP" sz="800" b="1" dirty="0" err="1">
                <a:solidFill>
                  <a:srgbClr val="000000"/>
                </a:solidFill>
                <a:latin typeface="Tahoma" pitchFamily="34" charset="0"/>
                <a:ea typeface="Dotum" pitchFamily="34" charset="-127"/>
              </a:rPr>
              <a:t>KobeDigitalLabo</a:t>
            </a:r>
            <a:r>
              <a:rPr lang="en-US" altLang="ja-JP" sz="800" b="1" dirty="0">
                <a:solidFill>
                  <a:srgbClr val="000000"/>
                </a:solidFill>
                <a:latin typeface="Tahoma" pitchFamily="34" charset="0"/>
                <a:ea typeface="Dotum" pitchFamily="34" charset="-127"/>
              </a:rPr>
              <a:t> Inc. ,Ltd. All rights reserved.</a:t>
            </a:r>
            <a:r>
              <a:rPr lang="en-US" altLang="ja-JP" sz="800" b="1" dirty="0">
                <a:solidFill>
                  <a:srgbClr val="000000"/>
                </a:solidFill>
                <a:effectLst>
                  <a:outerShdw blurRad="38100" dist="38100" dir="2700000" algn="tl">
                    <a:srgbClr val="C0C0C0"/>
                  </a:outerShdw>
                </a:effectLst>
                <a:latin typeface="HGP創英角ｺﾞｼｯｸUB" pitchFamily="50" charset="-128"/>
              </a:rPr>
              <a:t> </a:t>
            </a:r>
          </a:p>
        </p:txBody>
      </p:sp>
      <p:sp>
        <p:nvSpPr>
          <p:cNvPr id="6" name="Text Box 6"/>
          <p:cNvSpPr txBox="1">
            <a:spLocks noChangeArrowheads="1"/>
          </p:cNvSpPr>
          <p:nvPr userDrawn="1"/>
        </p:nvSpPr>
        <p:spPr bwMode="auto">
          <a:xfrm>
            <a:off x="6335712" y="6423028"/>
            <a:ext cx="2964921" cy="244475"/>
          </a:xfrm>
          <a:prstGeom prst="rect">
            <a:avLst/>
          </a:prstGeom>
          <a:noFill/>
          <a:ln w="9525">
            <a:noFill/>
            <a:miter lim="800000"/>
            <a:headEnd/>
            <a:tailEnd/>
          </a:ln>
          <a:effectLst/>
        </p:spPr>
        <p:txBody>
          <a:bodyPr anchor="b">
            <a:spAutoFit/>
          </a:bodyPr>
          <a:lstStyle/>
          <a:p>
            <a:pPr algn="r" fontAlgn="base">
              <a:spcBef>
                <a:spcPct val="0"/>
              </a:spcBef>
              <a:spcAft>
                <a:spcPct val="0"/>
              </a:spcAft>
              <a:defRPr/>
            </a:pPr>
            <a:r>
              <a:rPr lang="ja-JP" altLang="en-US" sz="1000" b="1">
                <a:solidFill>
                  <a:srgbClr val="000000"/>
                </a:solidFill>
                <a:latin typeface="HG創英角ｺﾞｼｯｸUB" pitchFamily="49" charset="-128"/>
                <a:ea typeface="HG創英角ｺﾞｼｯｸUB" pitchFamily="49" charset="-128"/>
              </a:rPr>
              <a:t>株式会社神戸デジタル･ラボ</a:t>
            </a:r>
          </a:p>
        </p:txBody>
      </p:sp>
    </p:spTree>
    <p:extLst>
      <p:ext uri="{BB962C8B-B14F-4D97-AF65-F5344CB8AC3E}">
        <p14:creationId xmlns:p14="http://schemas.microsoft.com/office/powerpoint/2010/main" val="400024712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Tree>
    <p:extLst>
      <p:ext uri="{BB962C8B-B14F-4D97-AF65-F5344CB8AC3E}">
        <p14:creationId xmlns:p14="http://schemas.microsoft.com/office/powerpoint/2010/main" val="350813054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03"/>
            <a:ext cx="84201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 テキストの書式設定</a:t>
            </a:r>
          </a:p>
        </p:txBody>
      </p:sp>
    </p:spTree>
    <p:extLst>
      <p:ext uri="{BB962C8B-B14F-4D97-AF65-F5344CB8AC3E}">
        <p14:creationId xmlns:p14="http://schemas.microsoft.com/office/powerpoint/2010/main" val="113266387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Tree>
    <p:extLst>
      <p:ext uri="{BB962C8B-B14F-4D97-AF65-F5344CB8AC3E}">
        <p14:creationId xmlns:p14="http://schemas.microsoft.com/office/powerpoint/2010/main" val="345062075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bl" preserve="1">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3440" y="6350"/>
            <a:ext cx="9902560" cy="469900"/>
          </a:xfrm>
        </p:spPr>
        <p:txBody>
          <a:bodyPr/>
          <a:lstStyle/>
          <a:p>
            <a:r>
              <a:rPr lang="ja-JP" altLang="en-US" smtClean="0"/>
              <a:t>マスタ タイトルの書式設定</a:t>
            </a:r>
            <a:endParaRPr lang="ja-JP" altLang="en-US"/>
          </a:p>
        </p:txBody>
      </p:sp>
      <p:sp>
        <p:nvSpPr>
          <p:cNvPr id="3" name="表プレースホルダ 2"/>
          <p:cNvSpPr>
            <a:spLocks noGrp="1"/>
          </p:cNvSpPr>
          <p:nvPr>
            <p:ph type="tbl" idx="1"/>
          </p:nvPr>
        </p:nvSpPr>
        <p:spPr>
          <a:xfrm>
            <a:off x="161660" y="620713"/>
            <a:ext cx="9610196" cy="5688012"/>
          </a:xfrm>
        </p:spPr>
        <p:txBody>
          <a:bodyPr/>
          <a:lstStyle/>
          <a:p>
            <a:pPr lvl="0"/>
            <a:endParaRPr lang="ja-JP" altLang="en-US" noProof="0" smtClean="0"/>
          </a:p>
        </p:txBody>
      </p:sp>
    </p:spTree>
    <p:extLst>
      <p:ext uri="{BB962C8B-B14F-4D97-AF65-F5344CB8AC3E}">
        <p14:creationId xmlns:p14="http://schemas.microsoft.com/office/powerpoint/2010/main" val="366330431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6.xml"/><Relationship Id="rId7" Type="http://schemas.openxmlformats.org/officeDocument/2006/relationships/vmlDrawing" Target="../drawings/vmlDrawing3.v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10" Type="http://schemas.openxmlformats.org/officeDocument/2006/relationships/image" Target="../media/image2.jpeg"/><Relationship Id="rId4" Type="http://schemas.openxmlformats.org/officeDocument/2006/relationships/slideLayout" Target="../slideLayouts/slideLayout7.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95300" y="1600203"/>
            <a:ext cx="89154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95300" y="6356353"/>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5DBF10-14AA-4F83-B841-878A3D970871}" type="datetimeFigureOut">
              <a:rPr kumimoji="1" lang="ja-JP" altLang="en-US" smtClean="0"/>
              <a:pPr/>
              <a:t>2015/10/23</a:t>
            </a:fld>
            <a:endParaRPr kumimoji="1" lang="ja-JP" altLang="en-US" dirty="0"/>
          </a:p>
        </p:txBody>
      </p:sp>
      <p:sp>
        <p:nvSpPr>
          <p:cNvPr id="5" name="フッター プレースホルダ 4"/>
          <p:cNvSpPr>
            <a:spLocks noGrp="1"/>
          </p:cNvSpPr>
          <p:nvPr>
            <p:ph type="ftr" sz="quarter" idx="3"/>
          </p:nvPr>
        </p:nvSpPr>
        <p:spPr>
          <a:xfrm>
            <a:off x="3384550" y="6356353"/>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dirty="0"/>
          </a:p>
        </p:txBody>
      </p:sp>
      <p:sp>
        <p:nvSpPr>
          <p:cNvPr id="6" name="スライド番号プレースホルダ 5"/>
          <p:cNvSpPr>
            <a:spLocks noGrp="1"/>
          </p:cNvSpPr>
          <p:nvPr>
            <p:ph type="sldNum" sz="quarter" idx="4"/>
          </p:nvPr>
        </p:nvSpPr>
        <p:spPr>
          <a:xfrm>
            <a:off x="7099300" y="6356353"/>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F1ADCE-DDC7-4B40-AD1D-91F807E1C500}" type="slidenum">
              <a:rPr kumimoji="1" lang="ja-JP" altLang="en-US" smtClean="0"/>
              <a:pPr/>
              <a:t>‹#›</a:t>
            </a:fld>
            <a:endParaRPr kumimoji="1" lang="ja-JP" altLang="en-US" dirty="0"/>
          </a:p>
        </p:txBody>
      </p:sp>
    </p:spTree>
  </p:cSld>
  <p:clrMap bg1="lt1" tx1="dk1" bg2="lt2" tx2="dk2" accent1="accent1" accent2="accent2" accent3="accent3" accent4="accent4" accent5="accent5" accent6="accent6" hlink="hlink" folHlink="folHlink"/>
  <p:sldLayoutIdLst>
    <p:sldLayoutId id="2147483651" r:id="rId1"/>
    <p:sldLayoutId id="2147483660" r:id="rId2"/>
    <p:sldLayoutId id="2147483666" r:id="rId3"/>
  </p:sldLayoutIdLst>
  <p:timing>
    <p:tnLst>
      <p:par>
        <p:cTn id="1" dur="indefinite" restart="never" nodeType="tmRoot"/>
      </p:par>
    </p:tnLst>
  </p:timing>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3440" y="6350"/>
            <a:ext cx="9902560" cy="469900"/>
          </a:xfrm>
          <a:prstGeom prst="rect">
            <a:avLst/>
          </a:prstGeom>
          <a:gradFill rotWithShape="1">
            <a:gsLst>
              <a:gs pos="0">
                <a:srgbClr val="DDDDDD"/>
              </a:gs>
              <a:gs pos="100000">
                <a:schemeClr val="bg1"/>
              </a:gs>
            </a:gsLst>
            <a:lin ang="5400000" scaled="1"/>
          </a:grad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ja-JP" smtClean="0"/>
              <a:t> </a:t>
            </a:r>
            <a:r>
              <a:rPr lang="ja-JP" altLang="en-US" smtClean="0"/>
              <a:t>マスタ タイトルの書式設定</a:t>
            </a:r>
          </a:p>
        </p:txBody>
      </p:sp>
      <p:sp>
        <p:nvSpPr>
          <p:cNvPr id="1029" name="Rectangle 3"/>
          <p:cNvSpPr>
            <a:spLocks noGrp="1" noChangeArrowheads="1"/>
          </p:cNvSpPr>
          <p:nvPr>
            <p:ph type="body" idx="1"/>
          </p:nvPr>
        </p:nvSpPr>
        <p:spPr bwMode="auto">
          <a:xfrm>
            <a:off x="161660" y="620713"/>
            <a:ext cx="9610196" cy="56880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dirty="0" smtClean="0"/>
              <a:t>マスタ テキストの書式設定</a:t>
            </a:r>
          </a:p>
        </p:txBody>
      </p:sp>
      <p:sp>
        <p:nvSpPr>
          <p:cNvPr id="5124" name="Line 4"/>
          <p:cNvSpPr>
            <a:spLocks noChangeShapeType="1"/>
          </p:cNvSpPr>
          <p:nvPr/>
        </p:nvSpPr>
        <p:spPr bwMode="auto">
          <a:xfrm>
            <a:off x="9417579" y="6518278"/>
            <a:ext cx="0" cy="327025"/>
          </a:xfrm>
          <a:prstGeom prst="line">
            <a:avLst/>
          </a:prstGeom>
          <a:noFill/>
          <a:ln w="6350">
            <a:solidFill>
              <a:schemeClr val="tx1"/>
            </a:solidFill>
            <a:round/>
            <a:headEnd/>
            <a:tailEnd/>
          </a:ln>
          <a:effectLst/>
        </p:spPr>
        <p:txBody>
          <a:bodyPr lIns="90000" tIns="46800" rIns="90000" bIns="46800">
            <a:spAutoFit/>
          </a:bodyPr>
          <a:lstStyle/>
          <a:p>
            <a:pPr fontAlgn="base">
              <a:spcBef>
                <a:spcPct val="50000"/>
              </a:spcBef>
              <a:spcAft>
                <a:spcPct val="0"/>
              </a:spcAft>
              <a:defRPr/>
            </a:pPr>
            <a:endParaRPr lang="ja-JP" altLang="en-US" sz="1000" dirty="0">
              <a:solidFill>
                <a:srgbClr val="000000"/>
              </a:solidFill>
            </a:endParaRPr>
          </a:p>
        </p:txBody>
      </p:sp>
      <p:sp>
        <p:nvSpPr>
          <p:cNvPr id="5125" name="Text Box 5"/>
          <p:cNvSpPr txBox="1">
            <a:spLocks noChangeArrowheads="1"/>
          </p:cNvSpPr>
          <p:nvPr/>
        </p:nvSpPr>
        <p:spPr bwMode="auto">
          <a:xfrm>
            <a:off x="5967677" y="6597653"/>
            <a:ext cx="3387990" cy="214313"/>
          </a:xfrm>
          <a:prstGeom prst="rect">
            <a:avLst/>
          </a:prstGeom>
          <a:noFill/>
          <a:ln w="9525">
            <a:noFill/>
            <a:miter lim="800000"/>
            <a:headEnd/>
            <a:tailEnd/>
          </a:ln>
          <a:effectLst/>
        </p:spPr>
        <p:txBody>
          <a:bodyPr lIns="91429" tIns="45715" rIns="91429" bIns="45715">
            <a:spAutoFit/>
          </a:bodyPr>
          <a:lstStyle/>
          <a:p>
            <a:pPr algn="r" fontAlgn="base">
              <a:spcBef>
                <a:spcPct val="0"/>
              </a:spcBef>
              <a:spcAft>
                <a:spcPct val="0"/>
              </a:spcAft>
            </a:pPr>
            <a:r>
              <a:rPr lang="ja-JP" altLang="en-US" sz="800" dirty="0">
                <a:solidFill>
                  <a:srgbClr val="808080"/>
                </a:solidFill>
                <a:latin typeface="ＭＳ Ｐゴシック" pitchFamily="50" charset="-128"/>
                <a:ea typeface="ＭＳ Ｐゴシック" pitchFamily="50" charset="-128"/>
              </a:rPr>
              <a:t>Ｃｏｐｙｒｉｇｈｔ Ⓒ </a:t>
            </a:r>
            <a:r>
              <a:rPr lang="en-US" altLang="ja-JP" sz="800" dirty="0" smtClean="0">
                <a:solidFill>
                  <a:srgbClr val="808080"/>
                </a:solidFill>
                <a:latin typeface="ＭＳ Ｐゴシック" pitchFamily="50" charset="-128"/>
                <a:ea typeface="ＭＳ Ｐゴシック" pitchFamily="50" charset="-128"/>
              </a:rPr>
              <a:t>2015 </a:t>
            </a:r>
            <a:r>
              <a:rPr lang="en-US" altLang="ja-JP" sz="800" dirty="0">
                <a:solidFill>
                  <a:srgbClr val="808080"/>
                </a:solidFill>
                <a:latin typeface="ＭＳ Ｐゴシック" pitchFamily="50" charset="-128"/>
                <a:ea typeface="ＭＳ Ｐゴシック" pitchFamily="50" charset="-128"/>
              </a:rPr>
              <a:t>Kobe Digital </a:t>
            </a:r>
            <a:r>
              <a:rPr lang="en-US" altLang="ja-JP" sz="800" dirty="0" err="1">
                <a:solidFill>
                  <a:srgbClr val="808080"/>
                </a:solidFill>
                <a:latin typeface="ＭＳ Ｐゴシック" pitchFamily="50" charset="-128"/>
                <a:ea typeface="ＭＳ Ｐゴシック" pitchFamily="50" charset="-128"/>
              </a:rPr>
              <a:t>Labo</a:t>
            </a:r>
            <a:r>
              <a:rPr lang="en-US" altLang="ja-JP" sz="800" dirty="0">
                <a:solidFill>
                  <a:srgbClr val="808080"/>
                </a:solidFill>
                <a:latin typeface="ＭＳ Ｐゴシック" pitchFamily="50" charset="-128"/>
                <a:ea typeface="ＭＳ Ｐゴシック" pitchFamily="50" charset="-128"/>
              </a:rPr>
              <a:t> , Inc. All rights Reserved</a:t>
            </a:r>
          </a:p>
        </p:txBody>
      </p:sp>
      <p:sp>
        <p:nvSpPr>
          <p:cNvPr id="5126" name="Line 6"/>
          <p:cNvSpPr>
            <a:spLocks noChangeShapeType="1"/>
          </p:cNvSpPr>
          <p:nvPr/>
        </p:nvSpPr>
        <p:spPr bwMode="auto">
          <a:xfrm>
            <a:off x="975124" y="6511925"/>
            <a:ext cx="8930878" cy="0"/>
          </a:xfrm>
          <a:prstGeom prst="line">
            <a:avLst/>
          </a:prstGeom>
          <a:noFill/>
          <a:ln w="6350">
            <a:solidFill>
              <a:schemeClr val="tx1"/>
            </a:solidFill>
            <a:round/>
            <a:headEnd/>
            <a:tailEnd/>
          </a:ln>
          <a:effectLst/>
        </p:spPr>
        <p:txBody>
          <a:bodyPr/>
          <a:lstStyle/>
          <a:p>
            <a:pPr fontAlgn="base">
              <a:spcBef>
                <a:spcPct val="50000"/>
              </a:spcBef>
              <a:spcAft>
                <a:spcPct val="0"/>
              </a:spcAft>
              <a:defRPr/>
            </a:pPr>
            <a:endParaRPr lang="ja-JP" altLang="en-US" sz="1000">
              <a:solidFill>
                <a:srgbClr val="000000"/>
              </a:solidFill>
            </a:endParaRPr>
          </a:p>
        </p:txBody>
      </p:sp>
      <p:graphicFrame>
        <p:nvGraphicFramePr>
          <p:cNvPr id="1026" name="Object 7"/>
          <p:cNvGraphicFramePr>
            <a:graphicFrameLocks noChangeAspect="1"/>
          </p:cNvGraphicFramePr>
          <p:nvPr/>
        </p:nvGraphicFramePr>
        <p:xfrm>
          <a:off x="165100" y="6423028"/>
          <a:ext cx="655241" cy="390525"/>
        </p:xfrm>
        <a:graphic>
          <a:graphicData uri="http://schemas.openxmlformats.org/presentationml/2006/ole">
            <mc:AlternateContent xmlns:mc="http://schemas.openxmlformats.org/markup-compatibility/2006">
              <mc:Choice xmlns:v="urn:schemas-microsoft-com:vml" Requires="v">
                <p:oleObj spid="_x0000_s11471" name="Photo Editor 写真" r:id="rId8" imgW="752381" imgH="485586" progId="">
                  <p:embed/>
                </p:oleObj>
              </mc:Choice>
              <mc:Fallback>
                <p:oleObj name="Photo Editor 写真" r:id="rId8" imgW="752381" imgH="485586" progId="">
                  <p:embed/>
                  <p:pic>
                    <p:nvPicPr>
                      <p:cNvPr id="0" name="Picture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100" y="6423028"/>
                        <a:ext cx="655241" cy="390525"/>
                      </a:xfrm>
                      <a:prstGeom prst="rect">
                        <a:avLst/>
                      </a:prstGeom>
                      <a:noFill/>
                      <a:ln>
                        <a:noFill/>
                      </a:ln>
                      <a:extLst>
                        <a:ext uri="{909E8E84-426E-40DD-AFC4-6F175D3DCCD1}">
                          <a14:hiddenFill xmlns:a14="http://schemas.microsoft.com/office/drawing/2010/main">
                            <a:solidFill>
                              <a:srgbClr val="A9FFA9"/>
                            </a:solidFill>
                          </a14:hiddenFill>
                        </a:ext>
                        <a:ext uri="{91240B29-F687-4F45-9708-019B960494DF}">
                          <a14:hiddenLine xmlns:a14="http://schemas.microsoft.com/office/drawing/2010/main" w="9525">
                            <a:solidFill>
                              <a:srgbClr val="808080"/>
                            </a:solidFill>
                            <a:miter lim="800000"/>
                            <a:headEnd/>
                            <a:tailEnd/>
                          </a14:hiddenLine>
                        </a:ext>
                      </a:extLst>
                    </p:spPr>
                  </p:pic>
                </p:oleObj>
              </mc:Fallback>
            </mc:AlternateContent>
          </a:graphicData>
        </a:graphic>
      </p:graphicFrame>
      <p:sp>
        <p:nvSpPr>
          <p:cNvPr id="5129" name="Line 9"/>
          <p:cNvSpPr>
            <a:spLocks noChangeShapeType="1"/>
          </p:cNvSpPr>
          <p:nvPr/>
        </p:nvSpPr>
        <p:spPr bwMode="auto">
          <a:xfrm flipV="1">
            <a:off x="0" y="476250"/>
            <a:ext cx="9906000" cy="0"/>
          </a:xfrm>
          <a:prstGeom prst="line">
            <a:avLst/>
          </a:prstGeom>
          <a:noFill/>
          <a:ln w="57150" cmpd="thinThick">
            <a:solidFill>
              <a:schemeClr val="bg2"/>
            </a:solidFill>
            <a:round/>
            <a:headEnd/>
            <a:tailEnd/>
          </a:ln>
          <a:effectLst/>
        </p:spPr>
        <p:txBody>
          <a:bodyPr wrap="none" lIns="90000" tIns="46800" rIns="90000" bIns="46800" anchor="ctr"/>
          <a:lstStyle/>
          <a:p>
            <a:pPr fontAlgn="base">
              <a:spcBef>
                <a:spcPct val="50000"/>
              </a:spcBef>
              <a:spcAft>
                <a:spcPct val="0"/>
              </a:spcAft>
              <a:defRPr/>
            </a:pPr>
            <a:endParaRPr lang="ja-JP" altLang="en-US" sz="1000">
              <a:solidFill>
                <a:srgbClr val="000000"/>
              </a:solidFill>
            </a:endParaRPr>
          </a:p>
        </p:txBody>
      </p:sp>
    </p:spTree>
    <p:extLst>
      <p:ext uri="{BB962C8B-B14F-4D97-AF65-F5344CB8AC3E}">
        <p14:creationId xmlns:p14="http://schemas.microsoft.com/office/powerpoint/2010/main" val="1729709925"/>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9" r:id="rId4"/>
    <p:sldLayoutId id="2147483665" r:id="rId5"/>
  </p:sldLayoutIdLst>
  <p:timing>
    <p:tnLst>
      <p:par>
        <p:cTn id="1" dur="indefinite" restart="never" nodeType="tmRoot"/>
      </p:par>
    </p:tnLst>
  </p:timing>
  <p:txStyles>
    <p:titleStyle>
      <a:lvl1pPr algn="l" rtl="0" eaLnBrk="0" fontAlgn="base" hangingPunct="0">
        <a:spcBef>
          <a:spcPct val="0"/>
        </a:spcBef>
        <a:spcAft>
          <a:spcPct val="0"/>
        </a:spcAft>
        <a:buBlip>
          <a:blip r:embed="rId10"/>
        </a:buBlip>
        <a:defRPr kumimoji="1" sz="2400">
          <a:solidFill>
            <a:schemeClr val="tx2"/>
          </a:solidFill>
          <a:latin typeface="+mj-lt"/>
          <a:ea typeface="+mj-ea"/>
          <a:cs typeface="+mj-cs"/>
        </a:defRPr>
      </a:lvl1pPr>
      <a:lvl2pPr algn="l" rtl="0" eaLnBrk="0" fontAlgn="base" hangingPunct="0">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2pPr>
      <a:lvl3pPr algn="l" rtl="0" eaLnBrk="0" fontAlgn="base" hangingPunct="0">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3pPr>
      <a:lvl4pPr algn="l" rtl="0" eaLnBrk="0" fontAlgn="base" hangingPunct="0">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4pPr>
      <a:lvl5pPr algn="l" rtl="0" eaLnBrk="0" fontAlgn="base" hangingPunct="0">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5pPr>
      <a:lvl6pPr marL="457200" algn="l" rtl="0" fontAlgn="base">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6pPr>
      <a:lvl7pPr marL="914400" algn="l" rtl="0" fontAlgn="base">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7pPr>
      <a:lvl8pPr marL="1371600" algn="l" rtl="0" fontAlgn="base">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8pPr>
      <a:lvl9pPr marL="1828800" algn="l" rtl="0" fontAlgn="base">
        <a:spcBef>
          <a:spcPct val="0"/>
        </a:spcBef>
        <a:spcAft>
          <a:spcPct val="0"/>
        </a:spcAft>
        <a:buBlip>
          <a:blip r:embed="rId10"/>
        </a:buBlip>
        <a:defRPr kumimoji="1" sz="2400">
          <a:solidFill>
            <a:schemeClr val="tx2"/>
          </a:solidFill>
          <a:latin typeface="Arial Black" pitchFamily="34" charset="0"/>
          <a:ea typeface="HGP創英角ｺﾞｼｯｸUB" pitchFamily="50" charset="-128"/>
        </a:defRPr>
      </a:lvl9pPr>
    </p:titleStyle>
    <p:bodyStyle>
      <a:lvl1pPr marL="342900" indent="-342900" algn="l" rtl="0" eaLnBrk="0" fontAlgn="base" hangingPunct="0">
        <a:spcBef>
          <a:spcPct val="20000"/>
        </a:spcBef>
        <a:spcAft>
          <a:spcPct val="0"/>
        </a:spcAft>
        <a:defRPr kumimoji="1" sz="1600">
          <a:solidFill>
            <a:schemeClr val="tx1"/>
          </a:solidFill>
          <a:latin typeface="+mn-lt"/>
          <a:ea typeface="+mn-ea"/>
          <a:cs typeface="+mn-cs"/>
        </a:defRPr>
      </a:lvl1pPr>
      <a:lvl2pPr marL="742950" indent="-285750" algn="l" rtl="0" eaLnBrk="0" fontAlgn="base" hangingPunct="0">
        <a:spcBef>
          <a:spcPct val="20000"/>
        </a:spcBef>
        <a:spcAft>
          <a:spcPct val="0"/>
        </a:spcAft>
        <a:defRPr kumimoji="1" sz="1600">
          <a:solidFill>
            <a:schemeClr val="tx1"/>
          </a:solidFill>
          <a:latin typeface="+mn-lt"/>
          <a:ea typeface="+mn-ea"/>
        </a:defRPr>
      </a:lvl2pPr>
      <a:lvl3pPr marL="1143000" indent="-228600" algn="l" rtl="0" eaLnBrk="0" fontAlgn="base" hangingPunct="0">
        <a:spcBef>
          <a:spcPct val="20000"/>
        </a:spcBef>
        <a:spcAft>
          <a:spcPct val="0"/>
        </a:spcAft>
        <a:defRPr kumimoji="1" sz="1600">
          <a:solidFill>
            <a:schemeClr val="tx1"/>
          </a:solidFill>
          <a:latin typeface="+mn-lt"/>
          <a:ea typeface="+mn-ea"/>
        </a:defRPr>
      </a:lvl3pPr>
      <a:lvl4pPr marL="1600200" indent="-228600" algn="l" rtl="0" eaLnBrk="0" fontAlgn="base" hangingPunct="0">
        <a:spcBef>
          <a:spcPct val="20000"/>
        </a:spcBef>
        <a:spcAft>
          <a:spcPct val="0"/>
        </a:spcAft>
        <a:defRPr kumimoji="1" sz="1600">
          <a:solidFill>
            <a:schemeClr val="tx1"/>
          </a:solidFill>
          <a:latin typeface="+mn-lt"/>
          <a:ea typeface="+mn-ea"/>
        </a:defRPr>
      </a:lvl4pPr>
      <a:lvl5pPr marL="2057400" indent="-228600" algn="l" rtl="0" eaLnBrk="0" fontAlgn="base" hangingPunct="0">
        <a:spcBef>
          <a:spcPct val="20000"/>
        </a:spcBef>
        <a:spcAft>
          <a:spcPct val="0"/>
        </a:spcAft>
        <a:defRPr kumimoji="1" sz="1600">
          <a:solidFill>
            <a:schemeClr val="tx1"/>
          </a:solidFill>
          <a:latin typeface="+mn-lt"/>
          <a:ea typeface="+mn-ea"/>
        </a:defRPr>
      </a:lvl5pPr>
      <a:lvl6pPr marL="2514600" indent="-228600" algn="l" rtl="0" fontAlgn="base">
        <a:spcBef>
          <a:spcPct val="20000"/>
        </a:spcBef>
        <a:spcAft>
          <a:spcPct val="0"/>
        </a:spcAft>
        <a:defRPr kumimoji="1" sz="1600">
          <a:solidFill>
            <a:schemeClr val="tx1"/>
          </a:solidFill>
          <a:latin typeface="+mn-lt"/>
          <a:ea typeface="+mn-ea"/>
        </a:defRPr>
      </a:lvl6pPr>
      <a:lvl7pPr marL="2971800" indent="-228600" algn="l" rtl="0" fontAlgn="base">
        <a:spcBef>
          <a:spcPct val="20000"/>
        </a:spcBef>
        <a:spcAft>
          <a:spcPct val="0"/>
        </a:spcAft>
        <a:defRPr kumimoji="1" sz="1600">
          <a:solidFill>
            <a:schemeClr val="tx1"/>
          </a:solidFill>
          <a:latin typeface="+mn-lt"/>
          <a:ea typeface="+mn-ea"/>
        </a:defRPr>
      </a:lvl7pPr>
      <a:lvl8pPr marL="3429000" indent="-228600" algn="l" rtl="0" fontAlgn="base">
        <a:spcBef>
          <a:spcPct val="20000"/>
        </a:spcBef>
        <a:spcAft>
          <a:spcPct val="0"/>
        </a:spcAft>
        <a:defRPr kumimoji="1" sz="1600">
          <a:solidFill>
            <a:schemeClr val="tx1"/>
          </a:solidFill>
          <a:latin typeface="+mn-lt"/>
          <a:ea typeface="+mn-ea"/>
        </a:defRPr>
      </a:lvl8pPr>
      <a:lvl9pPr marL="3886200" indent="-228600" algn="l" rtl="0" fontAlgn="base">
        <a:spcBef>
          <a:spcPct val="20000"/>
        </a:spcBef>
        <a:spcAft>
          <a:spcPct val="0"/>
        </a:spcAft>
        <a:defRPr kumimoji="1" sz="16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3.jpe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2988"/>
          <a:stretch/>
        </p:blipFill>
        <p:spPr bwMode="auto">
          <a:xfrm>
            <a:off x="76440" y="1346458"/>
            <a:ext cx="9773104" cy="4674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266" name="Text Box 6"/>
          <p:cNvSpPr txBox="1">
            <a:spLocks noChangeArrowheads="1"/>
          </p:cNvSpPr>
          <p:nvPr/>
        </p:nvSpPr>
        <p:spPr bwMode="auto">
          <a:xfrm>
            <a:off x="861141" y="2560549"/>
            <a:ext cx="8203701" cy="584775"/>
          </a:xfrm>
          <a:prstGeom prst="rect">
            <a:avLst/>
          </a:prstGeom>
          <a:noFill/>
          <a:ln w="9525">
            <a:noFill/>
            <a:miter lim="800000"/>
            <a:headEnd/>
            <a:tailEnd/>
          </a:ln>
        </p:spPr>
        <p:txBody>
          <a:bodyPr wrap="square">
            <a:spAutoFit/>
          </a:bodyPr>
          <a:lstStyle/>
          <a:p>
            <a:pPr algn="ctr"/>
            <a:r>
              <a:rPr lang="ja-JP" altLang="en-US" sz="3200" b="1" dirty="0" smtClean="0">
                <a:ln w="15875">
                  <a:solidFill>
                    <a:schemeClr val="bg1"/>
                  </a:solidFill>
                </a:ln>
                <a:solidFill>
                  <a:srgbClr val="FF0000"/>
                </a:solidFill>
                <a:latin typeface="メイリオ" pitchFamily="50" charset="-128"/>
                <a:ea typeface="メイリオ" pitchFamily="50" charset="-128"/>
                <a:cs typeface="メイリオ" pitchFamily="50" charset="-128"/>
              </a:rPr>
              <a:t>人にやさしい街：神戸</a:t>
            </a:r>
            <a:endParaRPr lang="en-US" altLang="ja-JP" sz="3200" b="1" dirty="0" smtClean="0">
              <a:ln w="15875">
                <a:solidFill>
                  <a:schemeClr val="bg1"/>
                </a:solidFill>
              </a:ln>
              <a:solidFill>
                <a:srgbClr val="FF0000"/>
              </a:solidFill>
              <a:latin typeface="メイリオ" pitchFamily="50" charset="-128"/>
              <a:ea typeface="メイリオ" pitchFamily="50" charset="-128"/>
              <a:cs typeface="メイリオ" pitchFamily="50" charset="-128"/>
            </a:endParaRPr>
          </a:p>
        </p:txBody>
      </p:sp>
      <p:sp>
        <p:nvSpPr>
          <p:cNvPr id="11269" name="Line 10"/>
          <p:cNvSpPr>
            <a:spLocks noChangeShapeType="1"/>
          </p:cNvSpPr>
          <p:nvPr/>
        </p:nvSpPr>
        <p:spPr bwMode="auto">
          <a:xfrm>
            <a:off x="344490" y="3140968"/>
            <a:ext cx="9217025" cy="0"/>
          </a:xfrm>
          <a:prstGeom prst="line">
            <a:avLst/>
          </a:prstGeom>
          <a:noFill/>
          <a:ln w="19050">
            <a:solidFill>
              <a:srgbClr val="FF0000"/>
            </a:solidFill>
            <a:round/>
            <a:headEnd/>
            <a:tailEnd/>
          </a:ln>
        </p:spPr>
        <p:txBody>
          <a:bodyPr anchor="ctr">
            <a:spAutoFit/>
          </a:bodyPr>
          <a:lstStyle/>
          <a:p>
            <a:endParaRPr lang="ja-JP" altLang="en-US" dirty="0"/>
          </a:p>
        </p:txBody>
      </p:sp>
      <p:sp>
        <p:nvSpPr>
          <p:cNvPr id="6" name="Line 10"/>
          <p:cNvSpPr>
            <a:spLocks noChangeShapeType="1"/>
          </p:cNvSpPr>
          <p:nvPr/>
        </p:nvSpPr>
        <p:spPr bwMode="auto">
          <a:xfrm>
            <a:off x="509590" y="3212976"/>
            <a:ext cx="9217025" cy="0"/>
          </a:xfrm>
          <a:prstGeom prst="line">
            <a:avLst/>
          </a:prstGeom>
          <a:noFill/>
          <a:ln w="19050">
            <a:solidFill>
              <a:schemeClr val="tx1">
                <a:lumMod val="50000"/>
                <a:lumOff val="50000"/>
              </a:schemeClr>
            </a:solidFill>
            <a:round/>
            <a:headEnd/>
            <a:tailEnd/>
          </a:ln>
        </p:spPr>
        <p:txBody>
          <a:bodyPr anchor="ctr">
            <a:spAutoFit/>
          </a:bodyPr>
          <a:lstStyle/>
          <a:p>
            <a:endParaRPr lang="ja-JP" altLang="en-US" dirty="0"/>
          </a:p>
        </p:txBody>
      </p:sp>
      <p:sp>
        <p:nvSpPr>
          <p:cNvPr id="8" name="Rectangle 38"/>
          <p:cNvSpPr>
            <a:spLocks noChangeArrowheads="1"/>
          </p:cNvSpPr>
          <p:nvPr/>
        </p:nvSpPr>
        <p:spPr bwMode="auto">
          <a:xfrm>
            <a:off x="3859167" y="3378478"/>
            <a:ext cx="2207648" cy="338554"/>
          </a:xfrm>
          <a:prstGeom prst="rect">
            <a:avLst/>
          </a:prstGeom>
          <a:noFill/>
          <a:ln w="9525" algn="ctr">
            <a:noFill/>
            <a:miter lim="800000"/>
            <a:headEnd/>
            <a:tailEnd/>
          </a:ln>
        </p:spPr>
        <p:txBody>
          <a:bodyPr wrap="square" anchor="ctr">
            <a:spAutoFit/>
          </a:bodyPr>
          <a:lstStyle/>
          <a:p>
            <a:pPr algn="ctr"/>
            <a:r>
              <a:rPr lang="en-US" altLang="ja-JP" sz="1600" dirty="0" smtClean="0">
                <a:ln w="0">
                  <a:noFill/>
                </a:ln>
                <a:solidFill>
                  <a:srgbClr val="FF0000"/>
                </a:solidFill>
                <a:latin typeface="メイリオ" pitchFamily="50" charset="-128"/>
                <a:ea typeface="メイリオ" pitchFamily="50" charset="-128"/>
                <a:cs typeface="メイリオ" pitchFamily="50" charset="-128"/>
              </a:rPr>
              <a:t>2015</a:t>
            </a:r>
            <a:r>
              <a:rPr lang="ja-JP" altLang="en-US" sz="1600" dirty="0" smtClean="0">
                <a:ln w="0">
                  <a:noFill/>
                </a:ln>
                <a:solidFill>
                  <a:srgbClr val="FF0000"/>
                </a:solidFill>
                <a:latin typeface="メイリオ" pitchFamily="50" charset="-128"/>
                <a:ea typeface="メイリオ" pitchFamily="50" charset="-128"/>
                <a:cs typeface="メイリオ" pitchFamily="50" charset="-128"/>
              </a:rPr>
              <a:t>年</a:t>
            </a:r>
            <a:r>
              <a:rPr lang="en-US" altLang="ja-JP" sz="1600" dirty="0" smtClean="0">
                <a:ln w="0">
                  <a:noFill/>
                </a:ln>
                <a:solidFill>
                  <a:srgbClr val="FF0000"/>
                </a:solidFill>
                <a:latin typeface="メイリオ" pitchFamily="50" charset="-128"/>
                <a:ea typeface="メイリオ" pitchFamily="50" charset="-128"/>
                <a:cs typeface="メイリオ" pitchFamily="50" charset="-128"/>
              </a:rPr>
              <a:t> 10</a:t>
            </a:r>
            <a:r>
              <a:rPr lang="ja-JP" altLang="en-US" sz="1600" dirty="0" smtClean="0">
                <a:ln w="0">
                  <a:noFill/>
                </a:ln>
                <a:solidFill>
                  <a:srgbClr val="FF0000"/>
                </a:solidFill>
                <a:latin typeface="メイリオ" pitchFamily="50" charset="-128"/>
                <a:ea typeface="メイリオ" pitchFamily="50" charset="-128"/>
                <a:cs typeface="メイリオ" pitchFamily="50" charset="-128"/>
              </a:rPr>
              <a:t>月 吉日</a:t>
            </a:r>
            <a:endParaRPr lang="ja-JP" altLang="en-US" sz="1600" dirty="0">
              <a:ln w="0">
                <a:noFill/>
              </a:ln>
              <a:solidFill>
                <a:srgbClr val="FF0000"/>
              </a:solidFill>
              <a:latin typeface="メイリオ" pitchFamily="50" charset="-128"/>
              <a:ea typeface="メイリオ" pitchFamily="50" charset="-128"/>
              <a:cs typeface="メイリオ" pitchFamily="50" charset="-128"/>
            </a:endParaRPr>
          </a:p>
        </p:txBody>
      </p:sp>
      <p:pic>
        <p:nvPicPr>
          <p:cNvPr id="922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r="50466"/>
          <a:stretch/>
        </p:blipFill>
        <p:spPr bwMode="auto">
          <a:xfrm>
            <a:off x="6433688" y="6093296"/>
            <a:ext cx="783040" cy="446342"/>
          </a:xfrm>
          <a:prstGeom prst="rect">
            <a:avLst/>
          </a:prstGeom>
          <a:noFill/>
          <a:ln>
            <a:noFill/>
          </a:ln>
          <a:extLst/>
        </p:spPr>
      </p:pic>
      <p:sp>
        <p:nvSpPr>
          <p:cNvPr id="7" name="Rectangle 37"/>
          <p:cNvSpPr>
            <a:spLocks noChangeArrowheads="1"/>
          </p:cNvSpPr>
          <p:nvPr/>
        </p:nvSpPr>
        <p:spPr bwMode="auto">
          <a:xfrm>
            <a:off x="7222930" y="6217567"/>
            <a:ext cx="2637260" cy="307777"/>
          </a:xfrm>
          <a:prstGeom prst="rect">
            <a:avLst/>
          </a:prstGeom>
          <a:noFill/>
          <a:ln w="9525" algn="ctr">
            <a:noFill/>
            <a:miter lim="800000"/>
            <a:headEnd/>
            <a:tailEnd/>
          </a:ln>
        </p:spPr>
        <p:txBody>
          <a:bodyPr wrap="none" anchor="ctr">
            <a:spAutoFit/>
          </a:bodyPr>
          <a:lstStyle/>
          <a:p>
            <a:pPr algn="ctr"/>
            <a:r>
              <a:rPr lang="ja-JP" altLang="en-US" sz="1400" b="1" dirty="0">
                <a:solidFill>
                  <a:schemeClr val="tx1">
                    <a:lumMod val="75000"/>
                    <a:lumOff val="25000"/>
                  </a:schemeClr>
                </a:solidFill>
                <a:latin typeface="メイリオ" pitchFamily="50" charset="-128"/>
                <a:ea typeface="メイリオ" pitchFamily="50" charset="-128"/>
                <a:cs typeface="メイリオ" pitchFamily="50" charset="-128"/>
              </a:rPr>
              <a:t>株式</a:t>
            </a:r>
            <a:r>
              <a:rPr lang="ja-JP" altLang="en-US" sz="1400" b="1" dirty="0" smtClean="0">
                <a:solidFill>
                  <a:schemeClr val="tx1">
                    <a:lumMod val="75000"/>
                    <a:lumOff val="25000"/>
                  </a:schemeClr>
                </a:solidFill>
                <a:latin typeface="メイリオ" pitchFamily="50" charset="-128"/>
                <a:ea typeface="メイリオ" pitchFamily="50" charset="-128"/>
                <a:cs typeface="メイリオ" pitchFamily="50" charset="-128"/>
              </a:rPr>
              <a:t>会社 神戸</a:t>
            </a:r>
            <a:r>
              <a:rPr lang="ja-JP" altLang="en-US" sz="1400" b="1" dirty="0">
                <a:solidFill>
                  <a:schemeClr val="tx1">
                    <a:lumMod val="75000"/>
                    <a:lumOff val="25000"/>
                  </a:schemeClr>
                </a:solidFill>
                <a:latin typeface="メイリオ" pitchFamily="50" charset="-128"/>
                <a:ea typeface="メイリオ" pitchFamily="50" charset="-128"/>
                <a:cs typeface="メイリオ" pitchFamily="50" charset="-128"/>
              </a:rPr>
              <a:t>デジタル・ラボ </a:t>
            </a:r>
          </a:p>
        </p:txBody>
      </p:sp>
      <p:sp>
        <p:nvSpPr>
          <p:cNvPr id="9" name="Text Box 6"/>
          <p:cNvSpPr txBox="1">
            <a:spLocks noChangeArrowheads="1"/>
          </p:cNvSpPr>
          <p:nvPr/>
        </p:nvSpPr>
        <p:spPr bwMode="auto">
          <a:xfrm>
            <a:off x="1913194" y="447055"/>
            <a:ext cx="6099594" cy="923330"/>
          </a:xfrm>
          <a:prstGeom prst="rect">
            <a:avLst/>
          </a:prstGeom>
          <a:noFill/>
          <a:ln w="9525">
            <a:noFill/>
            <a:miter lim="800000"/>
            <a:headEnd/>
            <a:tailEnd/>
          </a:ln>
        </p:spPr>
        <p:txBody>
          <a:bodyPr wrap="square">
            <a:spAutoFit/>
          </a:bodyPr>
          <a:lstStyle/>
          <a:p>
            <a:pPr algn="ctr"/>
            <a:r>
              <a:rPr lang="ja-JP" altLang="en-US" b="1" dirty="0">
                <a:latin typeface="メイリオ" pitchFamily="50" charset="-128"/>
                <a:ea typeface="メイリオ" pitchFamily="50" charset="-128"/>
                <a:cs typeface="メイリオ" pitchFamily="50" charset="-128"/>
              </a:rPr>
              <a:t>「</a:t>
            </a:r>
            <a:r>
              <a:rPr lang="en-US" altLang="ja-JP" b="1" dirty="0" err="1">
                <a:latin typeface="メイリオ" pitchFamily="50" charset="-128"/>
                <a:ea typeface="メイリオ" pitchFamily="50" charset="-128"/>
                <a:cs typeface="メイリオ" pitchFamily="50" charset="-128"/>
              </a:rPr>
              <a:t>data.KOBE</a:t>
            </a:r>
            <a:r>
              <a:rPr lang="ja-JP" altLang="en-US" b="1" dirty="0">
                <a:latin typeface="メイリオ" pitchFamily="50" charset="-128"/>
                <a:ea typeface="メイリオ" pitchFamily="50" charset="-128"/>
                <a:cs typeface="メイリオ" pitchFamily="50" charset="-128"/>
              </a:rPr>
              <a:t>」</a:t>
            </a:r>
            <a:r>
              <a:rPr lang="en-US" altLang="ja-JP" b="1" dirty="0">
                <a:latin typeface="メイリオ" pitchFamily="50" charset="-128"/>
                <a:ea typeface="メイリオ" pitchFamily="50" charset="-128"/>
                <a:cs typeface="メイリオ" pitchFamily="50" charset="-128"/>
              </a:rPr>
              <a:t>×NTT</a:t>
            </a:r>
            <a:r>
              <a:rPr lang="ja-JP" altLang="en-US" b="1" dirty="0">
                <a:latin typeface="メイリオ" pitchFamily="50" charset="-128"/>
                <a:ea typeface="メイリオ" pitchFamily="50" charset="-128"/>
                <a:cs typeface="メイリオ" pitchFamily="50" charset="-128"/>
              </a:rPr>
              <a:t>ドコモ　</a:t>
            </a:r>
            <a:endParaRPr lang="en-US" altLang="ja-JP" b="1" dirty="0" smtClean="0">
              <a:latin typeface="メイリオ" pitchFamily="50" charset="-128"/>
              <a:ea typeface="メイリオ" pitchFamily="50" charset="-128"/>
              <a:cs typeface="メイリオ" pitchFamily="50" charset="-128"/>
            </a:endParaRPr>
          </a:p>
          <a:p>
            <a:pPr algn="ctr"/>
            <a:r>
              <a:rPr lang="ja-JP" altLang="en-US" b="1" dirty="0" smtClean="0">
                <a:latin typeface="メイリオ" pitchFamily="50" charset="-128"/>
                <a:ea typeface="メイリオ" pitchFamily="50" charset="-128"/>
                <a:cs typeface="メイリオ" pitchFamily="50" charset="-128"/>
              </a:rPr>
              <a:t>アプリコンテスト＜</a:t>
            </a:r>
            <a:r>
              <a:rPr lang="ja-JP" altLang="en-US" b="1" dirty="0">
                <a:latin typeface="メイリオ" pitchFamily="50" charset="-128"/>
                <a:ea typeface="メイリオ" pitchFamily="50" charset="-128"/>
                <a:cs typeface="メイリオ" pitchFamily="50" charset="-128"/>
              </a:rPr>
              <a:t>アイデア部門＞</a:t>
            </a:r>
          </a:p>
          <a:p>
            <a:pPr algn="ctr"/>
            <a:endParaRPr lang="en-US" altLang="ja-JP" b="1" dirty="0" smtClean="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9721752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このアプリを考えたきっかけ</a:t>
            </a:r>
            <a:endParaRPr kumimoji="1"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4" name="正方形/長方形 43"/>
          <p:cNvSpPr/>
          <p:nvPr/>
        </p:nvSpPr>
        <p:spPr bwMode="auto">
          <a:xfrm>
            <a:off x="228600" y="591407"/>
            <a:ext cx="9448800" cy="901365"/>
          </a:xfrm>
          <a:prstGeom prst="rect">
            <a:avLst/>
          </a:prstGeom>
          <a:solidFill>
            <a:srgbClr val="92D050"/>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ts val="600"/>
              </a:spcBef>
            </a:pPr>
            <a:r>
              <a:rPr lang="ja-JP" altLang="en-US" sz="2000" b="1" dirty="0" smtClean="0">
                <a:solidFill>
                  <a:schemeClr val="bg1"/>
                </a:solidFill>
                <a:latin typeface="メイリオ" panose="020B0604030504040204" pitchFamily="50" charset="-128"/>
                <a:ea typeface="メイリオ" panose="020B0604030504040204" pitchFamily="50" charset="-128"/>
              </a:rPr>
              <a:t>今よりもっとたくさんの方に</a:t>
            </a:r>
            <a:endParaRPr lang="en-US" altLang="ja-JP" sz="2000" b="1" dirty="0" smtClean="0">
              <a:solidFill>
                <a:schemeClr val="bg1"/>
              </a:solidFill>
              <a:latin typeface="メイリオ" panose="020B0604030504040204" pitchFamily="50" charset="-128"/>
              <a:ea typeface="メイリオ" panose="020B0604030504040204" pitchFamily="50" charset="-128"/>
            </a:endParaRPr>
          </a:p>
          <a:p>
            <a:pPr algn="ctr">
              <a:spcBef>
                <a:spcPts val="600"/>
              </a:spcBef>
            </a:pPr>
            <a:r>
              <a:rPr lang="ja-JP" altLang="en-US" sz="2000" b="1" dirty="0" smtClean="0">
                <a:solidFill>
                  <a:srgbClr val="FF0000"/>
                </a:solidFill>
                <a:latin typeface="メイリオ" panose="020B0604030504040204" pitchFamily="50" charset="-128"/>
                <a:ea typeface="メイリオ" panose="020B0604030504040204" pitchFamily="50" charset="-128"/>
              </a:rPr>
              <a:t>安心して神戸を楽しんでもらうために</a:t>
            </a:r>
            <a:endParaRPr lang="en-US" altLang="ja-JP" sz="2000" b="1" dirty="0" smtClean="0">
              <a:solidFill>
                <a:schemeClr val="bg1"/>
              </a:solidFill>
              <a:latin typeface="メイリオ" panose="020B0604030504040204" pitchFamily="50" charset="-128"/>
              <a:ea typeface="メイリオ" panose="020B0604030504040204" pitchFamily="50" charset="-128"/>
            </a:endParaRPr>
          </a:p>
        </p:txBody>
      </p:sp>
      <p:pic>
        <p:nvPicPr>
          <p:cNvPr id="2" name="図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2880" y="3211284"/>
            <a:ext cx="2339081" cy="1754311"/>
          </a:xfrm>
          <a:prstGeom prst="rect">
            <a:avLst/>
          </a:prstGeom>
        </p:spPr>
      </p:pic>
      <p:sp>
        <p:nvSpPr>
          <p:cNvPr id="3" name="雲形吹き出し 2"/>
          <p:cNvSpPr/>
          <p:nvPr/>
        </p:nvSpPr>
        <p:spPr>
          <a:xfrm>
            <a:off x="3174473" y="1805104"/>
            <a:ext cx="3458982" cy="983873"/>
          </a:xfrm>
          <a:prstGeom prst="cloudCallout">
            <a:avLst>
              <a:gd name="adj1" fmla="val 7609"/>
              <a:gd name="adj2" fmla="val 86056"/>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kumimoji="1" lang="ja-JP" altLang="en-US" sz="1200" dirty="0" smtClean="0">
                <a:solidFill>
                  <a:schemeClr val="tx1"/>
                </a:solidFill>
                <a:latin typeface="メイリオ" pitchFamily="50" charset="-128"/>
                <a:ea typeface="メイリオ" pitchFamily="50" charset="-128"/>
              </a:rPr>
              <a:t>足の調子がよくないけど、</a:t>
            </a:r>
            <a:endParaRPr kumimoji="1" lang="en-US" altLang="ja-JP" sz="1200" dirty="0" smtClean="0">
              <a:solidFill>
                <a:schemeClr val="tx1"/>
              </a:solidFill>
              <a:latin typeface="メイリオ" pitchFamily="50" charset="-128"/>
              <a:ea typeface="メイリオ" pitchFamily="50" charset="-128"/>
            </a:endParaRPr>
          </a:p>
          <a:p>
            <a:pPr algn="ctr"/>
            <a:r>
              <a:rPr lang="ja-JP" altLang="en-US" sz="1200" dirty="0" smtClean="0">
                <a:solidFill>
                  <a:srgbClr val="FF0000"/>
                </a:solidFill>
                <a:latin typeface="メイリオ" pitchFamily="50" charset="-128"/>
                <a:ea typeface="メイリオ" pitchFamily="50" charset="-128"/>
              </a:rPr>
              <a:t>目的地まで階段を使わずに</a:t>
            </a:r>
            <a:endParaRPr lang="en-US" altLang="ja-JP" sz="1200" dirty="0" smtClean="0">
              <a:solidFill>
                <a:srgbClr val="FF0000"/>
              </a:solidFill>
              <a:latin typeface="メイリオ" pitchFamily="50" charset="-128"/>
              <a:ea typeface="メイリオ" pitchFamily="50" charset="-128"/>
            </a:endParaRPr>
          </a:p>
          <a:p>
            <a:pPr algn="ctr"/>
            <a:r>
              <a:rPr lang="ja-JP" altLang="en-US" sz="1200" dirty="0" smtClean="0">
                <a:solidFill>
                  <a:schemeClr val="tx1"/>
                </a:solidFill>
                <a:latin typeface="メイリオ" pitchFamily="50" charset="-128"/>
                <a:ea typeface="メイリオ" pitchFamily="50" charset="-128"/>
              </a:rPr>
              <a:t>たどり着けるかな</a:t>
            </a:r>
            <a:r>
              <a:rPr kumimoji="1" lang="en-US" altLang="ja-JP" sz="1200" dirty="0" smtClean="0">
                <a:solidFill>
                  <a:schemeClr val="tx1"/>
                </a:solidFill>
                <a:latin typeface="メイリオ" pitchFamily="50" charset="-128"/>
                <a:ea typeface="メイリオ" pitchFamily="50" charset="-128"/>
              </a:rPr>
              <a:t>…</a:t>
            </a:r>
            <a:endParaRPr kumimoji="1" lang="ja-JP" altLang="en-US" sz="1200" dirty="0" smtClean="0">
              <a:solidFill>
                <a:schemeClr val="tx1"/>
              </a:solidFill>
              <a:latin typeface="メイリオ" pitchFamily="50" charset="-128"/>
              <a:ea typeface="メイリオ" pitchFamily="50" charset="-128"/>
            </a:endParaRPr>
          </a:p>
        </p:txBody>
      </p:sp>
      <p:pic>
        <p:nvPicPr>
          <p:cNvPr id="4" name="図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29264" y="3063845"/>
            <a:ext cx="1139749" cy="1897527"/>
          </a:xfrm>
          <a:prstGeom prst="rect">
            <a:avLst/>
          </a:prstGeom>
        </p:spPr>
      </p:pic>
      <p:sp>
        <p:nvSpPr>
          <p:cNvPr id="17" name="雲形吹き出し 16"/>
          <p:cNvSpPr/>
          <p:nvPr/>
        </p:nvSpPr>
        <p:spPr>
          <a:xfrm>
            <a:off x="6864619" y="1786372"/>
            <a:ext cx="2389406" cy="983873"/>
          </a:xfrm>
          <a:prstGeom prst="cloudCallout">
            <a:avLst>
              <a:gd name="adj1" fmla="val -15228"/>
              <a:gd name="adj2" fmla="val 73189"/>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spAutoFit/>
          </a:bodyPr>
          <a:lstStyle/>
          <a:p>
            <a:pPr algn="ctr"/>
            <a:r>
              <a:rPr kumimoji="1" lang="ja-JP" altLang="en-US" sz="1200" dirty="0" smtClean="0">
                <a:solidFill>
                  <a:schemeClr val="tx1"/>
                </a:solidFill>
                <a:latin typeface="メイリオ" pitchFamily="50" charset="-128"/>
                <a:ea typeface="メイリオ" pitchFamily="50" charset="-128"/>
              </a:rPr>
              <a:t>知らない観光地で</a:t>
            </a:r>
            <a:endParaRPr kumimoji="1" lang="en-US" altLang="ja-JP" sz="1200" dirty="0" smtClean="0">
              <a:solidFill>
                <a:schemeClr val="tx1"/>
              </a:solidFill>
              <a:latin typeface="メイリオ" pitchFamily="50" charset="-128"/>
              <a:ea typeface="メイリオ" pitchFamily="50" charset="-128"/>
            </a:endParaRPr>
          </a:p>
          <a:p>
            <a:pPr algn="ctr"/>
            <a:r>
              <a:rPr lang="ja-JP" altLang="en-US" sz="1200" dirty="0" smtClean="0">
                <a:solidFill>
                  <a:srgbClr val="FF0000"/>
                </a:solidFill>
                <a:latin typeface="メイリオ" pitchFamily="50" charset="-128"/>
                <a:ea typeface="メイリオ" pitchFamily="50" charset="-128"/>
              </a:rPr>
              <a:t>車いす</a:t>
            </a:r>
            <a:r>
              <a:rPr lang="ja-JP" altLang="en-US" sz="1200" dirty="0">
                <a:solidFill>
                  <a:srgbClr val="FF0000"/>
                </a:solidFill>
                <a:latin typeface="メイリオ" pitchFamily="50" charset="-128"/>
                <a:ea typeface="メイリオ" pitchFamily="50" charset="-128"/>
              </a:rPr>
              <a:t>用</a:t>
            </a:r>
            <a:r>
              <a:rPr lang="ja-JP" altLang="en-US" sz="1200" dirty="0" smtClean="0">
                <a:solidFill>
                  <a:srgbClr val="FF0000"/>
                </a:solidFill>
                <a:latin typeface="メイリオ" pitchFamily="50" charset="-128"/>
                <a:ea typeface="メイリオ" pitchFamily="50" charset="-128"/>
              </a:rPr>
              <a:t>のトイレ</a:t>
            </a:r>
            <a:r>
              <a:rPr lang="ja-JP" altLang="en-US" sz="1200" dirty="0" smtClean="0">
                <a:solidFill>
                  <a:schemeClr val="tx1"/>
                </a:solidFill>
                <a:latin typeface="メイリオ" pitchFamily="50" charset="-128"/>
                <a:ea typeface="メイリオ" pitchFamily="50" charset="-128"/>
              </a:rPr>
              <a:t>が</a:t>
            </a:r>
            <a:endParaRPr lang="en-US" altLang="ja-JP" sz="1200" dirty="0" smtClean="0">
              <a:solidFill>
                <a:schemeClr val="tx1"/>
              </a:solidFill>
              <a:latin typeface="メイリオ" pitchFamily="50" charset="-128"/>
              <a:ea typeface="メイリオ" pitchFamily="50" charset="-128"/>
            </a:endParaRPr>
          </a:p>
          <a:p>
            <a:pPr algn="ctr"/>
            <a:r>
              <a:rPr lang="ja-JP" altLang="en-US" sz="1200" dirty="0" smtClean="0">
                <a:solidFill>
                  <a:schemeClr val="tx1"/>
                </a:solidFill>
                <a:latin typeface="メイリオ" pitchFamily="50" charset="-128"/>
                <a:ea typeface="メイリオ" pitchFamily="50" charset="-128"/>
              </a:rPr>
              <a:t>見つかるかな</a:t>
            </a:r>
            <a:r>
              <a:rPr kumimoji="1" lang="en-US" altLang="ja-JP" sz="1200" dirty="0" smtClean="0">
                <a:solidFill>
                  <a:schemeClr val="tx1"/>
                </a:solidFill>
                <a:latin typeface="メイリオ" pitchFamily="50" charset="-128"/>
                <a:ea typeface="メイリオ" pitchFamily="50" charset="-128"/>
              </a:rPr>
              <a:t>…</a:t>
            </a:r>
            <a:endParaRPr kumimoji="1" lang="ja-JP" altLang="en-US" sz="1200" dirty="0" smtClean="0">
              <a:solidFill>
                <a:schemeClr val="tx1"/>
              </a:solidFill>
              <a:latin typeface="メイリオ" pitchFamily="50" charset="-128"/>
              <a:ea typeface="メイリオ" pitchFamily="50" charset="-128"/>
            </a:endParaRPr>
          </a:p>
        </p:txBody>
      </p:sp>
      <p:pic>
        <p:nvPicPr>
          <p:cNvPr id="6" name="図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721929" y="3011311"/>
            <a:ext cx="2863676" cy="2147757"/>
          </a:xfrm>
          <a:prstGeom prst="rect">
            <a:avLst/>
          </a:prstGeom>
        </p:spPr>
      </p:pic>
      <p:sp>
        <p:nvSpPr>
          <p:cNvPr id="19" name="雲形吹き出し 18"/>
          <p:cNvSpPr/>
          <p:nvPr/>
        </p:nvSpPr>
        <p:spPr>
          <a:xfrm>
            <a:off x="216684" y="1814724"/>
            <a:ext cx="2726625" cy="983873"/>
          </a:xfrm>
          <a:prstGeom prst="cloudCallout">
            <a:avLst>
              <a:gd name="adj1" fmla="val 18508"/>
              <a:gd name="adj2" fmla="val 66694"/>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kumimoji="1" lang="ja-JP" altLang="en-US" sz="1200" dirty="0" smtClean="0">
                <a:solidFill>
                  <a:schemeClr val="tx1"/>
                </a:solidFill>
                <a:latin typeface="メイリオ" pitchFamily="50" charset="-128"/>
                <a:ea typeface="メイリオ" pitchFamily="50" charset="-128"/>
              </a:rPr>
              <a:t>駅の</a:t>
            </a:r>
            <a:r>
              <a:rPr kumimoji="1" lang="ja-JP" altLang="en-US" sz="1200" dirty="0" smtClean="0">
                <a:solidFill>
                  <a:srgbClr val="FF0000"/>
                </a:solidFill>
                <a:latin typeface="メイリオ" pitchFamily="50" charset="-128"/>
                <a:ea typeface="メイリオ" pitchFamily="50" charset="-128"/>
              </a:rPr>
              <a:t>エレベータ</a:t>
            </a:r>
            <a:r>
              <a:rPr kumimoji="1" lang="ja-JP" altLang="en-US" sz="1200" dirty="0" smtClean="0">
                <a:solidFill>
                  <a:schemeClr val="tx1"/>
                </a:solidFill>
                <a:latin typeface="メイリオ" pitchFamily="50" charset="-128"/>
                <a:ea typeface="メイリオ" pitchFamily="50" charset="-128"/>
              </a:rPr>
              <a:t>や</a:t>
            </a:r>
            <a:endParaRPr lang="en-US" altLang="ja-JP" sz="1200" dirty="0" smtClean="0">
              <a:solidFill>
                <a:schemeClr val="tx1"/>
              </a:solidFill>
              <a:latin typeface="メイリオ" pitchFamily="50" charset="-128"/>
              <a:ea typeface="メイリオ" pitchFamily="50" charset="-128"/>
            </a:endParaRPr>
          </a:p>
          <a:p>
            <a:pPr algn="ctr"/>
            <a:r>
              <a:rPr kumimoji="1" lang="ja-JP" altLang="en-US" sz="1200" dirty="0" smtClean="0">
                <a:solidFill>
                  <a:schemeClr val="tx1"/>
                </a:solidFill>
                <a:latin typeface="メイリオ" pitchFamily="50" charset="-128"/>
                <a:ea typeface="メイリオ" pitchFamily="50" charset="-128"/>
              </a:rPr>
              <a:t>街中の</a:t>
            </a:r>
            <a:r>
              <a:rPr kumimoji="1" lang="ja-JP" altLang="en-US" sz="1200" dirty="0" smtClean="0">
                <a:solidFill>
                  <a:srgbClr val="FF0000"/>
                </a:solidFill>
                <a:latin typeface="メイリオ" pitchFamily="50" charset="-128"/>
                <a:ea typeface="メイリオ" pitchFamily="50" charset="-128"/>
              </a:rPr>
              <a:t>スロープ</a:t>
            </a:r>
            <a:r>
              <a:rPr kumimoji="1" lang="ja-JP" altLang="en-US" sz="1200" dirty="0" smtClean="0">
                <a:solidFill>
                  <a:schemeClr val="tx1"/>
                </a:solidFill>
                <a:latin typeface="メイリオ" pitchFamily="50" charset="-128"/>
                <a:ea typeface="メイリオ" pitchFamily="50" charset="-128"/>
              </a:rPr>
              <a:t>は</a:t>
            </a:r>
            <a:endParaRPr kumimoji="1" lang="en-US" altLang="ja-JP" sz="1200" dirty="0" smtClean="0">
              <a:solidFill>
                <a:schemeClr val="tx1"/>
              </a:solidFill>
              <a:latin typeface="メイリオ" pitchFamily="50" charset="-128"/>
              <a:ea typeface="メイリオ" pitchFamily="50" charset="-128"/>
            </a:endParaRPr>
          </a:p>
          <a:p>
            <a:pPr algn="ctr"/>
            <a:r>
              <a:rPr kumimoji="1" lang="ja-JP" altLang="en-US" sz="1200" dirty="0" smtClean="0">
                <a:solidFill>
                  <a:schemeClr val="tx1"/>
                </a:solidFill>
                <a:latin typeface="メイリオ" pitchFamily="50" charset="-128"/>
                <a:ea typeface="メイリオ" pitchFamily="50" charset="-128"/>
              </a:rPr>
              <a:t>ちゃんとあるかしら</a:t>
            </a:r>
            <a:r>
              <a:rPr kumimoji="1" lang="en-US" altLang="ja-JP" sz="1200" dirty="0" smtClean="0">
                <a:solidFill>
                  <a:schemeClr val="tx1"/>
                </a:solidFill>
                <a:latin typeface="メイリオ" pitchFamily="50" charset="-128"/>
                <a:ea typeface="メイリオ" pitchFamily="50" charset="-128"/>
              </a:rPr>
              <a:t>…</a:t>
            </a:r>
            <a:endParaRPr kumimoji="1" lang="ja-JP" altLang="en-US" sz="1200" dirty="0" smtClean="0">
              <a:solidFill>
                <a:schemeClr val="tx1"/>
              </a:solidFill>
              <a:latin typeface="メイリオ" pitchFamily="50" charset="-128"/>
              <a:ea typeface="メイリオ" pitchFamily="50" charset="-128"/>
            </a:endParaRPr>
          </a:p>
        </p:txBody>
      </p:sp>
      <p:sp>
        <p:nvSpPr>
          <p:cNvPr id="20" name="Text Box 4"/>
          <p:cNvSpPr txBox="1">
            <a:spLocks noChangeArrowheads="1"/>
          </p:cNvSpPr>
          <p:nvPr/>
        </p:nvSpPr>
        <p:spPr bwMode="auto">
          <a:xfrm>
            <a:off x="984500" y="5307850"/>
            <a:ext cx="7936999" cy="929485"/>
          </a:xfrm>
          <a:prstGeom prst="rect">
            <a:avLst/>
          </a:prstGeom>
          <a:noFill/>
          <a:ln w="6350" algn="ctr">
            <a:noFill/>
            <a:miter lim="800000"/>
            <a:headEnd/>
            <a:tailEnd/>
          </a:ln>
        </p:spPr>
        <p:txBody>
          <a:bodyPr wrap="square">
            <a:spAutoFit/>
          </a:bodyPr>
          <a:lstStyle/>
          <a:p>
            <a:pPr algn="ctr" defTabSz="514350">
              <a:spcBef>
                <a:spcPct val="20000"/>
              </a:spcBef>
            </a:pPr>
            <a:r>
              <a:rPr lang="ja-JP" altLang="en-US" sz="1600" b="1" dirty="0" smtClean="0">
                <a:latin typeface="メイリオ" panose="020B0604030504040204" pitchFamily="50" charset="-128"/>
                <a:ea typeface="メイリオ" panose="020B0604030504040204" pitchFamily="50" charset="-128"/>
                <a:cs typeface="メイリオ" panose="020B0604030504040204" pitchFamily="50" charset="-128"/>
              </a:rPr>
              <a:t>おしゃれな街・見どころがたくさんある街、そんな魅力ある神戸の街へ</a:t>
            </a:r>
            <a:endParaRPr lang="en-US" altLang="ja-JP" sz="16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defTabSz="514350">
              <a:spcBef>
                <a:spcPct val="20000"/>
              </a:spcBef>
            </a:pPr>
            <a:r>
              <a:rPr lang="ja-JP" altLang="en-US" sz="1600" b="1" dirty="0" smtClean="0">
                <a:latin typeface="メイリオ" panose="020B0604030504040204" pitchFamily="50" charset="-128"/>
                <a:ea typeface="メイリオ" panose="020B0604030504040204" pitchFamily="50" charset="-128"/>
                <a:cs typeface="メイリオ" panose="020B0604030504040204" pitchFamily="50" charset="-128"/>
              </a:rPr>
              <a:t>若者だけでなく、お出かけにちょっと不安がある方にも、安心して来てもらいたい</a:t>
            </a:r>
            <a:endParaRPr lang="en-US" altLang="ja-JP" sz="16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defTabSz="514350">
              <a:spcBef>
                <a:spcPct val="20000"/>
              </a:spcBef>
            </a:pPr>
            <a:r>
              <a:rPr lang="ja-JP" altLang="en-US" sz="1600"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利用者の欲しいサポート情報がたくさん詰まったアプリ</a:t>
            </a:r>
            <a:r>
              <a:rPr lang="ja-JP" altLang="en-US" sz="1600" b="1" dirty="0" smtClean="0">
                <a:latin typeface="メイリオ" panose="020B0604030504040204" pitchFamily="50" charset="-128"/>
                <a:ea typeface="メイリオ" panose="020B0604030504040204" pitchFamily="50" charset="-128"/>
                <a:cs typeface="メイリオ" panose="020B0604030504040204" pitchFamily="50" charset="-128"/>
              </a:rPr>
              <a:t>です。</a:t>
            </a:r>
            <a:endParaRPr lang="en-US" altLang="ja-JP" sz="1600" b="1"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702239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企画概要</a:t>
            </a:r>
            <a:endParaRPr kumimoji="1"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4" name="正方形/長方形 43"/>
          <p:cNvSpPr/>
          <p:nvPr/>
        </p:nvSpPr>
        <p:spPr bwMode="auto">
          <a:xfrm>
            <a:off x="228600" y="591407"/>
            <a:ext cx="9448800" cy="901365"/>
          </a:xfrm>
          <a:prstGeom prst="rect">
            <a:avLst/>
          </a:prstGeom>
          <a:solidFill>
            <a:srgbClr val="92D050"/>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ts val="600"/>
              </a:spcBef>
            </a:pPr>
            <a:r>
              <a:rPr lang="ja-JP" altLang="en-US" sz="2000" b="1" dirty="0" smtClean="0">
                <a:solidFill>
                  <a:schemeClr val="bg1"/>
                </a:solidFill>
                <a:latin typeface="メイリオ" panose="020B0604030504040204" pitchFamily="50" charset="-128"/>
                <a:ea typeface="メイリオ" panose="020B0604030504040204" pitchFamily="50" charset="-128"/>
              </a:rPr>
              <a:t>神戸を訪れる様々な人々に</a:t>
            </a:r>
            <a:endParaRPr lang="en-US" altLang="ja-JP" sz="2000" b="1" dirty="0" smtClean="0">
              <a:solidFill>
                <a:schemeClr val="bg1"/>
              </a:solidFill>
              <a:latin typeface="メイリオ" panose="020B0604030504040204" pitchFamily="50" charset="-128"/>
              <a:ea typeface="メイリオ" panose="020B0604030504040204" pitchFamily="50" charset="-128"/>
            </a:endParaRPr>
          </a:p>
          <a:p>
            <a:pPr algn="ctr">
              <a:spcBef>
                <a:spcPts val="600"/>
              </a:spcBef>
            </a:pPr>
            <a:r>
              <a:rPr lang="ja-JP" altLang="en-US" sz="2000" b="1" dirty="0" smtClean="0">
                <a:solidFill>
                  <a:srgbClr val="FF0000"/>
                </a:solidFill>
                <a:latin typeface="メイリオ" panose="020B0604030504040204" pitchFamily="50" charset="-128"/>
                <a:ea typeface="メイリオ" panose="020B0604030504040204" pitchFamily="50" charset="-128"/>
              </a:rPr>
              <a:t>「人にやさしい街：神戸」</a:t>
            </a:r>
            <a:r>
              <a:rPr lang="ja-JP" altLang="en-US" sz="2000" b="1" dirty="0" smtClean="0">
                <a:solidFill>
                  <a:schemeClr val="bg1"/>
                </a:solidFill>
                <a:latin typeface="メイリオ" panose="020B0604030504040204" pitchFamily="50" charset="-128"/>
                <a:ea typeface="メイリオ" panose="020B0604030504040204" pitchFamily="50" charset="-128"/>
              </a:rPr>
              <a:t>をアピールします</a:t>
            </a:r>
            <a:endParaRPr lang="en-US" altLang="ja-JP" sz="2000" b="1" dirty="0" smtClean="0">
              <a:solidFill>
                <a:schemeClr val="bg1"/>
              </a:solidFill>
              <a:latin typeface="メイリオ" panose="020B0604030504040204" pitchFamily="50" charset="-128"/>
              <a:ea typeface="メイリオ" panose="020B0604030504040204" pitchFamily="50" charset="-128"/>
            </a:endParaRPr>
          </a:p>
        </p:txBody>
      </p:sp>
      <p:sp>
        <p:nvSpPr>
          <p:cNvPr id="29" name="Rectangle 42"/>
          <p:cNvSpPr>
            <a:spLocks noChangeArrowheads="1"/>
          </p:cNvSpPr>
          <p:nvPr/>
        </p:nvSpPr>
        <p:spPr bwMode="auto">
          <a:xfrm>
            <a:off x="407097" y="1915256"/>
            <a:ext cx="4183440" cy="1369728"/>
          </a:xfrm>
          <a:prstGeom prst="rect">
            <a:avLst/>
          </a:prstGeom>
          <a:solidFill>
            <a:schemeClr val="bg1"/>
          </a:solidFill>
          <a:ln w="9525">
            <a:solidFill>
              <a:schemeClr val="accent5">
                <a:lumMod val="75000"/>
              </a:schemeClr>
            </a:solidFill>
            <a:miter lim="800000"/>
            <a:headEnd/>
            <a:tailEnd/>
          </a:ln>
        </p:spPr>
        <p:txBody>
          <a:bodyPr wrap="none" anchor="ctr"/>
          <a:lstStyle/>
          <a:p>
            <a:pPr algn="ctr">
              <a:buClr>
                <a:srgbClr val="FCA202"/>
              </a:buClr>
              <a:buFont typeface="MS UI Gothic" pitchFamily="50" charset="-128"/>
              <a:buNone/>
            </a:pPr>
            <a:endPar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Text Box 43"/>
          <p:cNvSpPr txBox="1">
            <a:spLocks noChangeArrowheads="1"/>
          </p:cNvSpPr>
          <p:nvPr/>
        </p:nvSpPr>
        <p:spPr bwMode="auto">
          <a:xfrm>
            <a:off x="683168" y="1772816"/>
            <a:ext cx="1821560" cy="314325"/>
          </a:xfrm>
          <a:prstGeom prst="rect">
            <a:avLst/>
          </a:prstGeom>
          <a:solidFill>
            <a:srgbClr val="00B0F0"/>
          </a:solidFill>
          <a:ln>
            <a:noFill/>
            <a:headEnd/>
            <a:tailEnd/>
          </a:ln>
        </p:spPr>
        <p:style>
          <a:lnRef idx="1">
            <a:schemeClr val="accent5"/>
          </a:lnRef>
          <a:fillRef idx="2">
            <a:schemeClr val="accent5"/>
          </a:fillRef>
          <a:effectRef idx="1">
            <a:schemeClr val="accent5"/>
          </a:effectRef>
          <a:fontRef idx="minor">
            <a:schemeClr val="dk1"/>
          </a:fontRef>
        </p:style>
        <p:txBody>
          <a:bodyPr anchor="ctr"/>
          <a:lstStyle/>
          <a:p>
            <a:pPr algn="ctr">
              <a:spcBef>
                <a:spcPct val="50000"/>
              </a:spcBef>
              <a:buClrTx/>
              <a:buFontTx/>
              <a:buNone/>
            </a:pPr>
            <a:r>
              <a:rPr lang="ja-JP" altLang="en-US" sz="11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ターゲットとする人</a:t>
            </a:r>
            <a:endParaRPr lang="en-US" altLang="ja-JP" sz="11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Text Box 4"/>
          <p:cNvSpPr txBox="1">
            <a:spLocks noChangeArrowheads="1"/>
          </p:cNvSpPr>
          <p:nvPr/>
        </p:nvSpPr>
        <p:spPr bwMode="auto">
          <a:xfrm>
            <a:off x="450367" y="2207359"/>
            <a:ext cx="2800833" cy="984885"/>
          </a:xfrm>
          <a:prstGeom prst="rect">
            <a:avLst/>
          </a:prstGeom>
          <a:noFill/>
          <a:ln w="6350" algn="ctr">
            <a:noFill/>
            <a:miter lim="800000"/>
            <a:headEnd/>
            <a:tailEnd/>
          </a:ln>
        </p:spPr>
        <p:txBody>
          <a:bodyPr wrap="square">
            <a:spAutoFit/>
          </a:bodyPr>
          <a:lstStyle/>
          <a:p>
            <a:pPr marL="174625" indent="-174625" defTabSz="514350">
              <a:spcBef>
                <a:spcPct val="20000"/>
              </a:spcBef>
              <a:buFont typeface="Wingdings 2" pitchFamily="18" charset="2"/>
              <a:buChar char="®"/>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優先座席を必要とされる方</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お年寄りの方</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・お身体の不自由な方</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・妊婦の方</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・小さなお子様をお連れの方</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776" y="1982959"/>
            <a:ext cx="1293721" cy="12647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tangle 42"/>
          <p:cNvSpPr>
            <a:spLocks noChangeArrowheads="1"/>
          </p:cNvSpPr>
          <p:nvPr/>
        </p:nvSpPr>
        <p:spPr bwMode="auto">
          <a:xfrm>
            <a:off x="407097" y="3684684"/>
            <a:ext cx="9226423" cy="2480620"/>
          </a:xfrm>
          <a:prstGeom prst="rect">
            <a:avLst/>
          </a:prstGeom>
          <a:solidFill>
            <a:schemeClr val="bg1"/>
          </a:solidFill>
          <a:ln w="9525">
            <a:solidFill>
              <a:schemeClr val="accent5">
                <a:lumMod val="75000"/>
              </a:schemeClr>
            </a:solidFill>
            <a:miter lim="800000"/>
            <a:headEnd/>
            <a:tailEnd/>
          </a:ln>
        </p:spPr>
        <p:txBody>
          <a:bodyPr wrap="none" anchor="ctr"/>
          <a:lstStyle/>
          <a:p>
            <a:pPr algn="ctr">
              <a:buClr>
                <a:srgbClr val="FCA202"/>
              </a:buClr>
              <a:buFont typeface="MS UI Gothic" pitchFamily="50" charset="-128"/>
              <a:buNone/>
            </a:pPr>
            <a:endPar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Text Box 4"/>
          <p:cNvSpPr txBox="1">
            <a:spLocks noChangeArrowheads="1"/>
          </p:cNvSpPr>
          <p:nvPr/>
        </p:nvSpPr>
        <p:spPr bwMode="auto">
          <a:xfrm>
            <a:off x="564169" y="3974293"/>
            <a:ext cx="4388831" cy="2108269"/>
          </a:xfrm>
          <a:prstGeom prst="rect">
            <a:avLst/>
          </a:prstGeom>
          <a:noFill/>
          <a:ln w="6350" algn="ctr">
            <a:noFill/>
            <a:miter lim="800000"/>
            <a:headEnd/>
            <a:tailEnd/>
          </a:ln>
        </p:spPr>
        <p:txBody>
          <a:bodyPr wrap="square">
            <a:spAutoFit/>
          </a:bodyPr>
          <a:lstStyle/>
          <a:p>
            <a:pP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例えば、お身体の不自由な車椅子の方が街に出ようとする際には、</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事前にいろいろな確認を行います。</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 ホテル情報</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⇒バリアフリーであるか、充分な広さがあるか</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経路情報</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⇒駅構内のエレベーター情報や道路でのスロープ情報など</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 トイレ情報</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⇒「だれでもトイレ」といった情報だけでなく</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オストメイト、おむつ替え、車いす用といった種類の情報確認</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など</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4" name="Text Box 43"/>
          <p:cNvSpPr txBox="1">
            <a:spLocks noChangeArrowheads="1"/>
          </p:cNvSpPr>
          <p:nvPr/>
        </p:nvSpPr>
        <p:spPr bwMode="auto">
          <a:xfrm>
            <a:off x="683168" y="3527523"/>
            <a:ext cx="3261720" cy="314325"/>
          </a:xfrm>
          <a:prstGeom prst="rect">
            <a:avLst/>
          </a:prstGeom>
          <a:solidFill>
            <a:schemeClr val="accent6">
              <a:lumMod val="75000"/>
            </a:schemeClr>
          </a:solidFill>
          <a:ln>
            <a:noFill/>
            <a:headEnd/>
            <a:tailEnd/>
          </a:ln>
        </p:spPr>
        <p:style>
          <a:lnRef idx="1">
            <a:schemeClr val="accent5"/>
          </a:lnRef>
          <a:fillRef idx="2">
            <a:schemeClr val="accent5"/>
          </a:fillRef>
          <a:effectRef idx="1">
            <a:schemeClr val="accent5"/>
          </a:effectRef>
          <a:fontRef idx="minor">
            <a:schemeClr val="dk1"/>
          </a:fontRef>
        </p:style>
        <p:txBody>
          <a:bodyPr anchor="ctr"/>
          <a:lstStyle/>
          <a:p>
            <a:pPr algn="ctr">
              <a:spcBef>
                <a:spcPct val="50000"/>
              </a:spcBef>
              <a:buClrTx/>
              <a:buFontTx/>
              <a:buNone/>
            </a:pPr>
            <a:r>
              <a:rPr lang="ja-JP" altLang="en-US" sz="12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どのように課題解決に貢献するか</a:t>
            </a:r>
            <a:endPar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角丸四角形吹き出し 34"/>
          <p:cNvSpPr/>
          <p:nvPr/>
        </p:nvSpPr>
        <p:spPr>
          <a:xfrm>
            <a:off x="5473938" y="2133315"/>
            <a:ext cx="3524119" cy="933609"/>
          </a:xfrm>
          <a:prstGeom prst="wedgeRoundRectCallout">
            <a:avLst>
              <a:gd name="adj1" fmla="val -46616"/>
              <a:gd name="adj2" fmla="val 100053"/>
              <a:gd name="adj3" fmla="val 16667"/>
            </a:avLst>
          </a:prstGeom>
          <a:solidFill>
            <a:srgbClr val="CCFF99"/>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神戸市行政データ</a:t>
            </a: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で</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取得できる</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オープンデータスポット情報を活用します</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「トイレ」「まちかど救急ステーション（</a:t>
            </a: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AED</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設置）」　など</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で取得される情報は目的地候補として活用</a:t>
            </a:r>
            <a:endPar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二等辺三角形 35"/>
          <p:cNvSpPr/>
          <p:nvPr/>
        </p:nvSpPr>
        <p:spPr>
          <a:xfrm rot="5400000">
            <a:off x="4643216" y="4749006"/>
            <a:ext cx="971545" cy="351978"/>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900" dirty="0" smtClean="0">
              <a:solidFill>
                <a:schemeClr val="tx1"/>
              </a:solidFill>
              <a:latin typeface="メイリオ" pitchFamily="50" charset="-128"/>
              <a:ea typeface="メイリオ" pitchFamily="50" charset="-128"/>
            </a:endParaRPr>
          </a:p>
        </p:txBody>
      </p:sp>
      <p:sp>
        <p:nvSpPr>
          <p:cNvPr id="37" name="Text Box 4"/>
          <p:cNvSpPr txBox="1">
            <a:spLocks noChangeArrowheads="1"/>
          </p:cNvSpPr>
          <p:nvPr/>
        </p:nvSpPr>
        <p:spPr bwMode="auto">
          <a:xfrm>
            <a:off x="5388705" y="4286357"/>
            <a:ext cx="4172807" cy="1277273"/>
          </a:xfrm>
          <a:prstGeom prst="rect">
            <a:avLst/>
          </a:prstGeom>
          <a:noFill/>
          <a:ln w="6350" algn="ctr">
            <a:noFill/>
            <a:miter lim="800000"/>
            <a:headEnd/>
            <a:tailEnd/>
          </a:ln>
        </p:spPr>
        <p:txBody>
          <a:bodyPr wrap="square">
            <a:spAutoFit/>
          </a:bodyPr>
          <a:lstStyle/>
          <a:p>
            <a:pP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神戸市から提供される情報をもとに</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優先座席</a:t>
            </a: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を必要とされる方にとって有益な情報を</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アプリ内</a:t>
            </a: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で全て検索・閲覧できるようにします。</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結果と</a:t>
            </a: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して、事前の下調べをいろいろ行うことなく</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安心</a:t>
            </a: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して神戸の街を楽しんでいただくことが可能となります。</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952314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アプリ活用例（ルート検索）</a:t>
            </a:r>
            <a:endParaRPr kumimoji="1"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正方形/長方形 26"/>
          <p:cNvSpPr/>
          <p:nvPr/>
        </p:nvSpPr>
        <p:spPr bwMode="auto">
          <a:xfrm>
            <a:off x="228600" y="591407"/>
            <a:ext cx="9448800" cy="901365"/>
          </a:xfrm>
          <a:prstGeom prst="rect">
            <a:avLst/>
          </a:prstGeom>
          <a:solidFill>
            <a:srgbClr val="92D050"/>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ts val="600"/>
              </a:spcBef>
            </a:pPr>
            <a:r>
              <a:rPr lang="ja-JP" altLang="en-US" sz="2000" b="1" dirty="0" smtClean="0">
                <a:solidFill>
                  <a:schemeClr val="bg1"/>
                </a:solidFill>
                <a:latin typeface="メイリオ" panose="020B0604030504040204" pitchFamily="50" charset="-128"/>
                <a:ea typeface="メイリオ" panose="020B0604030504040204" pitchFamily="50" charset="-128"/>
              </a:rPr>
              <a:t>ルート検索時は目的地に最適なルート案内だけでなくスロープ情報など</a:t>
            </a:r>
            <a:endParaRPr lang="en-US" altLang="ja-JP" sz="2000" b="1" dirty="0" smtClean="0">
              <a:solidFill>
                <a:schemeClr val="bg1"/>
              </a:solidFill>
              <a:latin typeface="メイリオ" panose="020B0604030504040204" pitchFamily="50" charset="-128"/>
              <a:ea typeface="メイリオ" panose="020B0604030504040204" pitchFamily="50" charset="-128"/>
            </a:endParaRPr>
          </a:p>
          <a:p>
            <a:pPr algn="ctr">
              <a:spcBef>
                <a:spcPts val="600"/>
              </a:spcBef>
            </a:pPr>
            <a:r>
              <a:rPr lang="ja-JP" altLang="en-US" sz="2000" b="1" dirty="0" smtClean="0">
                <a:solidFill>
                  <a:srgbClr val="FF0000"/>
                </a:solidFill>
                <a:latin typeface="メイリオ" panose="020B0604030504040204" pitchFamily="50" charset="-128"/>
                <a:ea typeface="メイリオ" panose="020B0604030504040204" pitchFamily="50" charset="-128"/>
              </a:rPr>
              <a:t>「点」の情報から「線」「面」</a:t>
            </a:r>
            <a:r>
              <a:rPr lang="ja-JP" altLang="en-US" sz="2000" b="1" dirty="0" smtClean="0">
                <a:solidFill>
                  <a:schemeClr val="bg1"/>
                </a:solidFill>
                <a:latin typeface="メイリオ" panose="020B0604030504040204" pitchFamily="50" charset="-128"/>
                <a:ea typeface="メイリオ" panose="020B0604030504040204" pitchFamily="50" charset="-128"/>
              </a:rPr>
              <a:t>での情報提供を可能とします</a:t>
            </a:r>
            <a:endParaRPr lang="en-US" altLang="ja-JP" sz="2000" b="1" dirty="0" smtClean="0">
              <a:solidFill>
                <a:schemeClr val="bg1"/>
              </a:solidFill>
              <a:latin typeface="メイリオ" panose="020B0604030504040204" pitchFamily="50" charset="-128"/>
              <a:ea typeface="メイリオ" panose="020B0604030504040204" pitchFamily="50" charset="-128"/>
            </a:endParaRPr>
          </a:p>
        </p:txBody>
      </p:sp>
      <p:grpSp>
        <p:nvGrpSpPr>
          <p:cNvPr id="28" name="グループ化 27"/>
          <p:cNvGrpSpPr/>
          <p:nvPr/>
        </p:nvGrpSpPr>
        <p:grpSpPr>
          <a:xfrm>
            <a:off x="4808984" y="2604781"/>
            <a:ext cx="2677105" cy="2520280"/>
            <a:chOff x="3067983" y="2204864"/>
            <a:chExt cx="3770034" cy="3240360"/>
          </a:xfrm>
        </p:grpSpPr>
        <p:pic>
          <p:nvPicPr>
            <p:cNvPr id="2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7983" y="2204864"/>
              <a:ext cx="3770034" cy="324036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30"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7225" y="2204864"/>
              <a:ext cx="472257" cy="435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3" name="角丸四角形吹き出し 32"/>
          <p:cNvSpPr/>
          <p:nvPr/>
        </p:nvSpPr>
        <p:spPr>
          <a:xfrm>
            <a:off x="1496616" y="1884676"/>
            <a:ext cx="2376264" cy="411009"/>
          </a:xfrm>
          <a:prstGeom prst="wedgeRoundRectCallout">
            <a:avLst>
              <a:gd name="adj1" fmla="val -62768"/>
              <a:gd name="adj2" fmla="val 40993"/>
              <a:gd name="adj3" fmla="val 16667"/>
            </a:avLst>
          </a:prstGeom>
          <a:solidFill>
            <a:srgbClr val="CCFF99"/>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JR</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三ノ宮駅から</a:t>
            </a: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KDL</a:t>
            </a:r>
            <a:r>
              <a:rPr lang="ja-JP" altLang="en-US" sz="900" dirty="0" err="1"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には</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どう</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やって行けばいいの？？？</a:t>
            </a:r>
            <a:endPar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4" name="Picture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00672" y="3434073"/>
            <a:ext cx="864096" cy="861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 name="下矢印 34"/>
          <p:cNvSpPr/>
          <p:nvPr/>
        </p:nvSpPr>
        <p:spPr bwMode="auto">
          <a:xfrm>
            <a:off x="2091844" y="2416385"/>
            <a:ext cx="781050" cy="901700"/>
          </a:xfrm>
          <a:prstGeom prst="downArrow">
            <a:avLst/>
          </a:prstGeom>
          <a:solidFill>
            <a:srgbClr val="FFFF99"/>
          </a:solidFill>
          <a:ln w="9525">
            <a:solidFill>
              <a:schemeClr val="tx1">
                <a:lumMod val="75000"/>
                <a:lumOff val="25000"/>
              </a:schemeClr>
            </a:solidFill>
            <a:round/>
            <a:headEnd/>
            <a:tailEnd/>
          </a:ln>
        </p:spPr>
        <p:txBody>
          <a:bodyPr wrap="none" lIns="90000" tIns="46800" rIns="90000" bIns="46800" anchor="ctr" anchorCtr="1"/>
          <a:lstStyle/>
          <a:p>
            <a:pPr algn="ctr">
              <a:defRPr/>
            </a:pPr>
            <a:endParaRPr lang="ja-JP" altLang="en-US" sz="1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1"/>
          <p:cNvSpPr txBox="1">
            <a:spLocks noChangeArrowheads="1"/>
          </p:cNvSpPr>
          <p:nvPr/>
        </p:nvSpPr>
        <p:spPr bwMode="auto">
          <a:xfrm>
            <a:off x="1235874" y="2586986"/>
            <a:ext cx="2492990" cy="276999"/>
          </a:xfrm>
          <a:prstGeom prst="rect">
            <a:avLst/>
          </a:prstGeom>
          <a:solidFill>
            <a:schemeClr val="bg1">
              <a:alpha val="68000"/>
            </a:schemeClr>
          </a:solidFill>
          <a:ln>
            <a:noFill/>
          </a:ln>
          <a:extLst/>
        </p:spPr>
        <p:txBody>
          <a:bodyPr wrap="none">
            <a:spAutoFit/>
          </a:bodyPr>
          <a:lstStyle>
            <a:lvl1pPr>
              <a:defRPr kumimoji="1" sz="800">
                <a:solidFill>
                  <a:schemeClr val="tx1"/>
                </a:solidFill>
                <a:latin typeface="Arial" charset="0"/>
                <a:ea typeface="HG丸ｺﾞｼｯｸM-PRO" pitchFamily="50" charset="-128"/>
              </a:defRPr>
            </a:lvl1pPr>
            <a:lvl2pPr marL="742950" indent="-285750">
              <a:defRPr kumimoji="1" sz="800">
                <a:solidFill>
                  <a:schemeClr val="tx1"/>
                </a:solidFill>
                <a:latin typeface="Arial" charset="0"/>
                <a:ea typeface="HG丸ｺﾞｼｯｸM-PRO" pitchFamily="50" charset="-128"/>
              </a:defRPr>
            </a:lvl2pPr>
            <a:lvl3pPr marL="1143000" indent="-228600">
              <a:defRPr kumimoji="1" sz="800">
                <a:solidFill>
                  <a:schemeClr val="tx1"/>
                </a:solidFill>
                <a:latin typeface="Arial" charset="0"/>
                <a:ea typeface="HG丸ｺﾞｼｯｸM-PRO" pitchFamily="50" charset="-128"/>
              </a:defRPr>
            </a:lvl3pPr>
            <a:lvl4pPr marL="1600200" indent="-228600">
              <a:defRPr kumimoji="1" sz="800">
                <a:solidFill>
                  <a:schemeClr val="tx1"/>
                </a:solidFill>
                <a:latin typeface="Arial" charset="0"/>
                <a:ea typeface="HG丸ｺﾞｼｯｸM-PRO" pitchFamily="50" charset="-128"/>
              </a:defRPr>
            </a:lvl4pPr>
            <a:lvl5pPr marL="2057400" indent="-228600">
              <a:defRPr kumimoji="1" sz="800">
                <a:solidFill>
                  <a:schemeClr val="tx1"/>
                </a:solidFill>
                <a:latin typeface="Arial" charset="0"/>
                <a:ea typeface="HG丸ｺﾞｼｯｸM-PRO" pitchFamily="50" charset="-128"/>
              </a:defRPr>
            </a:lvl5pPr>
            <a:lvl6pPr marL="2514600" indent="-228600" eaLnBrk="0" fontAlgn="base" hangingPunct="0">
              <a:spcBef>
                <a:spcPct val="0"/>
              </a:spcBef>
              <a:spcAft>
                <a:spcPct val="0"/>
              </a:spcAft>
              <a:defRPr kumimoji="1" sz="800">
                <a:solidFill>
                  <a:schemeClr val="tx1"/>
                </a:solidFill>
                <a:latin typeface="Arial" charset="0"/>
                <a:ea typeface="HG丸ｺﾞｼｯｸM-PRO" pitchFamily="50" charset="-128"/>
              </a:defRPr>
            </a:lvl6pPr>
            <a:lvl7pPr marL="2971800" indent="-228600" eaLnBrk="0" fontAlgn="base" hangingPunct="0">
              <a:spcBef>
                <a:spcPct val="0"/>
              </a:spcBef>
              <a:spcAft>
                <a:spcPct val="0"/>
              </a:spcAft>
              <a:defRPr kumimoji="1" sz="800">
                <a:solidFill>
                  <a:schemeClr val="tx1"/>
                </a:solidFill>
                <a:latin typeface="Arial" charset="0"/>
                <a:ea typeface="HG丸ｺﾞｼｯｸM-PRO" pitchFamily="50" charset="-128"/>
              </a:defRPr>
            </a:lvl7pPr>
            <a:lvl8pPr marL="3429000" indent="-228600" eaLnBrk="0" fontAlgn="base" hangingPunct="0">
              <a:spcBef>
                <a:spcPct val="0"/>
              </a:spcBef>
              <a:spcAft>
                <a:spcPct val="0"/>
              </a:spcAft>
              <a:defRPr kumimoji="1" sz="800">
                <a:solidFill>
                  <a:schemeClr val="tx1"/>
                </a:solidFill>
                <a:latin typeface="Arial" charset="0"/>
                <a:ea typeface="HG丸ｺﾞｼｯｸM-PRO" pitchFamily="50" charset="-128"/>
              </a:defRPr>
            </a:lvl8pPr>
            <a:lvl9pPr marL="3886200" indent="-228600" eaLnBrk="0" fontAlgn="base" hangingPunct="0">
              <a:spcBef>
                <a:spcPct val="0"/>
              </a:spcBef>
              <a:spcAft>
                <a:spcPct val="0"/>
              </a:spcAft>
              <a:defRPr kumimoji="1" sz="800">
                <a:solidFill>
                  <a:schemeClr val="tx1"/>
                </a:solidFill>
                <a:latin typeface="Arial" charset="0"/>
                <a:ea typeface="HG丸ｺﾞｼｯｸM-PRO" pitchFamily="50" charset="-128"/>
              </a:defRPr>
            </a:lvl9pPr>
          </a:lstStyle>
          <a:p>
            <a:pPr algn="ctr">
              <a:spcAft>
                <a:spcPts val="600"/>
              </a:spcAft>
            </a:pPr>
            <a:r>
              <a:rPr lang="ja-JP" altLang="en-US" sz="1200" dirty="0" smtClean="0">
                <a:latin typeface="メイリオ" panose="020B0604030504040204" pitchFamily="50" charset="-128"/>
                <a:ea typeface="メイリオ" panose="020B0604030504040204" pitchFamily="50" charset="-128"/>
                <a:cs typeface="メイリオ" panose="020B0604030504040204" pitchFamily="50" charset="-128"/>
              </a:rPr>
              <a:t>そんな場合にアプリを使用すると</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下矢印 36"/>
          <p:cNvSpPr/>
          <p:nvPr/>
        </p:nvSpPr>
        <p:spPr bwMode="auto">
          <a:xfrm>
            <a:off x="2091844" y="4431132"/>
            <a:ext cx="781050" cy="901700"/>
          </a:xfrm>
          <a:prstGeom prst="downArrow">
            <a:avLst/>
          </a:prstGeom>
          <a:solidFill>
            <a:srgbClr val="FFFF99"/>
          </a:solidFill>
          <a:ln w="9525">
            <a:solidFill>
              <a:schemeClr val="tx1">
                <a:lumMod val="75000"/>
                <a:lumOff val="25000"/>
              </a:schemeClr>
            </a:solidFill>
            <a:round/>
            <a:headEnd/>
            <a:tailEnd/>
          </a:ln>
        </p:spPr>
        <p:txBody>
          <a:bodyPr wrap="none" lIns="90000" tIns="46800" rIns="90000" bIns="46800" anchor="ctr" anchorCtr="1"/>
          <a:lstStyle/>
          <a:p>
            <a:pPr algn="ctr">
              <a:defRPr/>
            </a:pPr>
            <a:endParaRPr lang="ja-JP" altLang="en-US" sz="1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角丸四角形吹き出し 38"/>
          <p:cNvSpPr/>
          <p:nvPr/>
        </p:nvSpPr>
        <p:spPr>
          <a:xfrm>
            <a:off x="1496616" y="5455951"/>
            <a:ext cx="2376264" cy="792088"/>
          </a:xfrm>
          <a:prstGeom prst="wedgeRoundRectCallout">
            <a:avLst>
              <a:gd name="adj1" fmla="val -30372"/>
              <a:gd name="adj2" fmla="val -17961"/>
              <a:gd name="adj3" fmla="val 16667"/>
            </a:avLst>
          </a:prstGeom>
          <a:solidFill>
            <a:srgbClr val="CCFF99"/>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分かりやすいルート案内だけでなく</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バリアフリー</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なルート案内も出るんだ！</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スロープ情報</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も充実しているから</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今</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まであきらめてた場所へも</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行けるかも</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しれない！</a:t>
            </a:r>
            <a:endPar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Text Box 4"/>
          <p:cNvSpPr txBox="1">
            <a:spLocks noChangeArrowheads="1"/>
          </p:cNvSpPr>
          <p:nvPr/>
        </p:nvSpPr>
        <p:spPr bwMode="auto">
          <a:xfrm>
            <a:off x="6753200" y="3896697"/>
            <a:ext cx="2304256" cy="363176"/>
          </a:xfrm>
          <a:prstGeom prst="rect">
            <a:avLst/>
          </a:prstGeom>
          <a:solidFill>
            <a:srgbClr val="FFFFCC"/>
          </a:solidFill>
          <a:ln w="6350" algn="ctr">
            <a:solidFill>
              <a:schemeClr val="tx1"/>
            </a:solidFill>
            <a:miter lim="800000"/>
            <a:headEnd/>
            <a:tailEnd/>
          </a:ln>
        </p:spPr>
        <p:txBody>
          <a:bodyPr wrap="square">
            <a:spAutoFit/>
          </a:bodyPr>
          <a:lstStyle/>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オレンジルート：分かりやすいルート</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　青色ルート　：バリアフリーなルート</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1" name="直線コネクタ 40"/>
          <p:cNvCxnSpPr>
            <a:stCxn id="34" idx="3"/>
          </p:cNvCxnSpPr>
          <p:nvPr/>
        </p:nvCxnSpPr>
        <p:spPr>
          <a:xfrm flipV="1">
            <a:off x="2864768" y="2604781"/>
            <a:ext cx="1800200" cy="12601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コネクタ 41"/>
          <p:cNvCxnSpPr>
            <a:stCxn id="34" idx="3"/>
          </p:cNvCxnSpPr>
          <p:nvPr/>
        </p:nvCxnSpPr>
        <p:spPr>
          <a:xfrm>
            <a:off x="2864768" y="3864921"/>
            <a:ext cx="1800200" cy="1260140"/>
          </a:xfrm>
          <a:prstGeom prst="line">
            <a:avLst/>
          </a:prstGeom>
        </p:spPr>
        <p:style>
          <a:lnRef idx="1">
            <a:schemeClr val="accent1"/>
          </a:lnRef>
          <a:fillRef idx="0">
            <a:schemeClr val="accent1"/>
          </a:fillRef>
          <a:effectRef idx="0">
            <a:schemeClr val="accent1"/>
          </a:effectRef>
          <a:fontRef idx="minor">
            <a:schemeClr val="tx1"/>
          </a:fontRef>
        </p:style>
      </p:cxnSp>
      <p:sp>
        <p:nvSpPr>
          <p:cNvPr id="43" name="角丸四角形吹き出し 42"/>
          <p:cNvSpPr/>
          <p:nvPr/>
        </p:nvSpPr>
        <p:spPr>
          <a:xfrm>
            <a:off x="6594813" y="1851280"/>
            <a:ext cx="1549435" cy="432048"/>
          </a:xfrm>
          <a:prstGeom prst="wedgeRoundRectCallout">
            <a:avLst>
              <a:gd name="adj1" fmla="val -56887"/>
              <a:gd name="adj2" fmla="val 107197"/>
              <a:gd name="adj3" fmla="val 16667"/>
            </a:avLst>
          </a:prstGeom>
          <a:solidFill>
            <a:srgbClr val="66CCFF"/>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現在地情報は</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GPS</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をもとに取得</a:t>
            </a:r>
            <a:endPar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Text Box 4"/>
          <p:cNvSpPr txBox="1">
            <a:spLocks noChangeArrowheads="1"/>
          </p:cNvSpPr>
          <p:nvPr/>
        </p:nvSpPr>
        <p:spPr bwMode="auto">
          <a:xfrm>
            <a:off x="7689304" y="2628076"/>
            <a:ext cx="1988096" cy="954107"/>
          </a:xfrm>
          <a:prstGeom prst="rect">
            <a:avLst/>
          </a:prstGeom>
          <a:solidFill>
            <a:srgbClr val="FFFFCC"/>
          </a:solidFill>
          <a:ln w="6350" algn="ctr">
            <a:solidFill>
              <a:schemeClr val="tx1"/>
            </a:solidFill>
            <a:miter lim="800000"/>
            <a:headEnd/>
            <a:tailEnd/>
          </a:ln>
        </p:spPr>
        <p:txBody>
          <a:bodyPr wrap="square">
            <a:spAutoFit/>
          </a:bodyPr>
          <a:lstStyle/>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現在地から</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ルート検索対象となる目的地は</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神戸市</a:t>
            </a: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から提供される</a:t>
            </a:r>
            <a:endParaRPr lang="en-US" altLang="ja-JP"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行政データ</a:t>
            </a:r>
            <a:r>
              <a:rPr lang="en-US" altLang="ja-JP"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を活用</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する</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⇒この</a:t>
            </a:r>
            <a:r>
              <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で取得される場所が</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目的地候補として選択可能</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47"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08984" y="5419786"/>
            <a:ext cx="1360012" cy="760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0" name="直線矢印コネクタ 49"/>
          <p:cNvCxnSpPr>
            <a:endCxn id="47" idx="0"/>
          </p:cNvCxnSpPr>
          <p:nvPr/>
        </p:nvCxnSpPr>
        <p:spPr>
          <a:xfrm>
            <a:off x="5169024" y="4725144"/>
            <a:ext cx="319966" cy="694642"/>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51" name="Text Box 4"/>
          <p:cNvSpPr txBox="1">
            <a:spLocks noChangeArrowheads="1"/>
          </p:cNvSpPr>
          <p:nvPr/>
        </p:nvSpPr>
        <p:spPr bwMode="auto">
          <a:xfrm>
            <a:off x="6446030" y="5621163"/>
            <a:ext cx="1988096" cy="461665"/>
          </a:xfrm>
          <a:prstGeom prst="rect">
            <a:avLst/>
          </a:prstGeom>
          <a:solidFill>
            <a:srgbClr val="FFFFCC"/>
          </a:solidFill>
          <a:ln w="6350" algn="ctr">
            <a:solidFill>
              <a:schemeClr val="tx1"/>
            </a:solidFill>
            <a:miter lim="800000"/>
            <a:headEnd/>
            <a:tailEnd/>
          </a:ln>
        </p:spPr>
        <p:txBody>
          <a:bodyPr wrap="square" anchor="ctr" anchorCtr="0">
            <a:spAutoFit/>
          </a:bodyPr>
          <a:lstStyle/>
          <a:p>
            <a:r>
              <a:rPr lang="ja-JP" altLang="en-US" sz="800" dirty="0">
                <a:latin typeface="メイリオ" panose="020B0604030504040204" pitchFamily="50" charset="-128"/>
                <a:ea typeface="メイリオ" panose="020B0604030504040204" pitchFamily="50" charset="-128"/>
                <a:cs typeface="メイリオ" panose="020B0604030504040204" pitchFamily="50" charset="-128"/>
              </a:rPr>
              <a:t>目的地については</a:t>
            </a:r>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800" dirty="0">
                <a:latin typeface="メイリオ" panose="020B0604030504040204" pitchFamily="50" charset="-128"/>
                <a:ea typeface="メイリオ" panose="020B0604030504040204" pitchFamily="50" charset="-128"/>
                <a:cs typeface="メイリオ" panose="020B0604030504040204" pitchFamily="50" charset="-128"/>
              </a:rPr>
              <a:t>施設詳細情報確認可能とする</a:t>
            </a:r>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（バリアフリーに関する情報も</a:t>
            </a: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6" name="角丸四角形吹き出し 55"/>
          <p:cNvSpPr/>
          <p:nvPr/>
        </p:nvSpPr>
        <p:spPr>
          <a:xfrm>
            <a:off x="7133917" y="4518086"/>
            <a:ext cx="2211571" cy="901700"/>
          </a:xfrm>
          <a:prstGeom prst="wedgeRoundRectCallout">
            <a:avLst>
              <a:gd name="adj1" fmla="val -65125"/>
              <a:gd name="adj2" fmla="val -70263"/>
              <a:gd name="adj3" fmla="val 16667"/>
            </a:avLst>
          </a:prstGeom>
          <a:solidFill>
            <a:srgbClr val="66CCFF"/>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514350">
              <a:spcBef>
                <a:spcPct val="20000"/>
              </a:spcBef>
            </a:pPr>
            <a:r>
              <a:rPr lang="ja-JP" altLang="en-US" sz="900" dirty="0" smtClean="0">
                <a:latin typeface="メイリオ" panose="020B0604030504040204" pitchFamily="50" charset="-128"/>
                <a:ea typeface="メイリオ" panose="020B0604030504040204" pitchFamily="50" charset="-128"/>
                <a:cs typeface="メイリオ" panose="020B0604030504040204" pitchFamily="50" charset="-128"/>
              </a:rPr>
              <a:t>スロープ情報などもマップ上に表示</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smtClean="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目的地までの候補ルート以外でも</a:t>
            </a:r>
            <a:endParaRPr lang="en-US" altLang="ja-JP" sz="9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9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利用可能なルートを検討可能</a:t>
            </a:r>
            <a:endParaRPr lang="en-US" altLang="ja-JP" sz="9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⇒今まで訪れることができなかった</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場所への訪問意欲も向上</a:t>
            </a:r>
            <a:endParaRPr lang="en-US" altLang="ja-JP"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5362"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48130" y="3468250"/>
            <a:ext cx="229501" cy="227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39021" y="3468250"/>
            <a:ext cx="229501" cy="227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69024" y="3833605"/>
            <a:ext cx="229501" cy="227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77571" y="4811294"/>
            <a:ext cx="229501" cy="227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73080" y="4811294"/>
            <a:ext cx="229501" cy="227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84204" y="4290220"/>
            <a:ext cx="229501" cy="227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図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24481" y="1908178"/>
            <a:ext cx="1665128" cy="1248846"/>
          </a:xfrm>
          <a:prstGeom prst="rect">
            <a:avLst/>
          </a:prstGeom>
        </p:spPr>
      </p:pic>
      <p:pic>
        <p:nvPicPr>
          <p:cNvPr id="7" name="図 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68476" y="5479010"/>
            <a:ext cx="889623" cy="701263"/>
          </a:xfrm>
          <a:prstGeom prst="rect">
            <a:avLst/>
          </a:prstGeom>
        </p:spPr>
      </p:pic>
    </p:spTree>
    <p:extLst>
      <p:ext uri="{BB962C8B-B14F-4D97-AF65-F5344CB8AC3E}">
        <p14:creationId xmlns:p14="http://schemas.microsoft.com/office/powerpoint/2010/main" val="27197622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アプリ活用例（トイレ検索）</a:t>
            </a:r>
            <a:endParaRPr kumimoji="1"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正方形/長方形 26"/>
          <p:cNvSpPr/>
          <p:nvPr/>
        </p:nvSpPr>
        <p:spPr bwMode="auto">
          <a:xfrm>
            <a:off x="228600" y="591407"/>
            <a:ext cx="9448800" cy="901365"/>
          </a:xfrm>
          <a:prstGeom prst="rect">
            <a:avLst/>
          </a:prstGeom>
          <a:solidFill>
            <a:srgbClr val="92D050"/>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ts val="600"/>
              </a:spcBef>
            </a:pPr>
            <a:r>
              <a:rPr lang="ja-JP" altLang="en-US" sz="2000" b="1" dirty="0" smtClean="0">
                <a:solidFill>
                  <a:schemeClr val="bg1"/>
                </a:solidFill>
                <a:latin typeface="メイリオ" panose="020B0604030504040204" pitchFamily="50" charset="-128"/>
                <a:ea typeface="メイリオ" panose="020B0604030504040204" pitchFamily="50" charset="-128"/>
              </a:rPr>
              <a:t>「</a:t>
            </a:r>
            <a:r>
              <a:rPr lang="ja-JP" altLang="en-US" sz="2000" b="1" dirty="0">
                <a:solidFill>
                  <a:schemeClr val="bg1"/>
                </a:solidFill>
                <a:latin typeface="メイリオ" panose="020B0604030504040204" pitchFamily="50" charset="-128"/>
                <a:ea typeface="メイリオ" panose="020B0604030504040204" pitchFamily="50" charset="-128"/>
              </a:rPr>
              <a:t>こうべ・だれでもトイレ</a:t>
            </a:r>
            <a:r>
              <a:rPr lang="ja-JP" altLang="en-US" sz="2000" b="1" dirty="0" smtClean="0">
                <a:solidFill>
                  <a:schemeClr val="bg1"/>
                </a:solidFill>
                <a:latin typeface="メイリオ" panose="020B0604030504040204" pitchFamily="50" charset="-128"/>
                <a:ea typeface="メイリオ" panose="020B0604030504040204" pitchFamily="50" charset="-128"/>
              </a:rPr>
              <a:t>」の中から利用</a:t>
            </a:r>
            <a:r>
              <a:rPr lang="ja-JP" altLang="en-US" sz="2000" b="1" dirty="0">
                <a:solidFill>
                  <a:schemeClr val="bg1"/>
                </a:solidFill>
                <a:latin typeface="メイリオ" panose="020B0604030504040204" pitchFamily="50" charset="-128"/>
                <a:ea typeface="メイリオ" panose="020B0604030504040204" pitchFamily="50" charset="-128"/>
              </a:rPr>
              <a:t>したいタイプ</a:t>
            </a:r>
            <a:r>
              <a:rPr lang="ja-JP" altLang="en-US" sz="2000" b="1" dirty="0" smtClean="0">
                <a:solidFill>
                  <a:schemeClr val="bg1"/>
                </a:solidFill>
                <a:latin typeface="メイリオ" panose="020B0604030504040204" pitchFamily="50" charset="-128"/>
                <a:ea typeface="メイリオ" panose="020B0604030504040204" pitchFamily="50" charset="-128"/>
              </a:rPr>
              <a:t>のトイレ情報が</a:t>
            </a:r>
            <a:endParaRPr lang="en-US" altLang="ja-JP" sz="2000" b="1" dirty="0" smtClean="0">
              <a:solidFill>
                <a:schemeClr val="bg1"/>
              </a:solidFill>
              <a:latin typeface="メイリオ" panose="020B0604030504040204" pitchFamily="50" charset="-128"/>
              <a:ea typeface="メイリオ" panose="020B0604030504040204" pitchFamily="50" charset="-128"/>
            </a:endParaRPr>
          </a:p>
          <a:p>
            <a:pPr algn="ctr">
              <a:spcBef>
                <a:spcPts val="600"/>
              </a:spcBef>
            </a:pPr>
            <a:r>
              <a:rPr lang="ja-JP" altLang="en-US" sz="2000" b="1" dirty="0" smtClean="0">
                <a:solidFill>
                  <a:srgbClr val="FF0000"/>
                </a:solidFill>
                <a:latin typeface="メイリオ" panose="020B0604030504040204" pitchFamily="50" charset="-128"/>
                <a:ea typeface="メイリオ" panose="020B0604030504040204" pitchFamily="50" charset="-128"/>
              </a:rPr>
              <a:t>知りたい情報の粒度</a:t>
            </a:r>
            <a:r>
              <a:rPr lang="ja-JP" altLang="en-US" sz="2000" b="1" dirty="0" smtClean="0">
                <a:solidFill>
                  <a:schemeClr val="bg1"/>
                </a:solidFill>
                <a:latin typeface="メイリオ" panose="020B0604030504040204" pitchFamily="50" charset="-128"/>
                <a:ea typeface="メイリオ" panose="020B0604030504040204" pitchFamily="50" charset="-128"/>
              </a:rPr>
              <a:t>での情報提供を可能とします</a:t>
            </a:r>
            <a:endParaRPr lang="en-US" altLang="ja-JP" sz="2000" b="1" dirty="0" smtClean="0">
              <a:solidFill>
                <a:schemeClr val="bg1"/>
              </a:solidFill>
              <a:latin typeface="メイリオ" panose="020B0604030504040204" pitchFamily="50" charset="-128"/>
              <a:ea typeface="メイリオ" panose="020B0604030504040204" pitchFamily="50" charset="-128"/>
            </a:endParaRPr>
          </a:p>
        </p:txBody>
      </p:sp>
      <p:sp>
        <p:nvSpPr>
          <p:cNvPr id="33" name="角丸四角形吹き出し 32"/>
          <p:cNvSpPr/>
          <p:nvPr/>
        </p:nvSpPr>
        <p:spPr>
          <a:xfrm>
            <a:off x="1496616" y="1884676"/>
            <a:ext cx="2376264" cy="411009"/>
          </a:xfrm>
          <a:prstGeom prst="wedgeRoundRectCallout">
            <a:avLst>
              <a:gd name="adj1" fmla="val -62768"/>
              <a:gd name="adj2" fmla="val 40993"/>
              <a:gd name="adj3" fmla="val 16667"/>
            </a:avLst>
          </a:prstGeom>
          <a:solidFill>
            <a:srgbClr val="CCFF99"/>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左側が空いている車いす用トイレは</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この近くにあるかな？？？</a:t>
            </a:r>
            <a:endPar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4"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672" y="3434073"/>
            <a:ext cx="864096" cy="861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 name="下矢印 34"/>
          <p:cNvSpPr/>
          <p:nvPr/>
        </p:nvSpPr>
        <p:spPr bwMode="auto">
          <a:xfrm>
            <a:off x="2083718" y="2416385"/>
            <a:ext cx="781050" cy="901700"/>
          </a:xfrm>
          <a:prstGeom prst="downArrow">
            <a:avLst/>
          </a:prstGeom>
          <a:solidFill>
            <a:srgbClr val="FFFF99"/>
          </a:solidFill>
          <a:ln w="9525">
            <a:solidFill>
              <a:schemeClr val="tx1">
                <a:lumMod val="75000"/>
                <a:lumOff val="25000"/>
              </a:schemeClr>
            </a:solidFill>
            <a:round/>
            <a:headEnd/>
            <a:tailEnd/>
          </a:ln>
        </p:spPr>
        <p:txBody>
          <a:bodyPr wrap="none" lIns="90000" tIns="46800" rIns="90000" bIns="46800" anchor="ctr" anchorCtr="1"/>
          <a:lstStyle/>
          <a:p>
            <a:pPr algn="ctr">
              <a:defRPr/>
            </a:pPr>
            <a:endParaRPr lang="ja-JP" altLang="en-US" sz="1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1"/>
          <p:cNvSpPr txBox="1">
            <a:spLocks noChangeArrowheads="1"/>
          </p:cNvSpPr>
          <p:nvPr/>
        </p:nvSpPr>
        <p:spPr bwMode="auto">
          <a:xfrm>
            <a:off x="1235874" y="2586986"/>
            <a:ext cx="2492990" cy="276999"/>
          </a:xfrm>
          <a:prstGeom prst="rect">
            <a:avLst/>
          </a:prstGeom>
          <a:solidFill>
            <a:schemeClr val="bg1">
              <a:alpha val="68000"/>
            </a:schemeClr>
          </a:solidFill>
          <a:ln>
            <a:noFill/>
          </a:ln>
          <a:extLst/>
        </p:spPr>
        <p:txBody>
          <a:bodyPr wrap="none">
            <a:spAutoFit/>
          </a:bodyPr>
          <a:lstStyle>
            <a:lvl1pPr>
              <a:defRPr kumimoji="1" sz="800">
                <a:solidFill>
                  <a:schemeClr val="tx1"/>
                </a:solidFill>
                <a:latin typeface="Arial" charset="0"/>
                <a:ea typeface="HG丸ｺﾞｼｯｸM-PRO" pitchFamily="50" charset="-128"/>
              </a:defRPr>
            </a:lvl1pPr>
            <a:lvl2pPr marL="742950" indent="-285750">
              <a:defRPr kumimoji="1" sz="800">
                <a:solidFill>
                  <a:schemeClr val="tx1"/>
                </a:solidFill>
                <a:latin typeface="Arial" charset="0"/>
                <a:ea typeface="HG丸ｺﾞｼｯｸM-PRO" pitchFamily="50" charset="-128"/>
              </a:defRPr>
            </a:lvl2pPr>
            <a:lvl3pPr marL="1143000" indent="-228600">
              <a:defRPr kumimoji="1" sz="800">
                <a:solidFill>
                  <a:schemeClr val="tx1"/>
                </a:solidFill>
                <a:latin typeface="Arial" charset="0"/>
                <a:ea typeface="HG丸ｺﾞｼｯｸM-PRO" pitchFamily="50" charset="-128"/>
              </a:defRPr>
            </a:lvl3pPr>
            <a:lvl4pPr marL="1600200" indent="-228600">
              <a:defRPr kumimoji="1" sz="800">
                <a:solidFill>
                  <a:schemeClr val="tx1"/>
                </a:solidFill>
                <a:latin typeface="Arial" charset="0"/>
                <a:ea typeface="HG丸ｺﾞｼｯｸM-PRO" pitchFamily="50" charset="-128"/>
              </a:defRPr>
            </a:lvl4pPr>
            <a:lvl5pPr marL="2057400" indent="-228600">
              <a:defRPr kumimoji="1" sz="800">
                <a:solidFill>
                  <a:schemeClr val="tx1"/>
                </a:solidFill>
                <a:latin typeface="Arial" charset="0"/>
                <a:ea typeface="HG丸ｺﾞｼｯｸM-PRO" pitchFamily="50" charset="-128"/>
              </a:defRPr>
            </a:lvl5pPr>
            <a:lvl6pPr marL="2514600" indent="-228600" eaLnBrk="0" fontAlgn="base" hangingPunct="0">
              <a:spcBef>
                <a:spcPct val="0"/>
              </a:spcBef>
              <a:spcAft>
                <a:spcPct val="0"/>
              </a:spcAft>
              <a:defRPr kumimoji="1" sz="800">
                <a:solidFill>
                  <a:schemeClr val="tx1"/>
                </a:solidFill>
                <a:latin typeface="Arial" charset="0"/>
                <a:ea typeface="HG丸ｺﾞｼｯｸM-PRO" pitchFamily="50" charset="-128"/>
              </a:defRPr>
            </a:lvl6pPr>
            <a:lvl7pPr marL="2971800" indent="-228600" eaLnBrk="0" fontAlgn="base" hangingPunct="0">
              <a:spcBef>
                <a:spcPct val="0"/>
              </a:spcBef>
              <a:spcAft>
                <a:spcPct val="0"/>
              </a:spcAft>
              <a:defRPr kumimoji="1" sz="800">
                <a:solidFill>
                  <a:schemeClr val="tx1"/>
                </a:solidFill>
                <a:latin typeface="Arial" charset="0"/>
                <a:ea typeface="HG丸ｺﾞｼｯｸM-PRO" pitchFamily="50" charset="-128"/>
              </a:defRPr>
            </a:lvl7pPr>
            <a:lvl8pPr marL="3429000" indent="-228600" eaLnBrk="0" fontAlgn="base" hangingPunct="0">
              <a:spcBef>
                <a:spcPct val="0"/>
              </a:spcBef>
              <a:spcAft>
                <a:spcPct val="0"/>
              </a:spcAft>
              <a:defRPr kumimoji="1" sz="800">
                <a:solidFill>
                  <a:schemeClr val="tx1"/>
                </a:solidFill>
                <a:latin typeface="Arial" charset="0"/>
                <a:ea typeface="HG丸ｺﾞｼｯｸM-PRO" pitchFamily="50" charset="-128"/>
              </a:defRPr>
            </a:lvl8pPr>
            <a:lvl9pPr marL="3886200" indent="-228600" eaLnBrk="0" fontAlgn="base" hangingPunct="0">
              <a:spcBef>
                <a:spcPct val="0"/>
              </a:spcBef>
              <a:spcAft>
                <a:spcPct val="0"/>
              </a:spcAft>
              <a:defRPr kumimoji="1" sz="800">
                <a:solidFill>
                  <a:schemeClr val="tx1"/>
                </a:solidFill>
                <a:latin typeface="Arial" charset="0"/>
                <a:ea typeface="HG丸ｺﾞｼｯｸM-PRO" pitchFamily="50" charset="-128"/>
              </a:defRPr>
            </a:lvl9pPr>
          </a:lstStyle>
          <a:p>
            <a:pPr algn="ctr">
              <a:spcAft>
                <a:spcPts val="600"/>
              </a:spcAft>
            </a:pPr>
            <a:r>
              <a:rPr lang="ja-JP" altLang="en-US" sz="1200" dirty="0" smtClean="0">
                <a:latin typeface="メイリオ" panose="020B0604030504040204" pitchFamily="50" charset="-128"/>
                <a:ea typeface="メイリオ" panose="020B0604030504040204" pitchFamily="50" charset="-128"/>
                <a:cs typeface="メイリオ" panose="020B0604030504040204" pitchFamily="50" charset="-128"/>
              </a:rPr>
              <a:t>そんな場合にアプリを使用すると</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下矢印 36"/>
          <p:cNvSpPr/>
          <p:nvPr/>
        </p:nvSpPr>
        <p:spPr bwMode="auto">
          <a:xfrm>
            <a:off x="2083718" y="4431132"/>
            <a:ext cx="781050" cy="901700"/>
          </a:xfrm>
          <a:prstGeom prst="downArrow">
            <a:avLst/>
          </a:prstGeom>
          <a:solidFill>
            <a:srgbClr val="FFFF99"/>
          </a:solidFill>
          <a:ln w="9525">
            <a:solidFill>
              <a:schemeClr val="tx1">
                <a:lumMod val="75000"/>
                <a:lumOff val="25000"/>
              </a:schemeClr>
            </a:solidFill>
            <a:round/>
            <a:headEnd/>
            <a:tailEnd/>
          </a:ln>
        </p:spPr>
        <p:txBody>
          <a:bodyPr wrap="none" lIns="90000" tIns="46800" rIns="90000" bIns="46800" anchor="ctr" anchorCtr="1"/>
          <a:lstStyle/>
          <a:p>
            <a:pPr algn="ctr">
              <a:defRPr/>
            </a:pPr>
            <a:endParaRPr lang="ja-JP" altLang="en-US" sz="1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角丸四角形吹き出し 38"/>
          <p:cNvSpPr/>
          <p:nvPr/>
        </p:nvSpPr>
        <p:spPr>
          <a:xfrm>
            <a:off x="1496399" y="5517232"/>
            <a:ext cx="2376264" cy="792088"/>
          </a:xfrm>
          <a:prstGeom prst="wedgeRoundRectCallout">
            <a:avLst>
              <a:gd name="adj1" fmla="val -25165"/>
              <a:gd name="adj2" fmla="val 1151"/>
              <a:gd name="adj3" fmla="val 16667"/>
            </a:avLst>
          </a:prstGeom>
          <a:solidFill>
            <a:srgbClr val="CCFF99"/>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目的地の場所だけでなく、</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利用者が知りたい情報が</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丁寧に</a:t>
            </a: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表示されるんだ</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このアプリ</a:t>
            </a: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900" dirty="0" err="1"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つで</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別のサイト</a:t>
            </a:r>
            <a:r>
              <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など</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で</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確認する手間が省けるんだ！</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1" name="直線コネクタ 40"/>
          <p:cNvCxnSpPr>
            <a:stCxn id="34" idx="3"/>
          </p:cNvCxnSpPr>
          <p:nvPr/>
        </p:nvCxnSpPr>
        <p:spPr>
          <a:xfrm flipV="1">
            <a:off x="2864768" y="2604781"/>
            <a:ext cx="1800200" cy="12601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コネクタ 41"/>
          <p:cNvCxnSpPr>
            <a:stCxn id="34" idx="3"/>
          </p:cNvCxnSpPr>
          <p:nvPr/>
        </p:nvCxnSpPr>
        <p:spPr>
          <a:xfrm>
            <a:off x="2864768" y="3864921"/>
            <a:ext cx="1800200" cy="126014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 Box 4"/>
          <p:cNvSpPr txBox="1">
            <a:spLocks noChangeArrowheads="1"/>
          </p:cNvSpPr>
          <p:nvPr/>
        </p:nvSpPr>
        <p:spPr bwMode="auto">
          <a:xfrm>
            <a:off x="6754171" y="2362579"/>
            <a:ext cx="1988096" cy="954107"/>
          </a:xfrm>
          <a:prstGeom prst="rect">
            <a:avLst/>
          </a:prstGeom>
          <a:solidFill>
            <a:srgbClr val="FFFFCC"/>
          </a:solidFill>
          <a:ln w="6350" algn="ctr">
            <a:solidFill>
              <a:schemeClr val="tx1"/>
            </a:solidFill>
            <a:miter lim="800000"/>
            <a:headEnd/>
            <a:tailEnd/>
          </a:ln>
        </p:spPr>
        <p:txBody>
          <a:bodyPr wrap="square">
            <a:spAutoFit/>
          </a:bodyPr>
          <a:lstStyle/>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現在地から</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a:latin typeface="メイリオ" panose="020B0604030504040204" pitchFamily="50" charset="-128"/>
                <a:ea typeface="メイリオ" panose="020B0604030504040204" pitchFamily="50" charset="-128"/>
                <a:cs typeface="メイリオ" panose="020B0604030504040204" pitchFamily="50" charset="-128"/>
              </a:rPr>
              <a:t>トイレ</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検索対象となる目的地は</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神戸市</a:t>
            </a: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から提供される</a:t>
            </a:r>
            <a:endParaRPr lang="en-US" altLang="ja-JP"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行政データ</a:t>
            </a:r>
            <a:r>
              <a:rPr lang="en-US" altLang="ja-JP"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800"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を活用</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する</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⇒この</a:t>
            </a:r>
            <a:r>
              <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で取得される場所が</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8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目的地候補として選択可能</a:t>
            </a:r>
            <a:endParaRPr lang="en-US" altLang="ja-JP" sz="8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Text Box 4"/>
          <p:cNvSpPr txBox="1">
            <a:spLocks noChangeArrowheads="1"/>
          </p:cNvSpPr>
          <p:nvPr/>
        </p:nvSpPr>
        <p:spPr bwMode="auto">
          <a:xfrm>
            <a:off x="4676896" y="4473552"/>
            <a:ext cx="1988096" cy="338554"/>
          </a:xfrm>
          <a:prstGeom prst="rect">
            <a:avLst/>
          </a:prstGeom>
          <a:solidFill>
            <a:srgbClr val="FFFFCC"/>
          </a:solidFill>
          <a:ln w="6350" algn="ctr">
            <a:solidFill>
              <a:schemeClr val="tx1"/>
            </a:solidFill>
            <a:miter lim="800000"/>
            <a:headEnd/>
            <a:tailEnd/>
          </a:ln>
        </p:spPr>
        <p:txBody>
          <a:bodyPr wrap="square" anchor="ctr" anchorCtr="0">
            <a:spAutoFit/>
          </a:bodyPr>
          <a:lstStyle/>
          <a:p>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所在地・場所・広さ・主な設備の他、下のような写真が表示される</a:t>
            </a:r>
            <a:endParaRPr lang="ja-JP" altLang="en-US" sz="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6" name="角丸四角形吹き出し 55"/>
          <p:cNvSpPr/>
          <p:nvPr/>
        </p:nvSpPr>
        <p:spPr>
          <a:xfrm>
            <a:off x="7126730" y="3647604"/>
            <a:ext cx="2269090" cy="901700"/>
          </a:xfrm>
          <a:prstGeom prst="wedgeRoundRectCallout">
            <a:avLst>
              <a:gd name="adj1" fmla="val -34928"/>
              <a:gd name="adj2" fmla="val 87585"/>
              <a:gd name="adj3" fmla="val 16667"/>
            </a:avLst>
          </a:prstGeom>
          <a:solidFill>
            <a:srgbClr val="66CCFF"/>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514350">
              <a:spcBef>
                <a:spcPct val="20000"/>
              </a:spcBef>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マップ上</a:t>
            </a:r>
            <a:r>
              <a:rPr lang="ja-JP" altLang="en-US" sz="900" dirty="0" smtClean="0">
                <a:latin typeface="メイリオ" panose="020B0604030504040204" pitchFamily="50" charset="-128"/>
                <a:ea typeface="メイリオ" panose="020B0604030504040204" pitchFamily="50" charset="-128"/>
                <a:cs typeface="メイリオ" panose="020B0604030504040204" pitchFamily="50" charset="-128"/>
              </a:rPr>
              <a:t>にトイレの場所が表示</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smtClean="0">
                <a:latin typeface="メイリオ" panose="020B0604030504040204" pitchFamily="50" charset="-128"/>
                <a:ea typeface="メイリオ" panose="020B0604030504040204" pitchFamily="50" charset="-128"/>
                <a:cs typeface="メイリオ" panose="020B0604030504040204" pitchFamily="50" charset="-128"/>
              </a:rPr>
              <a:t>（スロープ情報の表示は選択可）</a:t>
            </a:r>
            <a:endParaRPr lang="en-US" altLang="ja-JP" sz="9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smtClean="0">
                <a:latin typeface="メイリオ" panose="020B0604030504040204" pitchFamily="50" charset="-128"/>
                <a:ea typeface="メイリオ" panose="020B0604030504040204" pitchFamily="50" charset="-128"/>
                <a:cs typeface="メイリオ" panose="020B0604030504040204" pitchFamily="50" charset="-128"/>
              </a:rPr>
              <a:t>内観写真を充実させ、入り口の段差や</a:t>
            </a:r>
            <a:endParaRPr lang="en-US" altLang="ja-JP" sz="9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設備</a:t>
            </a:r>
            <a:r>
              <a:rPr lang="ja-JP" altLang="en-US" sz="900" dirty="0" smtClean="0">
                <a:latin typeface="メイリオ" panose="020B0604030504040204" pitchFamily="50" charset="-128"/>
                <a:ea typeface="メイリオ" panose="020B0604030504040204" pitchFamily="50" charset="-128"/>
                <a:cs typeface="メイリオ" panose="020B0604030504040204" pitchFamily="50" charset="-128"/>
              </a:rPr>
              <a:t>の状況が把握可能</a:t>
            </a:r>
            <a:endParaRPr lang="en-US" altLang="ja-JP" sz="9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1" name="図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33" y="1939465"/>
            <a:ext cx="1836294" cy="1377221"/>
          </a:xfrm>
          <a:prstGeom prst="rect">
            <a:avLst/>
          </a:prstGeom>
        </p:spPr>
      </p:pic>
      <p:pic>
        <p:nvPicPr>
          <p:cNvPr id="32" name="図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8476" y="5479010"/>
            <a:ext cx="889623" cy="701263"/>
          </a:xfrm>
          <a:prstGeom prst="rect">
            <a:avLst/>
          </a:prstGeom>
        </p:spPr>
      </p:pic>
      <p:pic>
        <p:nvPicPr>
          <p:cNvPr id="4" name="図 3"/>
          <p:cNvPicPr>
            <a:picLocks noChangeAspect="1"/>
          </p:cNvPicPr>
          <p:nvPr/>
        </p:nvPicPr>
        <p:blipFill>
          <a:blip r:embed="rId6"/>
          <a:stretch>
            <a:fillRect/>
          </a:stretch>
        </p:blipFill>
        <p:spPr>
          <a:xfrm>
            <a:off x="6298410" y="4916040"/>
            <a:ext cx="1473664" cy="1105248"/>
          </a:xfrm>
          <a:prstGeom prst="rect">
            <a:avLst/>
          </a:prstGeom>
        </p:spPr>
      </p:pic>
      <p:pic>
        <p:nvPicPr>
          <p:cNvPr id="6" name="図 5"/>
          <p:cNvPicPr>
            <a:picLocks noChangeAspect="1"/>
          </p:cNvPicPr>
          <p:nvPr/>
        </p:nvPicPr>
        <p:blipFill>
          <a:blip r:embed="rId7"/>
          <a:stretch>
            <a:fillRect/>
          </a:stretch>
        </p:blipFill>
        <p:spPr>
          <a:xfrm>
            <a:off x="7922156" y="4916040"/>
            <a:ext cx="1473664" cy="1105248"/>
          </a:xfrm>
          <a:prstGeom prst="rect">
            <a:avLst/>
          </a:prstGeom>
        </p:spPr>
      </p:pic>
      <p:pic>
        <p:nvPicPr>
          <p:cNvPr id="7" name="図 6"/>
          <p:cNvPicPr>
            <a:picLocks noChangeAspect="1"/>
          </p:cNvPicPr>
          <p:nvPr/>
        </p:nvPicPr>
        <p:blipFill>
          <a:blip r:embed="rId8"/>
          <a:stretch>
            <a:fillRect/>
          </a:stretch>
        </p:blipFill>
        <p:spPr>
          <a:xfrm>
            <a:off x="4676896" y="4916040"/>
            <a:ext cx="1473664" cy="1105248"/>
          </a:xfrm>
          <a:prstGeom prst="rect">
            <a:avLst/>
          </a:prstGeom>
        </p:spPr>
      </p:pic>
      <p:grpSp>
        <p:nvGrpSpPr>
          <p:cNvPr id="48" name="グループ化 47"/>
          <p:cNvGrpSpPr>
            <a:grpSpLocks noChangeAspect="1"/>
          </p:cNvGrpSpPr>
          <p:nvPr/>
        </p:nvGrpSpPr>
        <p:grpSpPr>
          <a:xfrm>
            <a:off x="4678372" y="1733522"/>
            <a:ext cx="1701383" cy="1601716"/>
            <a:chOff x="3067983" y="2204864"/>
            <a:chExt cx="3770034" cy="3240360"/>
          </a:xfrm>
        </p:grpSpPr>
        <p:pic>
          <p:nvPicPr>
            <p:cNvPr id="49"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67983" y="2204864"/>
              <a:ext cx="3770034" cy="324036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2"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137225" y="2204864"/>
              <a:ext cx="472257" cy="435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9" name="図 8"/>
          <p:cNvPicPr>
            <a:picLocks noChangeAspect="1"/>
          </p:cNvPicPr>
          <p:nvPr/>
        </p:nvPicPr>
        <p:blipFill>
          <a:blip r:embed="rId11"/>
          <a:stretch>
            <a:fillRect/>
          </a:stretch>
        </p:blipFill>
        <p:spPr>
          <a:xfrm>
            <a:off x="6152124" y="2452611"/>
            <a:ext cx="229515" cy="268749"/>
          </a:xfrm>
          <a:prstGeom prst="rect">
            <a:avLst/>
          </a:prstGeom>
        </p:spPr>
      </p:pic>
      <p:pic>
        <p:nvPicPr>
          <p:cNvPr id="65" name="図 64"/>
          <p:cNvPicPr>
            <a:picLocks noChangeAspect="1"/>
          </p:cNvPicPr>
          <p:nvPr/>
        </p:nvPicPr>
        <p:blipFill>
          <a:blip r:embed="rId11"/>
          <a:stretch>
            <a:fillRect/>
          </a:stretch>
        </p:blipFill>
        <p:spPr>
          <a:xfrm>
            <a:off x="5299548" y="2241742"/>
            <a:ext cx="229515" cy="268749"/>
          </a:xfrm>
          <a:prstGeom prst="rect">
            <a:avLst/>
          </a:prstGeom>
        </p:spPr>
      </p:pic>
      <p:pic>
        <p:nvPicPr>
          <p:cNvPr id="66" name="図 65"/>
          <p:cNvPicPr>
            <a:picLocks noChangeAspect="1"/>
          </p:cNvPicPr>
          <p:nvPr/>
        </p:nvPicPr>
        <p:blipFill>
          <a:blip r:embed="rId11"/>
          <a:stretch>
            <a:fillRect/>
          </a:stretch>
        </p:blipFill>
        <p:spPr>
          <a:xfrm>
            <a:off x="5685133" y="2958370"/>
            <a:ext cx="229515" cy="268749"/>
          </a:xfrm>
          <a:prstGeom prst="rect">
            <a:avLst/>
          </a:prstGeom>
        </p:spPr>
      </p:pic>
      <p:sp>
        <p:nvSpPr>
          <p:cNvPr id="43" name="角丸四角形吹き出し 42"/>
          <p:cNvSpPr/>
          <p:nvPr/>
        </p:nvSpPr>
        <p:spPr>
          <a:xfrm>
            <a:off x="6755426" y="1705137"/>
            <a:ext cx="1549435" cy="432048"/>
          </a:xfrm>
          <a:prstGeom prst="wedgeRoundRectCallout">
            <a:avLst>
              <a:gd name="adj1" fmla="val -110984"/>
              <a:gd name="adj2" fmla="val -7443"/>
              <a:gd name="adj3" fmla="val 16667"/>
            </a:avLst>
          </a:prstGeom>
          <a:solidFill>
            <a:srgbClr val="66CCFF"/>
          </a:solidFill>
          <a:ln>
            <a:noFill/>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現在地情報は</a:t>
            </a:r>
            <a:endPar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en-US" altLang="ja-JP"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GPS</a:t>
            </a:r>
            <a:r>
              <a:rPr lang="ja-JP" altLang="en-US" sz="90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をもとに取得</a:t>
            </a:r>
            <a:endParaRPr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フローチャート: 結合子 9"/>
          <p:cNvSpPr/>
          <p:nvPr/>
        </p:nvSpPr>
        <p:spPr>
          <a:xfrm>
            <a:off x="6783214" y="5512876"/>
            <a:ext cx="504055" cy="455793"/>
          </a:xfrm>
          <a:prstGeom prst="flowChartConnector">
            <a:avLst/>
          </a:prstGeom>
          <a:noFill/>
          <a:ln w="158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900" dirty="0" smtClean="0">
              <a:solidFill>
                <a:schemeClr val="tx1"/>
              </a:solidFill>
              <a:latin typeface="メイリオ" pitchFamily="50" charset="-128"/>
              <a:ea typeface="メイリオ" pitchFamily="50" charset="-128"/>
            </a:endParaRPr>
          </a:p>
        </p:txBody>
      </p:sp>
      <p:sp>
        <p:nvSpPr>
          <p:cNvPr id="67" name="Text Box 4"/>
          <p:cNvSpPr txBox="1">
            <a:spLocks noChangeArrowheads="1"/>
          </p:cNvSpPr>
          <p:nvPr/>
        </p:nvSpPr>
        <p:spPr bwMode="auto">
          <a:xfrm>
            <a:off x="6041193" y="6082022"/>
            <a:ext cx="1988096" cy="215444"/>
          </a:xfrm>
          <a:prstGeom prst="rect">
            <a:avLst/>
          </a:prstGeom>
          <a:solidFill>
            <a:srgbClr val="FFFFCC"/>
          </a:solidFill>
          <a:ln w="6350" algn="ctr">
            <a:solidFill>
              <a:schemeClr val="tx1"/>
            </a:solidFill>
            <a:miter lim="800000"/>
            <a:headEnd/>
            <a:tailEnd/>
          </a:ln>
        </p:spPr>
        <p:txBody>
          <a:bodyPr wrap="square" anchor="ctr" anchorCtr="0">
            <a:spAutoFit/>
          </a:bodyPr>
          <a:lstStyle/>
          <a:p>
            <a:pPr algn="ctr"/>
            <a:r>
              <a:rPr lang="ja-JP" altLang="en-US" sz="800" dirty="0" smtClean="0">
                <a:latin typeface="メイリオ" panose="020B0604030504040204" pitchFamily="50" charset="-128"/>
                <a:ea typeface="メイリオ" panose="020B0604030504040204" pitchFamily="50" charset="-128"/>
                <a:cs typeface="メイリオ" panose="020B0604030504040204" pitchFamily="50" charset="-128"/>
              </a:rPr>
              <a:t>便器のどちら側が空いているか分かる</a:t>
            </a:r>
            <a:endParaRPr lang="ja-JP" altLang="en-US" sz="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5767834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アプリ搭載機能案など</a:t>
            </a:r>
            <a:endParaRPr kumimoji="1"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Rectangle 42"/>
          <p:cNvSpPr>
            <a:spLocks noChangeArrowheads="1"/>
          </p:cNvSpPr>
          <p:nvPr/>
        </p:nvSpPr>
        <p:spPr bwMode="auto">
          <a:xfrm>
            <a:off x="407097" y="895572"/>
            <a:ext cx="7498231" cy="3397524"/>
          </a:xfrm>
          <a:prstGeom prst="rect">
            <a:avLst/>
          </a:prstGeom>
          <a:solidFill>
            <a:schemeClr val="bg1"/>
          </a:solidFill>
          <a:ln w="9525">
            <a:solidFill>
              <a:schemeClr val="accent5">
                <a:lumMod val="75000"/>
              </a:schemeClr>
            </a:solidFill>
            <a:miter lim="800000"/>
            <a:headEnd/>
            <a:tailEnd/>
          </a:ln>
        </p:spPr>
        <p:txBody>
          <a:bodyPr wrap="none" anchor="ctr"/>
          <a:lstStyle/>
          <a:p>
            <a:pPr algn="ctr">
              <a:buClr>
                <a:srgbClr val="FCA202"/>
              </a:buClr>
              <a:buFont typeface="MS UI Gothic" pitchFamily="50" charset="-128"/>
              <a:buNone/>
            </a:pPr>
            <a:endPar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Text Box 4"/>
          <p:cNvSpPr txBox="1">
            <a:spLocks noChangeArrowheads="1"/>
          </p:cNvSpPr>
          <p:nvPr/>
        </p:nvSpPr>
        <p:spPr bwMode="auto">
          <a:xfrm>
            <a:off x="564169" y="1185181"/>
            <a:ext cx="7197143" cy="3031599"/>
          </a:xfrm>
          <a:prstGeom prst="rect">
            <a:avLst/>
          </a:prstGeom>
          <a:noFill/>
          <a:ln w="6350" algn="ctr">
            <a:noFill/>
            <a:miter lim="800000"/>
            <a:headEnd/>
            <a:tailEnd/>
          </a:ln>
        </p:spPr>
        <p:txBody>
          <a:bodyPr wrap="square">
            <a:spAutoFit/>
          </a:bodyPr>
          <a:lstStyle/>
          <a:p>
            <a:pP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目的地を設定してルート検索・トイレ検索する以外にも</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例えば、以下のような機能を搭載することで優先座席を必要とする方にとって優しいアプリとなります。</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endParaRPr lang="en-US" altLang="ja-JP" sz="800" dirty="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 トイレ情報検索</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⇒マップ上に「だれでもトイレ」を分かりやすく表示するだけでなく</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写真での情報確認や用途に応じた内容になっているか（車いす用になっている等）も確認できる</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バリアフリー情報</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⇒マップ上に「スロープ情報」「エレベーター情報」を表示</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これまでとは違ったエリアに足を伸ばすことが可能か判断する材料として活用していただけます</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 イベント対応</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⇒花火大会時の特設トイレ情報など確認可能</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 </a:t>
            </a:r>
            <a:r>
              <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rPr>
              <a:t>SOS</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連絡</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⇒緊急時に連絡対応してくれる先の情報を掲載</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 飲食店情報</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⇒車いす対応など、マップ上に分かりやすく表示</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r" defTabSz="514350">
              <a:spcBef>
                <a:spcPct val="20000"/>
              </a:spcBef>
            </a:pPr>
            <a:r>
              <a:rPr lang="ja-JP" altLang="en-US" sz="1100" dirty="0" smtClean="0">
                <a:latin typeface="メイリオ" panose="020B0604030504040204" pitchFamily="50" charset="-128"/>
                <a:ea typeface="メイリオ" panose="020B0604030504040204" pitchFamily="50" charset="-128"/>
                <a:cs typeface="メイリオ" panose="020B0604030504040204" pitchFamily="50" charset="-128"/>
              </a:rPr>
              <a:t>など</a:t>
            </a:r>
            <a:endParaRPr lang="en-US" altLang="ja-JP" sz="11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9" name="Text Box 43"/>
          <p:cNvSpPr txBox="1">
            <a:spLocks noChangeArrowheads="1"/>
          </p:cNvSpPr>
          <p:nvPr/>
        </p:nvSpPr>
        <p:spPr bwMode="auto">
          <a:xfrm>
            <a:off x="683168" y="738411"/>
            <a:ext cx="5493968" cy="314325"/>
          </a:xfrm>
          <a:prstGeom prst="rect">
            <a:avLst/>
          </a:prstGeom>
          <a:solidFill>
            <a:schemeClr val="accent6">
              <a:lumMod val="75000"/>
            </a:schemeClr>
          </a:solidFill>
          <a:ln>
            <a:noFill/>
            <a:headEnd/>
            <a:tailEnd/>
          </a:ln>
        </p:spPr>
        <p:style>
          <a:lnRef idx="1">
            <a:schemeClr val="accent5"/>
          </a:lnRef>
          <a:fillRef idx="2">
            <a:schemeClr val="accent5"/>
          </a:fillRef>
          <a:effectRef idx="1">
            <a:schemeClr val="accent5"/>
          </a:effectRef>
          <a:fontRef idx="minor">
            <a:schemeClr val="dk1"/>
          </a:fontRef>
        </p:style>
        <p:txBody>
          <a:bodyPr anchor="ctr"/>
          <a:lstStyle/>
          <a:p>
            <a:pPr algn="ctr">
              <a:spcBef>
                <a:spcPct val="50000"/>
              </a:spcBef>
              <a:buClrTx/>
              <a:buFontTx/>
              <a:buNone/>
            </a:pPr>
            <a:r>
              <a:rPr lang="ja-JP" altLang="en-US" sz="14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「人にやさしい街：神戸」アプリに搭載する機能案</a:t>
            </a:r>
            <a:endParaRPr lang="en-US" altLang="ja-JP"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Rectangle 42"/>
          <p:cNvSpPr>
            <a:spLocks noChangeArrowheads="1"/>
          </p:cNvSpPr>
          <p:nvPr/>
        </p:nvSpPr>
        <p:spPr bwMode="auto">
          <a:xfrm>
            <a:off x="407096" y="4768270"/>
            <a:ext cx="9189662" cy="1166588"/>
          </a:xfrm>
          <a:prstGeom prst="rect">
            <a:avLst/>
          </a:prstGeom>
          <a:solidFill>
            <a:schemeClr val="bg1"/>
          </a:solidFill>
          <a:ln w="9525">
            <a:solidFill>
              <a:schemeClr val="accent5">
                <a:lumMod val="75000"/>
              </a:schemeClr>
            </a:solidFill>
            <a:miter lim="800000"/>
            <a:headEnd/>
            <a:tailEnd/>
          </a:ln>
        </p:spPr>
        <p:txBody>
          <a:bodyPr wrap="none" anchor="ctr"/>
          <a:lstStyle/>
          <a:p>
            <a:pPr algn="ctr">
              <a:buClr>
                <a:srgbClr val="FCA202"/>
              </a:buClr>
              <a:buFont typeface="MS UI Gothic" pitchFamily="50" charset="-128"/>
              <a:buNone/>
            </a:pPr>
            <a:endParaRPr lang="ja-JP" altLang="en-US" sz="1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Text Box 43"/>
          <p:cNvSpPr txBox="1">
            <a:spLocks noChangeArrowheads="1"/>
          </p:cNvSpPr>
          <p:nvPr/>
        </p:nvSpPr>
        <p:spPr bwMode="auto">
          <a:xfrm>
            <a:off x="683168" y="4625830"/>
            <a:ext cx="1821560" cy="314325"/>
          </a:xfrm>
          <a:prstGeom prst="rect">
            <a:avLst/>
          </a:prstGeom>
          <a:solidFill>
            <a:srgbClr val="00B0F0"/>
          </a:solidFill>
          <a:ln>
            <a:noFill/>
            <a:headEnd/>
            <a:tailEnd/>
          </a:ln>
        </p:spPr>
        <p:style>
          <a:lnRef idx="1">
            <a:schemeClr val="accent5"/>
          </a:lnRef>
          <a:fillRef idx="2">
            <a:schemeClr val="accent5"/>
          </a:fillRef>
          <a:effectRef idx="1">
            <a:schemeClr val="accent5"/>
          </a:effectRef>
          <a:fontRef idx="minor">
            <a:schemeClr val="dk1"/>
          </a:fontRef>
        </p:style>
        <p:txBody>
          <a:bodyPr anchor="ctr"/>
          <a:lstStyle/>
          <a:p>
            <a:pPr algn="ctr">
              <a:spcBef>
                <a:spcPct val="50000"/>
              </a:spcBef>
              <a:buClrTx/>
              <a:buFontTx/>
              <a:buNone/>
            </a:pPr>
            <a:r>
              <a:rPr lang="ja-JP" altLang="en-US" sz="11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プロモーション案</a:t>
            </a:r>
            <a:endParaRPr lang="en-US" altLang="ja-JP" sz="11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2" name="Text Box 4"/>
          <p:cNvSpPr txBox="1">
            <a:spLocks noChangeArrowheads="1"/>
          </p:cNvSpPr>
          <p:nvPr/>
        </p:nvSpPr>
        <p:spPr bwMode="auto">
          <a:xfrm>
            <a:off x="450367" y="5057878"/>
            <a:ext cx="8967129" cy="800219"/>
          </a:xfrm>
          <a:prstGeom prst="rect">
            <a:avLst/>
          </a:prstGeom>
          <a:noFill/>
          <a:ln w="6350" algn="ctr">
            <a:noFill/>
            <a:miter lim="800000"/>
            <a:headEnd/>
            <a:tailEnd/>
          </a:ln>
        </p:spPr>
        <p:txBody>
          <a:bodyPr wrap="square">
            <a:spAutoFit/>
          </a:bodyPr>
          <a:lstStyle/>
          <a:p>
            <a:pPr marL="174625" indent="-174625" defTabSz="514350">
              <a:spcBef>
                <a:spcPct val="20000"/>
              </a:spcBef>
              <a:buFont typeface="Wingdings 2" pitchFamily="18" charset="2"/>
              <a:buChar char="®"/>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アプリを広める宣伝告知としては、神戸市内の携帯ショップで「神戸市の方におススメ！」といった形で宣伝</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4625" indent="-174625" defTabSz="514350">
              <a:spcBef>
                <a:spcPct val="20000"/>
              </a:spcBef>
              <a:buFont typeface="Wingdings 2" pitchFamily="18" charset="2"/>
              <a:buChar char="®"/>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優先座席を必要とするような方が見るような「ヒヨコクラブ」といった雑誌に情報掲載</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4625" indent="-174625" defTabSz="514350">
              <a:spcBef>
                <a:spcPct val="20000"/>
              </a:spcBef>
              <a:buFont typeface="Wingdings 2" pitchFamily="18" charset="2"/>
              <a:buChar char="®"/>
            </a:pP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少し足を伸ばして来ていただくような遠方からの観光客対応</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a:p>
            <a:pPr defTabSz="514350">
              <a:spcBef>
                <a:spcPct val="20000"/>
              </a:spcBef>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smtClean="0">
                <a:latin typeface="メイリオ" panose="020B0604030504040204" pitchFamily="50" charset="-128"/>
                <a:ea typeface="メイリオ" panose="020B0604030504040204" pitchFamily="50" charset="-128"/>
                <a:cs typeface="メイリオ" panose="020B0604030504040204" pitchFamily="50" charset="-128"/>
              </a:rPr>
              <a:t> ⇒神戸空港・新神戸駅・三ノ宮駅といった場所にサイネージ等を活用してアプリダウンロードを促しやすい仕掛け作り</a:t>
            </a:r>
            <a:endParaRPr lang="en-US" altLang="ja-JP" sz="100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7197622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キュート">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sz="900" dirty="0" smtClean="0">
            <a:solidFill>
              <a:schemeClr val="tx1"/>
            </a:solidFill>
            <a:latin typeface="メイリオ" pitchFamily="50" charset="-128"/>
            <a:ea typeface="メイリオ"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標準デザイン">
  <a:themeElements>
    <a:clrScheme name="1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標準デザイン">
      <a:majorFont>
        <a:latin typeface="Arial Black"/>
        <a:ea typeface="HGP創英角ｺﾞｼｯｸUB"/>
        <a:cs typeface=""/>
      </a:majorFont>
      <a:minorFont>
        <a:latin typeface="Arial Black"/>
        <a:ea typeface="HGP創英角ｺﾞｼｯｸUB"/>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C0000">
            <a:alpha val="30000"/>
          </a:srgbClr>
        </a:solidFill>
        <a:ln w="9525" algn="ctr">
          <a:solidFill>
            <a:srgbClr val="A50021"/>
          </a:solidFill>
          <a:miter lim="800000"/>
          <a:headEnd/>
          <a:tailEnd/>
        </a:ln>
        <a:effectLst/>
      </a:spPr>
      <a:bodyPr wrap="square" lIns="0" tIns="0" rIns="0" bIns="0" anchor="ctr">
        <a:spAutoFit/>
      </a:bodyPr>
      <a:lstStyle>
        <a:defPPr>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ja-JP" altLang="en-US" sz="1000" b="0" i="0" u="none" strike="noStrike" cap="none" normalizeH="0" baseline="0" smtClean="0">
            <a:ln>
              <a:noFill/>
            </a:ln>
            <a:solidFill>
              <a:schemeClr val="tx1"/>
            </a:solidFill>
            <a:effectLst/>
            <a:latin typeface="Arial Black" pitchFamily="34" charset="0"/>
            <a:ea typeface="HGP創英角ｺﾞｼｯｸUB" pitchFamily="50" charset="-128"/>
          </a:defRPr>
        </a:defPPr>
      </a:lstStyle>
    </a:lnDef>
  </a:objectDefaults>
  <a:extraClrSchemeLst>
    <a:extraClrScheme>
      <a:clrScheme name="1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42867</TotalTime>
  <Words>762</Words>
  <Application>Microsoft Office PowerPoint</Application>
  <PresentationFormat>A4 210 x 297 mm</PresentationFormat>
  <Paragraphs>133</Paragraphs>
  <Slides>6</Slides>
  <Notes>6</Notes>
  <HiddenSlides>0</HiddenSlides>
  <MMClips>0</MMClips>
  <ScaleCrop>false</ScaleCrop>
  <HeadingPairs>
    <vt:vector size="6" baseType="variant">
      <vt:variant>
        <vt:lpstr>テーマ</vt:lpstr>
      </vt:variant>
      <vt:variant>
        <vt:i4>2</vt:i4>
      </vt:variant>
      <vt:variant>
        <vt:lpstr>埋め込まれた OLE サーバー</vt:lpstr>
      </vt:variant>
      <vt:variant>
        <vt:i4>2</vt:i4>
      </vt:variant>
      <vt:variant>
        <vt:lpstr>スライド タイトル</vt:lpstr>
      </vt:variant>
      <vt:variant>
        <vt:i4>6</vt:i4>
      </vt:variant>
    </vt:vector>
  </HeadingPairs>
  <TitlesOfParts>
    <vt:vector size="10" baseType="lpstr">
      <vt:lpstr>Office テーマ</vt:lpstr>
      <vt:lpstr>1_標準デザイン</vt:lpstr>
      <vt:lpstr>Photo Editor 写真</vt:lpstr>
      <vt:lpstr>ビットマップ イメージ</vt:lpstr>
      <vt:lpstr>PowerPoint プレゼンテーション</vt:lpstr>
      <vt:lpstr>このアプリを考えたきっかけ</vt:lpstr>
      <vt:lpstr>企画概要</vt:lpstr>
      <vt:lpstr>アプリ活用例（ルート検索）</vt:lpstr>
      <vt:lpstr>アプリ活用例（トイレ検索）</vt:lpstr>
      <vt:lpstr>アプリ搭載機能案など</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Printed>2015-04-08T11:42:55Z</cp:lastPrinted>
  <dcterms:created xsi:type="dcterms:W3CDTF">2010-12-01T07:56:23Z</dcterms:created>
  <dcterms:modified xsi:type="dcterms:W3CDTF">2015-10-23T05:40:05Z</dcterms:modified>
</cp:coreProperties>
</file>